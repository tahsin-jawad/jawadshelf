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256" r:id="rId2"/>
    <p:sldId id="259" r:id="rId3"/>
    <p:sldId id="300" r:id="rId4"/>
    <p:sldId id="26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72" r:id="rId14"/>
    <p:sldId id="309" r:id="rId15"/>
    <p:sldId id="310" r:id="rId16"/>
    <p:sldId id="311" r:id="rId17"/>
    <p:sldId id="312" r:id="rId18"/>
    <p:sldId id="365" r:id="rId19"/>
    <p:sldId id="326" r:id="rId20"/>
    <p:sldId id="313" r:id="rId21"/>
    <p:sldId id="314" r:id="rId22"/>
    <p:sldId id="315" r:id="rId23"/>
    <p:sldId id="317" r:id="rId24"/>
    <p:sldId id="327" r:id="rId25"/>
    <p:sldId id="318" r:id="rId26"/>
    <p:sldId id="319" r:id="rId27"/>
    <p:sldId id="320" r:id="rId28"/>
    <p:sldId id="353" r:id="rId29"/>
    <p:sldId id="322" r:id="rId30"/>
    <p:sldId id="366" r:id="rId31"/>
    <p:sldId id="367" r:id="rId32"/>
    <p:sldId id="368" r:id="rId33"/>
    <p:sldId id="369" r:id="rId34"/>
    <p:sldId id="370" r:id="rId35"/>
    <p:sldId id="321" r:id="rId36"/>
    <p:sldId id="328" r:id="rId37"/>
    <p:sldId id="323" r:id="rId38"/>
    <p:sldId id="324" r:id="rId39"/>
    <p:sldId id="371" r:id="rId40"/>
    <p:sldId id="347" r:id="rId41"/>
    <p:sldId id="346" r:id="rId42"/>
    <p:sldId id="329" r:id="rId43"/>
    <p:sldId id="356" r:id="rId44"/>
    <p:sldId id="330" r:id="rId45"/>
    <p:sldId id="331" r:id="rId46"/>
    <p:sldId id="332" r:id="rId47"/>
    <p:sldId id="333" r:id="rId48"/>
    <p:sldId id="334" r:id="rId49"/>
    <p:sldId id="335" r:id="rId50"/>
    <p:sldId id="343" r:id="rId51"/>
    <p:sldId id="344" r:id="rId52"/>
    <p:sldId id="337" r:id="rId53"/>
    <p:sldId id="348" r:id="rId54"/>
    <p:sldId id="349" r:id="rId55"/>
    <p:sldId id="358" r:id="rId56"/>
    <p:sldId id="359" r:id="rId57"/>
    <p:sldId id="360" r:id="rId58"/>
    <p:sldId id="361" r:id="rId59"/>
    <p:sldId id="362" r:id="rId60"/>
    <p:sldId id="363" r:id="rId61"/>
    <p:sldId id="352" r:id="rId62"/>
    <p:sldId id="339" r:id="rId63"/>
    <p:sldId id="340" r:id="rId64"/>
    <p:sldId id="342" r:id="rId65"/>
    <p:sldId id="350" r:id="rId66"/>
    <p:sldId id="351" r:id="rId67"/>
    <p:sldId id="364" r:id="rId68"/>
    <p:sldId id="355" r:id="rId6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91" d="100"/>
          <a:sy n="91" d="100"/>
        </p:scale>
        <p:origin x="81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03936-BC7F-49E5-81EC-58F348CF155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061C-0624-49FA-BA36-89A8CB22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1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061C-0624-49FA-BA36-89A8CB22322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03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061C-0624-49FA-BA36-89A8CB22322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03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FA53E-151F-641D-5E12-22A91335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FE7E2-8BF8-ADAA-E591-766A3978A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80663-0191-364B-062C-1358AAABF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04E85-FE32-DC36-5607-F337475C3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061C-0624-49FA-BA36-89A8CB22322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64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83944" y="447243"/>
            <a:ext cx="6776110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3999" cy="51434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33840" cy="5133340"/>
          </a:xfrm>
          <a:custGeom>
            <a:avLst/>
            <a:gdLst/>
            <a:ahLst/>
            <a:cxnLst/>
            <a:rect l="l" t="t" r="r" b="b"/>
            <a:pathLst>
              <a:path w="9133840" h="5133340">
                <a:moveTo>
                  <a:pt x="0" y="5132831"/>
                </a:moveTo>
                <a:lnTo>
                  <a:pt x="9133332" y="5132831"/>
                </a:lnTo>
                <a:lnTo>
                  <a:pt x="9133332" y="0"/>
                </a:lnTo>
                <a:lnTo>
                  <a:pt x="0" y="0"/>
                </a:lnTo>
                <a:lnTo>
                  <a:pt x="0" y="5132831"/>
                </a:lnTo>
                <a:close/>
              </a:path>
            </a:pathLst>
          </a:custGeom>
          <a:solidFill>
            <a:srgbClr val="212121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87111" y="0"/>
            <a:ext cx="4057015" cy="5143500"/>
          </a:xfrm>
          <a:custGeom>
            <a:avLst/>
            <a:gdLst/>
            <a:ahLst/>
            <a:cxnLst/>
            <a:rect l="l" t="t" r="r" b="b"/>
            <a:pathLst>
              <a:path w="4057015" h="5143500">
                <a:moveTo>
                  <a:pt x="4056887" y="0"/>
                </a:moveTo>
                <a:lnTo>
                  <a:pt x="0" y="0"/>
                </a:lnTo>
                <a:lnTo>
                  <a:pt x="2666298" y="5143498"/>
                </a:lnTo>
                <a:lnTo>
                  <a:pt x="4056887" y="5143498"/>
                </a:lnTo>
                <a:lnTo>
                  <a:pt x="4056887" y="0"/>
                </a:lnTo>
                <a:close/>
              </a:path>
            </a:pathLst>
          </a:custGeom>
          <a:solidFill>
            <a:srgbClr val="FF8600">
              <a:alpha val="8548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4393691"/>
            <a:ext cx="7754620" cy="749935"/>
          </a:xfrm>
          <a:custGeom>
            <a:avLst/>
            <a:gdLst/>
            <a:ahLst/>
            <a:cxnLst/>
            <a:rect l="l" t="t" r="r" b="b"/>
            <a:pathLst>
              <a:path w="7754620" h="749935">
                <a:moveTo>
                  <a:pt x="7367651" y="0"/>
                </a:moveTo>
                <a:lnTo>
                  <a:pt x="0" y="0"/>
                </a:lnTo>
                <a:lnTo>
                  <a:pt x="0" y="749806"/>
                </a:lnTo>
                <a:lnTo>
                  <a:pt x="7754111" y="749806"/>
                </a:lnTo>
                <a:lnTo>
                  <a:pt x="7367651" y="0"/>
                </a:lnTo>
                <a:close/>
              </a:path>
            </a:pathLst>
          </a:custGeom>
          <a:solidFill>
            <a:srgbClr val="FFFFFF">
              <a:alpha val="1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28700" y="4166615"/>
            <a:ext cx="8115300" cy="227329"/>
          </a:xfrm>
          <a:custGeom>
            <a:avLst/>
            <a:gdLst/>
            <a:ahLst/>
            <a:cxnLst/>
            <a:rect l="l" t="t" r="r" b="b"/>
            <a:pathLst>
              <a:path w="8115300" h="227329">
                <a:moveTo>
                  <a:pt x="8115300" y="0"/>
                </a:moveTo>
                <a:lnTo>
                  <a:pt x="0" y="0"/>
                </a:lnTo>
                <a:lnTo>
                  <a:pt x="117043" y="227076"/>
                </a:lnTo>
                <a:lnTo>
                  <a:pt x="8115300" y="227076"/>
                </a:lnTo>
                <a:lnTo>
                  <a:pt x="8115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258185" cy="5143500"/>
          </a:xfrm>
          <a:custGeom>
            <a:avLst/>
            <a:gdLst/>
            <a:ahLst/>
            <a:cxnLst/>
            <a:rect l="l" t="t" r="r" b="b"/>
            <a:pathLst>
              <a:path w="3258185" h="5143500">
                <a:moveTo>
                  <a:pt x="591569" y="0"/>
                </a:moveTo>
                <a:lnTo>
                  <a:pt x="0" y="0"/>
                </a:lnTo>
                <a:lnTo>
                  <a:pt x="0" y="5143498"/>
                </a:lnTo>
                <a:lnTo>
                  <a:pt x="3258065" y="5143498"/>
                </a:lnTo>
                <a:lnTo>
                  <a:pt x="591569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55344" cy="731520"/>
          </a:xfrm>
          <a:custGeom>
            <a:avLst/>
            <a:gdLst/>
            <a:ahLst/>
            <a:cxnLst/>
            <a:rect l="l" t="t" r="r" b="b"/>
            <a:pathLst>
              <a:path w="855344" h="731520">
                <a:moveTo>
                  <a:pt x="477928" y="0"/>
                </a:moveTo>
                <a:lnTo>
                  <a:pt x="0" y="0"/>
                </a:lnTo>
                <a:lnTo>
                  <a:pt x="0" y="731520"/>
                </a:lnTo>
                <a:lnTo>
                  <a:pt x="854963" y="731520"/>
                </a:lnTo>
                <a:lnTo>
                  <a:pt x="47792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7189" y="0"/>
            <a:ext cx="513715" cy="739140"/>
          </a:xfrm>
          <a:custGeom>
            <a:avLst/>
            <a:gdLst/>
            <a:ahLst/>
            <a:cxnLst/>
            <a:rect l="l" t="t" r="r" b="b"/>
            <a:pathLst>
              <a:path w="513715" h="739140">
                <a:moveTo>
                  <a:pt x="129489" y="0"/>
                </a:moveTo>
                <a:lnTo>
                  <a:pt x="0" y="0"/>
                </a:lnTo>
                <a:lnTo>
                  <a:pt x="383921" y="739139"/>
                </a:lnTo>
                <a:lnTo>
                  <a:pt x="513410" y="739139"/>
                </a:lnTo>
                <a:lnTo>
                  <a:pt x="129489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43712" y="272795"/>
            <a:ext cx="7505700" cy="749935"/>
          </a:xfrm>
          <a:custGeom>
            <a:avLst/>
            <a:gdLst/>
            <a:ahLst/>
            <a:cxnLst/>
            <a:rect l="l" t="t" r="r" b="b"/>
            <a:pathLst>
              <a:path w="7505700" h="749935">
                <a:moveTo>
                  <a:pt x="7119238" y="0"/>
                </a:moveTo>
                <a:lnTo>
                  <a:pt x="0" y="0"/>
                </a:lnTo>
                <a:lnTo>
                  <a:pt x="386460" y="749807"/>
                </a:lnTo>
                <a:lnTo>
                  <a:pt x="7505700" y="749807"/>
                </a:lnTo>
                <a:lnTo>
                  <a:pt x="711923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272795"/>
            <a:ext cx="8153400" cy="4871085"/>
          </a:xfrm>
          <a:custGeom>
            <a:avLst/>
            <a:gdLst/>
            <a:ahLst/>
            <a:cxnLst/>
            <a:rect l="l" t="t" r="r" b="b"/>
            <a:pathLst>
              <a:path w="8153400" h="4871085">
                <a:moveTo>
                  <a:pt x="8153400" y="4652772"/>
                </a:moveTo>
                <a:lnTo>
                  <a:pt x="0" y="4652772"/>
                </a:lnTo>
                <a:lnTo>
                  <a:pt x="112318" y="4870704"/>
                </a:lnTo>
                <a:lnTo>
                  <a:pt x="8153400" y="4870704"/>
                </a:lnTo>
                <a:lnTo>
                  <a:pt x="8153400" y="4652772"/>
                </a:lnTo>
                <a:close/>
              </a:path>
              <a:path w="8153400" h="4871085">
                <a:moveTo>
                  <a:pt x="8153400" y="0"/>
                </a:moveTo>
                <a:lnTo>
                  <a:pt x="6871716" y="0"/>
                </a:lnTo>
                <a:lnTo>
                  <a:pt x="7258177" y="749808"/>
                </a:lnTo>
                <a:lnTo>
                  <a:pt x="8153400" y="749808"/>
                </a:lnTo>
                <a:lnTo>
                  <a:pt x="8153400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951" y="1676110"/>
            <a:ext cx="3813175" cy="21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0711" y="4972094"/>
            <a:ext cx="3164840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361950"/>
            <a:ext cx="49530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70" dirty="0">
                <a:solidFill>
                  <a:srgbClr val="FFFFFF"/>
                </a:solidFill>
                <a:latin typeface="Trebuchet MS"/>
                <a:cs typeface="Trebuchet MS"/>
              </a:rPr>
              <a:t>Database </a:t>
            </a:r>
            <a:r>
              <a:rPr sz="3600" spc="-254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3600" spc="-4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581150"/>
            <a:ext cx="5562600" cy="56874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US" sz="3200" spc="-229" dirty="0" smtClean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200" spc="-229" dirty="0">
                <a:solidFill>
                  <a:srgbClr val="FF6600"/>
                </a:solidFill>
                <a:latin typeface="Trebuchet MS"/>
                <a:cs typeface="Trebuchet MS"/>
              </a:rPr>
              <a:t>Relational Algebra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DD79F8-DBBA-4867-DD54-F9436BCA925A}"/>
              </a:ext>
            </a:extLst>
          </p:cNvPr>
          <p:cNvSpPr txBox="1"/>
          <p:nvPr/>
        </p:nvSpPr>
        <p:spPr>
          <a:xfrm>
            <a:off x="4000500" y="3257550"/>
            <a:ext cx="4953000" cy="807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1600" dirty="0" smtClean="0">
                <a:solidFill>
                  <a:schemeClr val="bg1"/>
                </a:solidFill>
                <a:latin typeface="Trebuchet MS"/>
                <a:cs typeface="Trebuchet MS"/>
              </a:rPr>
              <a:t>Antu Chowdhury</a:t>
            </a:r>
            <a:endParaRPr lang="en-US" sz="1600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  <a:latin typeface="Trebuchet MS"/>
                <a:cs typeface="Trebuchet MS"/>
              </a:rPr>
              <a:t>Lecturer</a:t>
            </a: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bg1"/>
                </a:solidFill>
                <a:latin typeface="Trebuchet MS"/>
                <a:cs typeface="Trebuchet MS"/>
              </a:rPr>
              <a:t>Dept of </a:t>
            </a:r>
            <a:r>
              <a:rPr lang="en-US" sz="1600" dirty="0" smtClean="0">
                <a:solidFill>
                  <a:schemeClr val="bg1"/>
                </a:solidFill>
                <a:latin typeface="Trebuchet MS"/>
                <a:cs typeface="Trebuchet MS"/>
              </a:rPr>
              <a:t>CSE, EWU</a:t>
            </a:r>
            <a:endParaRPr lang="en-US" sz="1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37179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40" dirty="0"/>
              <a:t>Relational Query Language</a:t>
            </a:r>
            <a:endParaRPr spc="-130" dirty="0"/>
          </a:p>
        </p:txBody>
      </p:sp>
      <p:sp>
        <p:nvSpPr>
          <p:cNvPr id="4" name="object 4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EB4F6-16C2-0F92-2BB2-9C75E0209893}"/>
              </a:ext>
            </a:extLst>
          </p:cNvPr>
          <p:cNvSpPr txBox="1"/>
          <p:nvPr/>
        </p:nvSpPr>
        <p:spPr>
          <a:xfrm>
            <a:off x="1183944" y="1352550"/>
            <a:ext cx="68170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Language in which user requests information from the database.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Categories of languages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Procedural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Non-procedural, or declarative </a:t>
            </a:r>
            <a:r>
              <a:rPr lang="en-US" b="1" dirty="0">
                <a:solidFill>
                  <a:srgbClr val="FF0000"/>
                </a:solidFill>
              </a:rPr>
              <a:t>SQL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“Pure” languages: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Relational algebra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tx2"/>
                </a:solidFill>
              </a:rPr>
              <a:t>Pure </a:t>
            </a:r>
            <a:r>
              <a:rPr lang="en-US" dirty="0">
                <a:solidFill>
                  <a:schemeClr val="tx2"/>
                </a:solidFill>
              </a:rPr>
              <a:t>languages form underlying basis of query languages that people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24889-643F-2391-B6CB-EADDB91A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21C3A5-42B3-2B26-B4E7-9A338F0449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37179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Relational Algebra</a:t>
            </a:r>
            <a:endParaRPr spc="-13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18F0CFD-1F56-7B48-BED0-A39AFDB7C376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7641D1-8554-E474-885A-79B83F6A3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00150"/>
            <a:ext cx="8153399" cy="501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Procedural language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Six basic operators</a:t>
            </a:r>
          </a:p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F9967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</a:rPr>
              <a:t>select: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sym typeface="Symbol" pitchFamily="18" charset="2"/>
              </a:rPr>
              <a:t>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</a:endParaRPr>
          </a:p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F9967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</a:rPr>
              <a:t>project: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sym typeface="Symbol" pitchFamily="18" charset="2"/>
              </a:rPr>
              <a:t>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</a:endParaRPr>
          </a:p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F9967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</a:rPr>
              <a:t>union: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sym typeface="Symbol" pitchFamily="18" charset="2"/>
              </a:rPr>
              <a:t>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</a:endParaRPr>
          </a:p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F9967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</a:rPr>
              <a:t>set difference: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</a:rPr>
              <a:t>–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</a:rPr>
              <a:t> </a:t>
            </a:r>
          </a:p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F9967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</a:rPr>
              <a:t>Cartesian product: x</a:t>
            </a:r>
          </a:p>
          <a:p>
            <a:pPr marL="669925" marR="0" lvl="1" indent="-3254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F9967"/>
              </a:buClr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</a:rPr>
              <a:t>rename: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sym typeface="Symbol" pitchFamily="18" charset="2"/>
              </a:rPr>
              <a:t>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The operators take one or  two relations as inputs and produce a new relation as a result.</a:t>
            </a:r>
          </a:p>
        </p:txBody>
      </p:sp>
    </p:spTree>
    <p:extLst>
      <p:ext uri="{BB962C8B-B14F-4D97-AF65-F5344CB8AC3E}">
        <p14:creationId xmlns:p14="http://schemas.microsoft.com/office/powerpoint/2010/main" val="184905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37179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40" dirty="0"/>
              <a:t>Select Operation</a:t>
            </a:r>
            <a:endParaRPr spc="-130" dirty="0"/>
          </a:p>
        </p:txBody>
      </p:sp>
      <p:sp>
        <p:nvSpPr>
          <p:cNvPr id="4" name="object 4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E6189E-A99B-9ADD-2B15-0B73D7FF6D2B}"/>
              </a:ext>
            </a:extLst>
          </p:cNvPr>
          <p:cNvSpPr txBox="1"/>
          <p:nvPr/>
        </p:nvSpPr>
        <p:spPr>
          <a:xfrm>
            <a:off x="1148384" y="1154439"/>
            <a:ext cx="6319216" cy="2834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/>
              <a:t>The  </a:t>
            </a:r>
            <a:r>
              <a:rPr lang="en-US" altLang="en-US" b="1" dirty="0"/>
              <a:t>selec</a:t>
            </a:r>
            <a:r>
              <a:rPr lang="en-US" altLang="en-US" dirty="0"/>
              <a:t>t operation selects tuples that satisfy a given predicate.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/>
              <a:t>Notation: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p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is called the </a:t>
            </a:r>
            <a:r>
              <a:rPr lang="en-US" altLang="en-US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i="1" dirty="0">
                <a:sym typeface="Symbol" panose="05050102010706020507" pitchFamily="18" charset="2"/>
              </a:rPr>
              <a:t>instructor</a:t>
            </a:r>
            <a:r>
              <a:rPr lang="en-US" altLang="en-US" dirty="0">
                <a:sym typeface="Symbol" panose="05050102010706020507" pitchFamily="18" charset="2"/>
              </a:rPr>
              <a:t>  relation where the instructor is in the “Physics” department.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/>
            </a:r>
            <a:br>
              <a:rPr lang="en-US" altLang="en-US" b="1" dirty="0">
                <a:sym typeface="Symbol" panose="05050102010706020507" pitchFamily="18" charset="2"/>
              </a:rPr>
            </a:br>
            <a:r>
              <a:rPr lang="en-US" altLang="en-US" b="1" dirty="0">
                <a:sym typeface="Symbol" panose="05050102010706020507" pitchFamily="18" charset="2"/>
              </a:rPr>
              <a:t>  	</a:t>
            </a:r>
            <a:r>
              <a:rPr lang="en-US" altLang="en-US" b="1" i="1" dirty="0">
                <a:sym typeface="Symbol" panose="05050102010706020507" pitchFamily="18" charset="2"/>
              </a:rPr>
              <a:t>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b="1" i="1" baseline="-25000" dirty="0">
                <a:sym typeface="Symbol" panose="05050102010706020507" pitchFamily="18" charset="2"/>
              </a:rPr>
              <a:t>=</a:t>
            </a:r>
            <a:r>
              <a:rPr lang="ja-JP" altLang="en-US" b="1" i="1" baseline="-25000" dirty="0">
                <a:sym typeface="Symbol" panose="05050102010706020507" pitchFamily="18" charset="2"/>
              </a:rPr>
              <a:t>“</a:t>
            </a:r>
            <a:r>
              <a:rPr lang="en-US" altLang="ja-JP" b="1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b="1" dirty="0">
                <a:sym typeface="Symbol" panose="05050102010706020507" pitchFamily="18" charset="2"/>
              </a:rPr>
              <a:t>(</a:t>
            </a:r>
            <a:r>
              <a:rPr lang="en-US" altLang="ja-JP" b="1" i="1" dirty="0">
                <a:sym typeface="Symbol" panose="05050102010706020507" pitchFamily="18" charset="2"/>
              </a:rPr>
              <a:t>instructor</a:t>
            </a:r>
            <a:r>
              <a:rPr lang="en-US" altLang="ja-JP" b="1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Result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451EE0A-60B6-46C0-2AB4-3E39595288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b="31858"/>
          <a:stretch/>
        </p:blipFill>
        <p:spPr>
          <a:xfrm>
            <a:off x="2362200" y="3493568"/>
            <a:ext cx="4932139" cy="1223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44561-082E-4D34-F16F-01306623B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E29AA47-9BD3-C3E8-A9E3-D942176591B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5D6290-90E2-9748-A44A-417164FED958}"/>
              </a:ext>
            </a:extLst>
          </p:cNvPr>
          <p:cNvSpPr txBox="1"/>
          <p:nvPr/>
        </p:nvSpPr>
        <p:spPr>
          <a:xfrm>
            <a:off x="990600" y="1076233"/>
            <a:ext cx="7467600" cy="33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We allow comparisons using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=, , &gt;, </a:t>
            </a:r>
            <a:r>
              <a:rPr lang="en-US" altLang="en-US" dirty="0" smtClean="0">
                <a:sym typeface="Symbol" panose="05050102010706020507" pitchFamily="18" charset="2"/>
              </a:rPr>
              <a:t>, &lt;,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in the selection predicate. 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 (</a:t>
            </a:r>
            <a:r>
              <a:rPr lang="en-US" altLang="en-US" b="1" dirty="0">
                <a:sym typeface="Symbol" panose="05050102010706020507" pitchFamily="18" charset="2"/>
              </a:rPr>
              <a:t>and</a:t>
            </a:r>
            <a:r>
              <a:rPr lang="en-US" altLang="en-US" dirty="0">
                <a:sym typeface="Symbol" panose="05050102010706020507" pitchFamily="18" charset="2"/>
              </a:rPr>
              <a:t>),  (</a:t>
            </a:r>
            <a:r>
              <a:rPr lang="en-US" altLang="en-US" b="1" dirty="0">
                <a:sym typeface="Symbol" panose="05050102010706020507" pitchFamily="18" charset="2"/>
              </a:rPr>
              <a:t>or</a:t>
            </a:r>
            <a:r>
              <a:rPr lang="en-US" altLang="en-US" dirty="0">
                <a:sym typeface="Symbol" panose="05050102010706020507" pitchFamily="18" charset="2"/>
              </a:rPr>
              <a:t>),  (</a:t>
            </a:r>
            <a:r>
              <a:rPr lang="en-US" altLang="en-US" b="1" dirty="0">
                <a:sym typeface="Symbol" panose="05050102010706020507" pitchFamily="18" charset="2"/>
              </a:rPr>
              <a:t>not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Example: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1.Find the instructors in Physics with a salary greater $90,000, we write: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b="1" dirty="0">
                <a:sym typeface="Symbol" panose="05050102010706020507" pitchFamily="18" charset="2"/>
              </a:rPr>
              <a:t/>
            </a:r>
            <a:br>
              <a:rPr lang="en-US" altLang="en-US" b="1" dirty="0">
                <a:sym typeface="Symbol" panose="05050102010706020507" pitchFamily="18" charset="2"/>
              </a:rPr>
            </a:br>
            <a:r>
              <a:rPr lang="en-US" altLang="en-US" b="1" dirty="0">
                <a:sym typeface="Symbol" panose="05050102010706020507" pitchFamily="18" charset="2"/>
              </a:rPr>
              <a:t>          </a:t>
            </a:r>
            <a:r>
              <a:rPr lang="en-US" altLang="en-US" b="1" i="1" dirty="0">
                <a:sym typeface="Symbol" panose="05050102010706020507" pitchFamily="18" charset="2"/>
              </a:rPr>
              <a:t>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b="1" i="1" baseline="-25000" dirty="0">
                <a:sym typeface="Symbol" panose="05050102010706020507" pitchFamily="18" charset="2"/>
              </a:rPr>
              <a:t>=</a:t>
            </a:r>
            <a:r>
              <a:rPr lang="ja-JP" altLang="en-US" b="1" i="1" baseline="-25000" dirty="0">
                <a:sym typeface="Symbol" panose="05050102010706020507" pitchFamily="18" charset="2"/>
              </a:rPr>
              <a:t>“</a:t>
            </a:r>
            <a:r>
              <a:rPr lang="en-US" altLang="ja-JP" b="1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b="1" i="1" baseline="-25000" dirty="0">
                <a:sym typeface="Symbol" panose="05050102010706020507" pitchFamily="18" charset="2"/>
              </a:rPr>
              <a:t>” </a:t>
            </a:r>
            <a:r>
              <a:rPr lang="en-US" altLang="en-US" b="1" dirty="0">
                <a:sym typeface="Symbol" panose="05050102010706020507" pitchFamily="18" charset="2"/>
              </a:rPr>
              <a:t></a:t>
            </a:r>
            <a:r>
              <a:rPr lang="ja-JP" altLang="en-US" b="1" i="1" baseline="-25000" dirty="0">
                <a:sym typeface="Symbol" panose="05050102010706020507" pitchFamily="18" charset="2"/>
              </a:rPr>
              <a:t> </a:t>
            </a:r>
            <a:r>
              <a:rPr lang="en-US" altLang="ja-JP" b="1" i="1" baseline="-25000" dirty="0">
                <a:sym typeface="Symbol" panose="05050102010706020507" pitchFamily="18" charset="2"/>
              </a:rPr>
              <a:t>salary &gt;</a:t>
            </a:r>
            <a:r>
              <a:rPr lang="en-US" altLang="ja-JP" b="1" i="1" dirty="0">
                <a:sym typeface="Symbol" panose="05050102010706020507" pitchFamily="18" charset="2"/>
              </a:rPr>
              <a:t> </a:t>
            </a:r>
            <a:r>
              <a:rPr lang="en-US" altLang="ja-JP" b="1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b="1" i="1" dirty="0">
                <a:sym typeface="Symbol" panose="05050102010706020507" pitchFamily="18" charset="2"/>
              </a:rPr>
              <a:t> </a:t>
            </a:r>
            <a:r>
              <a:rPr lang="en-US" altLang="ja-JP" b="1" dirty="0">
                <a:sym typeface="Symbol" panose="05050102010706020507" pitchFamily="18" charset="2"/>
              </a:rPr>
              <a:t>(</a:t>
            </a:r>
            <a:r>
              <a:rPr lang="en-US" altLang="ja-JP" b="1" i="1" dirty="0">
                <a:sym typeface="Symbol" panose="05050102010706020507" pitchFamily="18" charset="2"/>
              </a:rPr>
              <a:t>instructor</a:t>
            </a:r>
            <a:r>
              <a:rPr lang="en-US" altLang="ja-JP" b="1" dirty="0">
                <a:sym typeface="Symbol" panose="05050102010706020507" pitchFamily="18" charset="2"/>
              </a:rPr>
              <a:t>)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endParaRPr lang="en-US" altLang="ja-JP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ja-JP" dirty="0">
                <a:sym typeface="Symbol" panose="05050102010706020507" pitchFamily="18" charset="2"/>
              </a:rPr>
              <a:t> 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2A832D-2AF6-1B74-4B61-AD0ABA6D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spc="-140" dirty="0"/>
              <a:t>Select Operation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8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5A7D0-C6D1-3BBB-7563-23E597F5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1AC54FA-AAB7-2F30-9604-7E87DCC9F889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BDEE14-E8DE-B36C-D788-1BF64DDE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spc="-140" dirty="0"/>
              <a:t>Select Operation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C1FB5-F8ED-3D9F-35C1-F73D3CAF6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59" y="1428750"/>
            <a:ext cx="8562977" cy="180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6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BE503-67A3-00F1-4B5F-7D51BD7C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EE145DD-E0F4-2B0B-5272-FEA4D511C9E2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A5F05D-757C-28CD-E3A8-0E1975DA7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spc="-140" dirty="0"/>
              <a:t>Project Operation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96B5C-9E67-56E9-0B24-DE2C0BA4C2EC}"/>
              </a:ext>
            </a:extLst>
          </p:cNvPr>
          <p:cNvSpPr txBox="1"/>
          <p:nvPr/>
        </p:nvSpPr>
        <p:spPr>
          <a:xfrm>
            <a:off x="685800" y="1123950"/>
            <a:ext cx="67761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PROJECT operation denoted by selects certain columns from the table and discards the other columns</a:t>
            </a:r>
          </a:p>
          <a:p>
            <a:endParaRPr lang="en-US" dirty="0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8DBE11F6-B7EF-2D8D-DB50-EF152C84B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42756"/>
              </p:ext>
            </p:extLst>
          </p:nvPr>
        </p:nvGraphicFramePr>
        <p:xfrm>
          <a:off x="3505200" y="1842008"/>
          <a:ext cx="2871787" cy="761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Equation" r:id="rId3" imgW="1295280" imgH="355320" progId="Equation.3">
                  <p:embed/>
                </p:oleObj>
              </mc:Choice>
              <mc:Fallback>
                <p:oleObj name="Equation" r:id="rId3" imgW="1295280" imgH="355320" progId="Equation.3">
                  <p:embed/>
                  <p:pic>
                    <p:nvPicPr>
                      <p:cNvPr id="40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842008"/>
                        <a:ext cx="2871787" cy="761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736265F-F7B4-896C-BE59-1FAA1E3E92A8}"/>
              </a:ext>
            </a:extLst>
          </p:cNvPr>
          <p:cNvSpPr txBox="1"/>
          <p:nvPr/>
        </p:nvSpPr>
        <p:spPr>
          <a:xfrm>
            <a:off x="2819400" y="2495550"/>
            <a:ext cx="4572000" cy="73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Monotype Sorts" pitchFamily="2" charset="2"/>
              <a:buNone/>
              <a:tabLst>
                <a:tab pos="3257550" algn="ctr"/>
              </a:tabLst>
            </a:pPr>
            <a:r>
              <a:rPr lang="en-US">
                <a:solidFill>
                  <a:schemeClr val="tx2"/>
                </a:solidFill>
              </a:rPr>
              <a:t>where </a:t>
            </a:r>
            <a:r>
              <a:rPr lang="en-US" i="1">
                <a:solidFill>
                  <a:schemeClr val="tx2"/>
                </a:solidFill>
              </a:rPr>
              <a:t>A</a:t>
            </a:r>
            <a:r>
              <a:rPr lang="en-US" i="1" baseline="-25000">
                <a:solidFill>
                  <a:schemeClr val="tx2"/>
                </a:solidFill>
              </a:rPr>
              <a:t>1</a:t>
            </a:r>
            <a:r>
              <a:rPr lang="en-US" i="1">
                <a:solidFill>
                  <a:schemeClr val="tx2"/>
                </a:solidFill>
              </a:rPr>
              <a:t>, A</a:t>
            </a:r>
            <a:r>
              <a:rPr lang="en-US" i="1" baseline="-25000">
                <a:solidFill>
                  <a:schemeClr val="tx2"/>
                </a:solidFill>
              </a:rPr>
              <a:t>2</a:t>
            </a:r>
            <a:r>
              <a:rPr lang="en-US">
                <a:solidFill>
                  <a:schemeClr val="tx2"/>
                </a:solidFill>
              </a:rPr>
              <a:t> are attribute names and </a:t>
            </a:r>
            <a:r>
              <a:rPr lang="en-US" i="1">
                <a:solidFill>
                  <a:schemeClr val="tx2"/>
                </a:solidFill>
              </a:rPr>
              <a:t>r</a:t>
            </a:r>
            <a:r>
              <a:rPr lang="en-US">
                <a:solidFill>
                  <a:schemeClr val="tx2"/>
                </a:solidFill>
              </a:rPr>
              <a:t> is a relation name.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C0A2D-CE25-5D33-5029-26911824C7CC}"/>
              </a:ext>
            </a:extLst>
          </p:cNvPr>
          <p:cNvSpPr txBox="1"/>
          <p:nvPr/>
        </p:nvSpPr>
        <p:spPr>
          <a:xfrm>
            <a:off x="685800" y="3312308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tabLst>
                <a:tab pos="3257550" algn="ctr"/>
              </a:tabLst>
            </a:pPr>
            <a:r>
              <a:rPr lang="en-US" dirty="0">
                <a:solidFill>
                  <a:schemeClr val="tx2"/>
                </a:solidFill>
              </a:rPr>
              <a:t>The result is defined as the relation of </a:t>
            </a:r>
            <a:r>
              <a:rPr lang="en-US" i="1" dirty="0">
                <a:solidFill>
                  <a:schemeClr val="tx2"/>
                </a:solidFill>
              </a:rPr>
              <a:t>k</a:t>
            </a:r>
            <a:r>
              <a:rPr lang="en-US" dirty="0">
                <a:solidFill>
                  <a:schemeClr val="tx2"/>
                </a:solidFill>
              </a:rPr>
              <a:t> columns obtained by erasing the columns that are not listed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AAC578-4CB9-CA67-2833-CB88A5168FED}"/>
              </a:ext>
            </a:extLst>
          </p:cNvPr>
          <p:cNvSpPr txBox="1"/>
          <p:nvPr/>
        </p:nvSpPr>
        <p:spPr>
          <a:xfrm>
            <a:off x="696950" y="4027860"/>
            <a:ext cx="7151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tabLst>
                <a:tab pos="3257550" algn="ctr"/>
              </a:tabLst>
            </a:pPr>
            <a:r>
              <a:rPr lang="en-US" b="1" dirty="0">
                <a:solidFill>
                  <a:schemeClr val="tx2"/>
                </a:solidFill>
              </a:rPr>
              <a:t>Duplicate rows removed from result, since relations are sets</a:t>
            </a:r>
          </a:p>
        </p:txBody>
      </p:sp>
    </p:spTree>
    <p:extLst>
      <p:ext uri="{BB962C8B-B14F-4D97-AF65-F5344CB8AC3E}">
        <p14:creationId xmlns:p14="http://schemas.microsoft.com/office/powerpoint/2010/main" val="48676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26B0-C323-6300-651F-19AAEEA3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8491664-CEBD-3AA8-02C7-6C805530301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F71B58-8B06-DB72-A1AB-9AD21F87E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spc="-140" dirty="0"/>
              <a:t>Project Operation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CAA8E9-BA3C-86BE-70A4-531CB23509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762000" y="1924448"/>
            <a:ext cx="3510113" cy="2771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1C4650-88A5-AF25-DC56-C1C099BA7368}"/>
              </a:ext>
            </a:extLst>
          </p:cNvPr>
          <p:cNvSpPr txBox="1"/>
          <p:nvPr/>
        </p:nvSpPr>
        <p:spPr>
          <a:xfrm>
            <a:off x="990599" y="1123950"/>
            <a:ext cx="716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57550" algn="ctr"/>
              </a:tabLst>
            </a:pPr>
            <a:r>
              <a:rPr lang="en-US" altLang="en-US" sz="1800" dirty="0"/>
              <a:t>Example: eliminate the </a:t>
            </a:r>
            <a:r>
              <a:rPr lang="en-US" altLang="en-US" sz="1800" i="1" dirty="0" err="1"/>
              <a:t>dept_name</a:t>
            </a:r>
            <a:r>
              <a:rPr lang="en-US" altLang="en-US" sz="1800" dirty="0"/>
              <a:t> attribute of </a:t>
            </a:r>
            <a:r>
              <a:rPr lang="en-US" altLang="en-US" sz="1800" i="1" dirty="0"/>
              <a:t>instructor</a:t>
            </a:r>
          </a:p>
          <a:p>
            <a:pPr>
              <a:tabLst>
                <a:tab pos="3257550" algn="ctr"/>
              </a:tabLst>
            </a:pPr>
            <a:r>
              <a:rPr lang="en-US" altLang="en-US" sz="1800" dirty="0"/>
              <a:t>Query</a:t>
            </a:r>
            <a:r>
              <a:rPr lang="en-US" altLang="en-US" sz="1800" i="1" dirty="0"/>
              <a:t>:</a:t>
            </a:r>
            <a:r>
              <a:rPr lang="en-US" altLang="en-US" i="1" dirty="0"/>
              <a:t>   </a:t>
            </a:r>
            <a:r>
              <a:rPr lang="en-US" altLang="en-US" sz="18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/>
              <a:t>ID, name, salary</a:t>
            </a:r>
            <a:r>
              <a:rPr lang="en-US" altLang="en-US" dirty="0"/>
              <a:t> </a:t>
            </a:r>
            <a:r>
              <a:rPr lang="en-US" altLang="en-US" sz="1800" dirty="0"/>
              <a:t>(</a:t>
            </a:r>
            <a:r>
              <a:rPr lang="en-US" altLang="en-US" sz="1800" i="1" dirty="0"/>
              <a:t>instructor</a:t>
            </a:r>
            <a:r>
              <a:rPr lang="en-US" altLang="en-US" sz="1800" dirty="0"/>
              <a:t>)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421195C-9FFB-CAEE-A84F-ACDC567450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b="9823"/>
          <a:stretch/>
        </p:blipFill>
        <p:spPr>
          <a:xfrm>
            <a:off x="4629684" y="1857341"/>
            <a:ext cx="3557169" cy="31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7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524D-7D55-8883-6D75-B7FD64A4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ABB2ED5-5069-454B-E164-3AE6DA5B01FA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836859-EE40-204B-A4CA-056C7390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spc="-140" dirty="0"/>
              <a:t>Project Operation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543B5-C58D-5688-483D-02FDE3C527C7}"/>
              </a:ext>
            </a:extLst>
          </p:cNvPr>
          <p:cNvSpPr txBox="1"/>
          <p:nvPr/>
        </p:nvSpPr>
        <p:spPr>
          <a:xfrm>
            <a:off x="990599" y="1092550"/>
            <a:ext cx="716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57550" algn="ctr"/>
              </a:tabLst>
            </a:pPr>
            <a:r>
              <a:rPr lang="en-US" altLang="en-US" sz="1800" dirty="0"/>
              <a:t>Example: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7CBEF6B-AADD-2C86-0B3E-D93CF224D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3944" y="1657350"/>
            <a:ext cx="6861175" cy="411162"/>
          </a:xfrm>
        </p:spPr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Relation</a:t>
            </a:r>
            <a:r>
              <a:rPr lang="en-US" b="1" i="1">
                <a:solidFill>
                  <a:schemeClr val="tx2"/>
                </a:solidFill>
              </a:rPr>
              <a:t> r</a:t>
            </a:r>
            <a:r>
              <a:rPr lang="en-US" b="1">
                <a:solidFill>
                  <a:schemeClr val="tx2"/>
                </a:solidFill>
              </a:rPr>
              <a:t>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9D2C1C-E7E7-8A29-2F6E-B2E9D553A124}"/>
              </a:ext>
            </a:extLst>
          </p:cNvPr>
          <p:cNvGrpSpPr/>
          <p:nvPr/>
        </p:nvGrpSpPr>
        <p:grpSpPr>
          <a:xfrm>
            <a:off x="1183944" y="2024100"/>
            <a:ext cx="1371600" cy="2209800"/>
            <a:chOff x="3458831" y="1544637"/>
            <a:chExt cx="1371600" cy="2209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BA6A3B99-73D2-CB87-CBD9-FDC6AEAD6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8831" y="1544637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E9C13BC0-0AFF-9D22-F60F-C30F7465A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031" y="1544637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B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8F12E6FE-158B-84D7-2D7C-C8F91D3DB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3231" y="1544637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C</a:t>
              </a: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A93CCA01-6A68-7E47-BBBC-10DC04093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8831" y="2078037"/>
              <a:ext cx="457200" cy="1676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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364AAA06-D8B6-0B48-B034-CE60F845E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031" y="2078037"/>
              <a:ext cx="457200" cy="1676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10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20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30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40</a:t>
              </a: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013DC513-EB88-EC75-04F7-E35A0000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3231" y="2078037"/>
              <a:ext cx="457200" cy="1676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2</a:t>
              </a:r>
            </a:p>
          </p:txBody>
        </p:sp>
      </p:grpSp>
      <p:sp>
        <p:nvSpPr>
          <p:cNvPr id="16" name="Rectangle 28">
            <a:extLst>
              <a:ext uri="{FF2B5EF4-FFF2-40B4-BE49-F238E27FC236}">
                <a16:creationId xmlns:a16="http://schemas.microsoft.com/office/drawing/2014/main" id="{E6F91DD9-9B6E-ACDC-2593-5B2B9634D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716140"/>
            <a:ext cx="2133600" cy="965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4400" b="1" dirty="0">
                <a:solidFill>
                  <a:srgbClr val="002600"/>
                </a:solidFill>
                <a:latin typeface="Times New Roman" pitchFamily="18" charset="0"/>
                <a:sym typeface="Symbol" pitchFamily="18" charset="2"/>
              </a:rPr>
              <a:t></a:t>
            </a:r>
            <a:r>
              <a:rPr lang="en-US" sz="4400" b="1" baseline="-25000" dirty="0">
                <a:solidFill>
                  <a:srgbClr val="002600"/>
                </a:solidFill>
                <a:latin typeface="Times New Roman" pitchFamily="18" charset="0"/>
              </a:rPr>
              <a:t>A,C</a:t>
            </a:r>
            <a:r>
              <a:rPr lang="en-US" sz="4400" b="1" dirty="0">
                <a:solidFill>
                  <a:srgbClr val="002600"/>
                </a:solidFill>
                <a:latin typeface="Times New Roman" pitchFamily="18" charset="0"/>
              </a:rPr>
              <a:t> (</a:t>
            </a:r>
            <a:r>
              <a:rPr lang="en-US" sz="4400" b="1" i="1" dirty="0">
                <a:solidFill>
                  <a:srgbClr val="002600"/>
                </a:solidFill>
                <a:latin typeface="Times New Roman" pitchFamily="18" charset="0"/>
              </a:rPr>
              <a:t>r</a:t>
            </a:r>
            <a:r>
              <a:rPr lang="en-US" sz="4400" b="1" dirty="0">
                <a:solidFill>
                  <a:srgbClr val="002600"/>
                </a:solidFill>
                <a:latin typeface="Times New Roman" pitchFamily="18" charset="0"/>
              </a:rPr>
              <a:t>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F1C5D5-BDFD-2379-9209-4DC72153ACA3}"/>
              </a:ext>
            </a:extLst>
          </p:cNvPr>
          <p:cNvGrpSpPr/>
          <p:nvPr/>
        </p:nvGrpSpPr>
        <p:grpSpPr>
          <a:xfrm>
            <a:off x="4867507" y="2093979"/>
            <a:ext cx="914400" cy="2209800"/>
            <a:chOff x="2540000" y="3721100"/>
            <a:chExt cx="914400" cy="2209800"/>
          </a:xfrm>
        </p:grpSpPr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E8DBD595-4EA6-16E4-5804-1B077538A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00" y="3721100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F7642CB0-07F2-ED6E-B927-D807A40F2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200" y="3721100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C</a:t>
              </a: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DBAC489B-550A-6F08-682F-93253EF42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00" y="4254500"/>
              <a:ext cx="457200" cy="1676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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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E3263DF7-61BE-9365-CD9A-C68C83EF1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200" y="4254500"/>
              <a:ext cx="457200" cy="1676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2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8B7D5E0-41F4-CC95-7ECE-8CCB9BD870DD}"/>
              </a:ext>
            </a:extLst>
          </p:cNvPr>
          <p:cNvGrpSpPr/>
          <p:nvPr/>
        </p:nvGrpSpPr>
        <p:grpSpPr>
          <a:xfrm>
            <a:off x="6130548" y="2252700"/>
            <a:ext cx="1373311" cy="1752600"/>
            <a:chOff x="3605089" y="3721100"/>
            <a:chExt cx="1373311" cy="1752600"/>
          </a:xfrm>
        </p:grpSpPr>
        <p:sp>
          <p:nvSpPr>
            <p:cNvPr id="33" name="Rectangle 22">
              <a:extLst>
                <a:ext uri="{FF2B5EF4-FFF2-40B4-BE49-F238E27FC236}">
                  <a16:creationId xmlns:a16="http://schemas.microsoft.com/office/drawing/2014/main" id="{8C6AD41F-B5AF-98DF-FDEE-7823FDDA2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000" y="3721100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A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F3AB284-F798-E809-5F3C-1D984D671548}"/>
                </a:ext>
              </a:extLst>
            </p:cNvPr>
            <p:cNvGrpSpPr/>
            <p:nvPr/>
          </p:nvGrpSpPr>
          <p:grpSpPr>
            <a:xfrm>
              <a:off x="3605089" y="3721100"/>
              <a:ext cx="1373311" cy="1752600"/>
              <a:chOff x="3605089" y="3721100"/>
              <a:chExt cx="1373311" cy="1752600"/>
            </a:xfrm>
          </p:grpSpPr>
          <p:sp>
            <p:nvSpPr>
              <p:cNvPr id="35" name="Text Box 21">
                <a:extLst>
                  <a:ext uri="{FF2B5EF4-FFF2-40B4-BE49-F238E27FC236}">
                    <a16:creationId xmlns:a16="http://schemas.microsoft.com/office/drawing/2014/main" id="{6656072A-0C85-95D0-66EC-4901EE47CC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5089" y="4710391"/>
                <a:ext cx="320922" cy="369332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00B050"/>
                </a:solidFill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00" b="1" dirty="0">
                    <a:solidFill>
                      <a:schemeClr val="tx2"/>
                    </a:solidFill>
                  </a:rPr>
                  <a:t>=</a:t>
                </a:r>
              </a:p>
            </p:txBody>
          </p:sp>
          <p:sp>
            <p:nvSpPr>
              <p:cNvPr id="36" name="Rectangle 23">
                <a:extLst>
                  <a:ext uri="{FF2B5EF4-FFF2-40B4-BE49-F238E27FC236}">
                    <a16:creationId xmlns:a16="http://schemas.microsoft.com/office/drawing/2014/main" id="{59061DF2-5087-DF96-8FC7-2D3B40598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1200" y="3721100"/>
                <a:ext cx="457200" cy="4572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800" b="1" i="1">
                    <a:solidFill>
                      <a:schemeClr val="tx2"/>
                    </a:solidFill>
                  </a:rPr>
                  <a:t>C</a:t>
                </a:r>
              </a:p>
            </p:txBody>
          </p:sp>
          <p:sp>
            <p:nvSpPr>
              <p:cNvPr id="37" name="Rectangle 24">
                <a:extLst>
                  <a:ext uri="{FF2B5EF4-FFF2-40B4-BE49-F238E27FC236}">
                    <a16:creationId xmlns:a16="http://schemas.microsoft.com/office/drawing/2014/main" id="{7D2FFC10-BB0B-7E15-482F-19F9EFF71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4000" y="4254500"/>
                <a:ext cx="457200" cy="12192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i="1">
                    <a:solidFill>
                      <a:schemeClr val="tx2"/>
                    </a:solidFill>
                    <a:sym typeface="Symbol" pitchFamily="18" charset="2"/>
                  </a:rPr>
                  <a:t>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800" b="1" i="1">
                    <a:solidFill>
                      <a:schemeClr val="tx2"/>
                    </a:solidFill>
                    <a:sym typeface="Symbol" pitchFamily="18" charset="2"/>
                  </a:rPr>
                  <a:t>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800" b="1" i="1">
                    <a:solidFill>
                      <a:schemeClr val="tx2"/>
                    </a:solidFill>
                    <a:sym typeface="Symbol" pitchFamily="18" charset="2"/>
                  </a:rPr>
                  <a:t></a:t>
                </a:r>
              </a:p>
            </p:txBody>
          </p:sp>
          <p:sp>
            <p:nvSpPr>
              <p:cNvPr id="38" name="Rectangle 25">
                <a:extLst>
                  <a:ext uri="{FF2B5EF4-FFF2-40B4-BE49-F238E27FC236}">
                    <a16:creationId xmlns:a16="http://schemas.microsoft.com/office/drawing/2014/main" id="{0957887B-F197-A40A-3363-88E20AA62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1200" y="4254500"/>
                <a:ext cx="457200" cy="12192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i="1">
                    <a:solidFill>
                      <a:schemeClr val="tx2"/>
                    </a:solidFill>
                    <a:sym typeface="Symbol" pitchFamily="18" charset="2"/>
                  </a:rPr>
                  <a:t>1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800" b="1" i="1">
                    <a:solidFill>
                      <a:schemeClr val="tx2"/>
                    </a:solidFill>
                    <a:sym typeface="Symbol" pitchFamily="18" charset="2"/>
                  </a:rPr>
                  <a:t>1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800" b="1" i="1">
                    <a:solidFill>
                      <a:schemeClr val="tx2"/>
                    </a:solidFill>
                    <a:sym typeface="Symbol" pitchFamily="18" charset="2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357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885E-654E-D6A4-74A3-2BCDE896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E4D8E93-BFE6-CC2B-78AE-4FFB0076F469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265318-28E5-56C7-467D-DEFA8DA7F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spc="-140" dirty="0"/>
              <a:t>Project Operation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B57C4F-1D01-AFBF-0462-7D07EA34D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59" b="89051" l="503" r="99497">
                        <a14:foregroundMark x1="503" y1="10949" x2="16583" y2="14599"/>
                        <a14:foregroundMark x1="16583" y1="14599" x2="22613" y2="12409"/>
                        <a14:foregroundMark x1="2178" y1="28467" x2="12730" y2="29197"/>
                        <a14:foregroundMark x1="12730" y1="29197" x2="39531" y2="24088"/>
                        <a14:foregroundMark x1="35343" y1="24088" x2="82412" y2="86131"/>
                        <a14:foregroundMark x1="80570" y1="16788" x2="99497" y2="24088"/>
                      </a14:backgroundRemoval>
                    </a14:imgEffect>
                  </a14:imgLayer>
                </a14:imgProps>
              </a:ext>
            </a:extLst>
          </a:blip>
          <a:srcRect b="18719"/>
          <a:stretch/>
        </p:blipFill>
        <p:spPr>
          <a:xfrm>
            <a:off x="1183944" y="1661353"/>
            <a:ext cx="6923525" cy="12913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18C5D58-62ED-72EC-E1DC-561FF0B0A450}"/>
              </a:ext>
            </a:extLst>
          </p:cNvPr>
          <p:cNvSpPr txBox="1"/>
          <p:nvPr/>
        </p:nvSpPr>
        <p:spPr>
          <a:xfrm>
            <a:off x="1371600" y="3409950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SELECT DISTINCT gender, salary FROM EMPLOYEE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4583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DF8A9-BB68-936E-3E99-DC48F9BC0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1E197BC-DCC8-6C8E-216D-E6F2AF89F3CF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1DE335-E4DB-A6D8-B469-3364E38C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altLang="en-US" sz="2400" dirty="0"/>
              <a:t>Composition of Relational Operations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DFA9E-4065-6082-58D8-63FFDF284B32}"/>
              </a:ext>
            </a:extLst>
          </p:cNvPr>
          <p:cNvSpPr txBox="1"/>
          <p:nvPr/>
        </p:nvSpPr>
        <p:spPr>
          <a:xfrm>
            <a:off x="685800" y="1200150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/>
              <a:t>The result of a relational-algebra operation is relation  and therefore of relational-algebra operations can be composed together into a </a:t>
            </a:r>
            <a:r>
              <a:rPr lang="en-US" altLang="en-US" sz="1800" b="1" dirty="0"/>
              <a:t>relational-algebra expression</a:t>
            </a:r>
            <a:r>
              <a:rPr lang="en-US" altLang="en-US" sz="1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DC0B3-593B-8BA3-A326-9B577D5955CD}"/>
              </a:ext>
            </a:extLst>
          </p:cNvPr>
          <p:cNvSpPr txBox="1"/>
          <p:nvPr/>
        </p:nvSpPr>
        <p:spPr>
          <a:xfrm>
            <a:off x="990600" y="2040835"/>
            <a:ext cx="73914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/>
              <a:t>Consider  the query -- Find the names of all instructors in the Physics department.</a:t>
            </a:r>
          </a:p>
          <a:p>
            <a:pPr>
              <a:buNone/>
            </a:pPr>
            <a:r>
              <a:rPr lang="en-US" altLang="ja-JP" sz="900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800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name</a:t>
            </a:r>
            <a:r>
              <a:rPr lang="en-US" altLang="en-US" dirty="0"/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800" dirty="0">
                <a:sym typeface="Symbol" panose="05050102010706020507" pitchFamily="18" charset="2"/>
              </a:rPr>
              <a:t>(</a:t>
            </a:r>
            <a:r>
              <a:rPr lang="en-US" altLang="ja-JP" sz="1800" i="1" dirty="0">
                <a:sym typeface="Symbol" panose="05050102010706020507" pitchFamily="18" charset="2"/>
              </a:rPr>
              <a:t>instructor</a:t>
            </a:r>
            <a:r>
              <a:rPr lang="en-US" altLang="ja-JP" sz="18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endParaRPr lang="en-US" altLang="ja-JP" dirty="0">
              <a:sym typeface="Symbol" panose="05050102010706020507" pitchFamily="18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ja-JP" sz="1800" dirty="0">
                <a:sym typeface="Symbol" panose="05050102010706020507" pitchFamily="18" charset="2"/>
              </a:rPr>
              <a:t>IN SQL,</a:t>
            </a:r>
          </a:p>
          <a:p>
            <a:pPr>
              <a:buNone/>
            </a:pPr>
            <a:endParaRPr lang="en-US" altLang="ja-JP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ja-JP" sz="1800" dirty="0">
                <a:sym typeface="Symbol" panose="05050102010706020507" pitchFamily="18" charset="2"/>
              </a:rPr>
              <a:t>SELECT name </a:t>
            </a:r>
          </a:p>
          <a:p>
            <a:pPr>
              <a:buNone/>
            </a:pPr>
            <a:r>
              <a:rPr lang="en-US" altLang="ja-JP" sz="1800" dirty="0">
                <a:sym typeface="Symbol" panose="05050102010706020507" pitchFamily="18" charset="2"/>
              </a:rPr>
              <a:t>FROM instructor</a:t>
            </a:r>
          </a:p>
          <a:p>
            <a:pPr>
              <a:buNone/>
            </a:pPr>
            <a:r>
              <a:rPr lang="en-US" altLang="ja-JP" dirty="0">
                <a:sym typeface="Symbol" panose="05050102010706020507" pitchFamily="18" charset="2"/>
              </a:rPr>
              <a:t>WHERE </a:t>
            </a:r>
            <a:r>
              <a:rPr lang="en-US" altLang="ja-JP" dirty="0" err="1">
                <a:sym typeface="Symbol" panose="05050102010706020507" pitchFamily="18" charset="2"/>
              </a:rPr>
              <a:t>dept_name</a:t>
            </a:r>
            <a:r>
              <a:rPr lang="en-US" altLang="ja-JP" dirty="0">
                <a:sym typeface="Symbol" panose="05050102010706020507" pitchFamily="18" charset="2"/>
              </a:rPr>
              <a:t>=“Physics”;</a:t>
            </a:r>
            <a:endParaRPr lang="en-US" altLang="ja-JP" sz="1800" dirty="0">
              <a:sym typeface="Symbol" panose="05050102010706020507" pitchFamily="18" charset="2"/>
            </a:endParaRPr>
          </a:p>
          <a:p>
            <a:pPr>
              <a:buNone/>
            </a:pPr>
            <a:endParaRPr lang="en-US" altLang="ja-JP" sz="18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5387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00CB-E9FE-0AC1-8778-0D4617B8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9C62193-88BD-D3D2-E6B6-8F498503A3B3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45EBFA-2772-B050-A050-2952006E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Rename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8660D-CED8-F6A1-30EC-3798CE223698}"/>
              </a:ext>
            </a:extLst>
          </p:cNvPr>
          <p:cNvSpPr txBox="1"/>
          <p:nvPr/>
        </p:nvSpPr>
        <p:spPr>
          <a:xfrm>
            <a:off x="152400" y="1285637"/>
            <a:ext cx="8782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 smtClean="0"/>
              <a:t>The results of relational-algebra expressions do not have a name that we can use to refer to them.  The  rename operator,  </a:t>
            </a:r>
            <a:r>
              <a:rPr lang="en-US" altLang="en-US" sz="1800" i="1" dirty="0" smtClean="0">
                <a:sym typeface="Symbol" panose="05050102010706020507" pitchFamily="18" charset="2"/>
              </a:rPr>
              <a:t> ,</a:t>
            </a:r>
            <a:r>
              <a:rPr lang="en-US" altLang="en-US" sz="1800" dirty="0" smtClean="0">
                <a:sym typeface="Symbol" panose="05050102010706020507" pitchFamily="18" charset="2"/>
              </a:rPr>
              <a:t>  is provided </a:t>
            </a:r>
            <a:r>
              <a:rPr lang="en-US" altLang="en-US" sz="1800" i="1" dirty="0" smtClean="0">
                <a:sym typeface="Symbol" panose="05050102010706020507" pitchFamily="18" charset="2"/>
              </a:rPr>
              <a:t> </a:t>
            </a:r>
            <a:r>
              <a:rPr lang="en-US" altLang="en-US" sz="1800" dirty="0" smtClean="0">
                <a:sym typeface="Symbol" panose="05050102010706020507" pitchFamily="18" charset="2"/>
              </a:rPr>
              <a:t>for that purpose</a:t>
            </a:r>
            <a:endParaRPr lang="en-US" altLang="en-US" sz="1800" dirty="0">
              <a:sym typeface="Symbol" panose="05050102010706020507" pitchFamily="18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F003AF-97D5-B3F7-9346-36C1D4D7244E}"/>
              </a:ext>
            </a:extLst>
          </p:cNvPr>
          <p:cNvSpPr txBox="1"/>
          <p:nvPr/>
        </p:nvSpPr>
        <p:spPr>
          <a:xfrm>
            <a:off x="237844" y="1931968"/>
            <a:ext cx="54009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The expression:</a:t>
            </a:r>
          </a:p>
          <a:p>
            <a:r>
              <a:rPr lang="en-US" altLang="en-US" sz="1800" dirty="0"/>
              <a:t> 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E</a:t>
            </a:r>
            <a:r>
              <a:rPr lang="en-US" altLang="en-US" sz="1800" dirty="0">
                <a:sym typeface="Symbol" panose="05050102010706020507" pitchFamily="18" charset="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R</a:t>
            </a:r>
            <a:r>
              <a:rPr lang="en-US" altLang="en-US" sz="1800" dirty="0" smtClean="0">
                <a:sym typeface="Symbol" panose="05050102010706020507" pitchFamily="18" charset="2"/>
              </a:rPr>
              <a:t>eturns </a:t>
            </a:r>
            <a:r>
              <a:rPr lang="en-US" altLang="en-US" sz="1800" dirty="0">
                <a:sym typeface="Symbol" panose="05050102010706020507" pitchFamily="18" charset="2"/>
              </a:rPr>
              <a:t>the result of expression </a:t>
            </a:r>
            <a:r>
              <a:rPr lang="en-US" altLang="en-US" sz="1800" i="1" dirty="0">
                <a:sym typeface="Symbol" panose="05050102010706020507" pitchFamily="18" charset="2"/>
              </a:rPr>
              <a:t>E</a:t>
            </a:r>
            <a:r>
              <a:rPr lang="en-US" altLang="en-US" sz="1800" dirty="0">
                <a:sym typeface="Symbol" panose="05050102010706020507" pitchFamily="18" charset="2"/>
              </a:rPr>
              <a:t> under the name </a:t>
            </a:r>
            <a:r>
              <a:rPr lang="en-US" altLang="en-US" sz="1800" i="1" dirty="0">
                <a:sym typeface="Symbol" panose="05050102010706020507" pitchFamily="18" charset="2"/>
              </a:rPr>
              <a:t>x</a:t>
            </a:r>
            <a:endParaRPr lang="en-US" altLang="en-US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 smtClean="0"/>
              <a:t>Another </a:t>
            </a:r>
            <a:r>
              <a:rPr lang="en-US" altLang="en-US" sz="1800" dirty="0"/>
              <a:t>form of the rename operation:</a:t>
            </a:r>
          </a:p>
          <a:p>
            <a:pPr>
              <a:buNone/>
            </a:pPr>
            <a:r>
              <a:rPr lang="en-US" altLang="en-US" sz="1800" dirty="0"/>
              <a:t>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E</a:t>
            </a:r>
            <a:r>
              <a:rPr lang="en-US" altLang="en-US" sz="1800" dirty="0">
                <a:sym typeface="Symbol" panose="05050102010706020507" pitchFamily="18" charset="2"/>
              </a:rPr>
              <a:t>)</a:t>
            </a:r>
            <a:endParaRPr lang="en-US" altLang="en-US" sz="1800" dirty="0"/>
          </a:p>
          <a:p>
            <a:pPr>
              <a:buNone/>
            </a:pPr>
            <a:endParaRPr lang="en-US" altLang="ja-JP" sz="1800" dirty="0">
              <a:sym typeface="Symbol" panose="05050102010706020507" pitchFamily="18" charset="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010"/>
          <a:stretch/>
        </p:blipFill>
        <p:spPr>
          <a:xfrm>
            <a:off x="152400" y="3638550"/>
            <a:ext cx="7468653" cy="12670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828" y="2061376"/>
            <a:ext cx="3029008" cy="157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6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00CB-E9FE-0AC1-8778-0D4617B8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9C62193-88BD-D3D2-E6B6-8F498503A3B3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45EBFA-2772-B050-A050-2952006E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Rename Operation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39" y="1239875"/>
            <a:ext cx="4248743" cy="14575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200150"/>
            <a:ext cx="2753109" cy="19243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647673"/>
            <a:ext cx="1600423" cy="19814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3123990"/>
            <a:ext cx="4315427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9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80D6-F63D-CDFC-BB03-7C07DFB0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2D38757-913E-0AE4-AC2C-F4C8A610DFB3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1C5C5F-2461-25A5-50AE-2BD7C382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Rename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60F16-2A6D-A91B-4062-E2722C3BAA50}"/>
              </a:ext>
            </a:extLst>
          </p:cNvPr>
          <p:cNvSpPr txBox="1"/>
          <p:nvPr/>
        </p:nvSpPr>
        <p:spPr>
          <a:xfrm>
            <a:off x="685800" y="1071339"/>
            <a:ext cx="8305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For most queries, we need to apply several relational algebra operations one after the other.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Either we can write the operations as a single relational algebra expression by nesting the operations, or we can apply one operation at a time and create intermediate result relations.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latter case, we must give names to the relations that hold the intermediate results.</a:t>
            </a:r>
          </a:p>
          <a:p>
            <a:endParaRPr lang="en-US" altLang="en-US" sz="1800" dirty="0">
              <a:sym typeface="Symbol" panose="05050102010706020507" pitchFamily="18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73F830-7260-FA78-8CAA-C940872C0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02500"/>
            <a:ext cx="4138279" cy="34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9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CECD-9B3B-96CF-8A48-4A580E1B6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69B3DAE-ABB1-92B7-F728-B797F9136120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06B6BF-606A-2C6B-4CE4-5870373F9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Rename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EC709-5C79-6A1D-C22B-9641F43B5E12}"/>
              </a:ext>
            </a:extLst>
          </p:cNvPr>
          <p:cNvSpPr txBox="1"/>
          <p:nvPr/>
        </p:nvSpPr>
        <p:spPr>
          <a:xfrm>
            <a:off x="1025912" y="1123950"/>
            <a:ext cx="8118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For example, to retrieve the first name, last name, and salary of all employees who work in department number 5, we must apply a SELECT and a PROJECT operation. We can write a single relational algebra expression, also known as an in-line expression, as follows: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2C409-8762-15B0-EB36-1FDCE3E09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398390"/>
            <a:ext cx="4138279" cy="346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0DA3AD-98C8-7146-3E15-5C6647A81B97}"/>
              </a:ext>
            </a:extLst>
          </p:cNvPr>
          <p:cNvSpPr txBox="1"/>
          <p:nvPr/>
        </p:nvSpPr>
        <p:spPr>
          <a:xfrm>
            <a:off x="994316" y="2819221"/>
            <a:ext cx="7844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Alternatively, we can explicitly show the sequence of operations, giving a name to each intermediate relation, as follows: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57A58A-32BA-6B4D-D362-FD47E8BE7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619411"/>
            <a:ext cx="4138278" cy="800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F74B31-16E1-710C-8605-3EC9D001E0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92" t="-1100" r="4250" b="18133"/>
          <a:stretch/>
        </p:blipFill>
        <p:spPr>
          <a:xfrm>
            <a:off x="4191000" y="3672829"/>
            <a:ext cx="2133600" cy="28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1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B7D4-C4BF-3CBA-5E39-D1BFAD2B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789D367-3665-D2EE-B880-9B96AD1F1C71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C640FD-D9B5-BBA5-BF08-C82FFC51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Rename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B2458-650F-B67B-D68A-E2BC15747E25}"/>
              </a:ext>
            </a:extLst>
          </p:cNvPr>
          <p:cNvSpPr txBox="1"/>
          <p:nvPr/>
        </p:nvSpPr>
        <p:spPr>
          <a:xfrm>
            <a:off x="680166" y="1200150"/>
            <a:ext cx="80066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Renaming in SQL is accomplished by aliasing using AS, as in the </a:t>
            </a:r>
            <a:r>
              <a:rPr lang="en-US" dirty="0" smtClean="0"/>
              <a:t>following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example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 err="1"/>
              <a:t>E.</a:t>
            </a:r>
            <a:r>
              <a:rPr lang="en-US" dirty="0" err="1"/>
              <a:t>Fname</a:t>
            </a:r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First_name</a:t>
            </a:r>
            <a:r>
              <a:rPr lang="en-US" dirty="0"/>
              <a:t>, </a:t>
            </a:r>
          </a:p>
          <a:p>
            <a:r>
              <a:rPr lang="en-US" b="1" dirty="0" err="1"/>
              <a:t>E</a:t>
            </a:r>
            <a:r>
              <a:rPr lang="en-US" dirty="0" err="1"/>
              <a:t>.Lname</a:t>
            </a:r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Last_name</a:t>
            </a:r>
            <a:r>
              <a:rPr lang="en-US" dirty="0"/>
              <a:t>, </a:t>
            </a:r>
          </a:p>
          <a:p>
            <a:r>
              <a:rPr lang="en-US" b="1" dirty="0" err="1"/>
              <a:t>E</a:t>
            </a:r>
            <a:r>
              <a:rPr lang="en-US" dirty="0" err="1"/>
              <a:t>.Salary</a:t>
            </a:r>
            <a:r>
              <a:rPr lang="en-US" dirty="0"/>
              <a:t> </a:t>
            </a:r>
            <a:r>
              <a:rPr lang="en-US" b="1" dirty="0"/>
              <a:t>AS</a:t>
            </a:r>
            <a:r>
              <a:rPr lang="en-US" dirty="0"/>
              <a:t> Salary</a:t>
            </a:r>
          </a:p>
          <a:p>
            <a:r>
              <a:rPr lang="en-US" b="1" dirty="0"/>
              <a:t>FROM</a:t>
            </a:r>
            <a:r>
              <a:rPr lang="en-US" dirty="0"/>
              <a:t> EMPLOYEE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b="1" dirty="0"/>
              <a:t>E</a:t>
            </a:r>
            <a:r>
              <a:rPr lang="en-US" dirty="0"/>
              <a:t> </a:t>
            </a:r>
          </a:p>
          <a:p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b="1" dirty="0" err="1"/>
              <a:t>E</a:t>
            </a:r>
            <a:r>
              <a:rPr lang="en-US" dirty="0" err="1"/>
              <a:t>.Dno</a:t>
            </a:r>
            <a:r>
              <a:rPr lang="en-US" dirty="0"/>
              <a:t>=5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32011" y="3508474"/>
            <a:ext cx="859746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If </a:t>
            </a:r>
            <a:r>
              <a:rPr lang="en-US" altLang="en-US" sz="2000" b="1" dirty="0">
                <a:latin typeface="+mj-lt"/>
              </a:rPr>
              <a:t>only one table</a:t>
            </a:r>
            <a:r>
              <a:rPr lang="en-US" altLang="en-US" sz="2000" dirty="0">
                <a:latin typeface="+mj-lt"/>
              </a:rPr>
              <a:t> is used in the query </a:t>
            </a:r>
            <a:r>
              <a:rPr lang="en-US" altLang="en-US" sz="2000" dirty="0" smtClean="0">
                <a:latin typeface="+mj-lt"/>
              </a:rPr>
              <a:t>and </a:t>
            </a:r>
            <a:r>
              <a:rPr lang="en-US" altLang="en-US" sz="2000" b="1" dirty="0" smtClean="0">
                <a:latin typeface="+mj-lt"/>
              </a:rPr>
              <a:t>column </a:t>
            </a:r>
            <a:r>
              <a:rPr lang="en-US" altLang="en-US" sz="2000" b="1" dirty="0">
                <a:latin typeface="+mj-lt"/>
              </a:rPr>
              <a:t>names are not ambiguous</a:t>
            </a:r>
            <a:r>
              <a:rPr lang="en-US" altLang="en-US" sz="2000" dirty="0">
                <a:latin typeface="+mj-lt"/>
              </a:rPr>
              <a:t>, you can omit </a:t>
            </a:r>
            <a:r>
              <a:rPr lang="en-US" altLang="en-US" sz="2000" b="1" dirty="0">
                <a:latin typeface="+mj-lt"/>
              </a:rPr>
              <a:t>E</a:t>
            </a:r>
            <a:r>
              <a:rPr lang="en-US" altLang="en-US" sz="2000" dirty="0">
                <a:latin typeface="+mj-lt"/>
              </a:rPr>
              <a:t>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If more than one table has the </a:t>
            </a:r>
            <a:r>
              <a:rPr lang="en-US" sz="2000" b="1" dirty="0">
                <a:latin typeface="+mj-lt"/>
              </a:rPr>
              <a:t>same column name</a:t>
            </a:r>
            <a:r>
              <a:rPr lang="en-US" sz="2000" dirty="0">
                <a:latin typeface="+mj-lt"/>
              </a:rPr>
              <a:t>, you </a:t>
            </a:r>
            <a:r>
              <a:rPr lang="en-US" sz="2000" b="1" dirty="0">
                <a:latin typeface="+mj-lt"/>
              </a:rPr>
              <a:t>must</a:t>
            </a:r>
            <a:r>
              <a:rPr lang="en-US" sz="2000" dirty="0">
                <a:latin typeface="+mj-lt"/>
              </a:rPr>
              <a:t> qualify the column.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394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6C2F6-301A-8076-5849-45D27908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2AB11C1-AE2D-6D60-838B-800246A1BA4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AE8838-52FB-C09D-09E9-47938233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Union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0868A-1657-9360-5405-196C4004C28D}"/>
              </a:ext>
            </a:extLst>
          </p:cNvPr>
          <p:cNvSpPr txBox="1"/>
          <p:nvPr/>
        </p:nvSpPr>
        <p:spPr>
          <a:xfrm>
            <a:off x="990600" y="1123950"/>
            <a:ext cx="7279888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tabLst>
                <a:tab pos="2965450" algn="ctr"/>
              </a:tabLst>
            </a:pPr>
            <a:r>
              <a:rPr lang="en-US" altLang="en-US" sz="1700" dirty="0"/>
              <a:t>The union operation </a:t>
            </a:r>
            <a:r>
              <a:rPr lang="en-US" altLang="en-US" sz="1700" dirty="0">
                <a:sym typeface="Symbol" panose="05050102010706020507" pitchFamily="18" charset="2"/>
              </a:rPr>
              <a:t>allows us to combine two relations </a:t>
            </a:r>
            <a:endParaRPr lang="en-US" altLang="en-US" sz="1700" dirty="0"/>
          </a:p>
          <a:p>
            <a:pPr marL="285750" indent="-285750">
              <a:buFont typeface="Wingdings" panose="05000000000000000000" pitchFamily="2" charset="2"/>
              <a:buChar char="q"/>
              <a:tabLst>
                <a:tab pos="2965450" algn="ctr"/>
              </a:tabLst>
            </a:pPr>
            <a:r>
              <a:rPr lang="en-US" altLang="en-US" sz="1700" dirty="0"/>
              <a:t>Notation: 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For </a:t>
            </a:r>
            <a:r>
              <a:rPr lang="en-US" altLang="en-US" sz="1700" i="1" dirty="0"/>
              <a:t>r</a:t>
            </a:r>
            <a:r>
              <a:rPr lang="en-US" altLang="en-US" sz="1700" dirty="0"/>
              <a:t> 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to be valid.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dirty="0" smtClean="0">
                <a:sym typeface="Symbol" panose="05050102010706020507" pitchFamily="18" charset="2"/>
              </a:rPr>
              <a:t>1. The </a:t>
            </a:r>
            <a:r>
              <a:rPr lang="en-US" altLang="en-US" sz="1700" dirty="0">
                <a:sym typeface="Symbol" panose="05050102010706020507" pitchFamily="18" charset="2"/>
              </a:rPr>
              <a:t>relations r and s must be of the same arity. That is, they must have the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same number of attributes.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2. The domains of the </a:t>
            </a:r>
            <a:r>
              <a:rPr lang="en-US" altLang="en-US" sz="1700" dirty="0" err="1">
                <a:sym typeface="Symbol" panose="05050102010706020507" pitchFamily="18" charset="2"/>
              </a:rPr>
              <a:t>i</a:t>
            </a:r>
            <a:r>
              <a:rPr lang="en-US" altLang="en-US" sz="1100" dirty="0" err="1">
                <a:sym typeface="Symbol" panose="05050102010706020507" pitchFamily="18" charset="2"/>
              </a:rPr>
              <a:t>th</a:t>
            </a:r>
            <a:r>
              <a:rPr lang="en-US" altLang="en-US" sz="1700" dirty="0">
                <a:sym typeface="Symbol" panose="05050102010706020507" pitchFamily="18" charset="2"/>
              </a:rPr>
              <a:t> attribute of r and the </a:t>
            </a:r>
            <a:r>
              <a:rPr lang="en-US" altLang="en-US" sz="1700" dirty="0" err="1">
                <a:sym typeface="Symbol" panose="05050102010706020507" pitchFamily="18" charset="2"/>
              </a:rPr>
              <a:t>i</a:t>
            </a:r>
            <a:r>
              <a:rPr lang="en-US" altLang="en-US" sz="1100" dirty="0" err="1">
                <a:sym typeface="Symbol" panose="05050102010706020507" pitchFamily="18" charset="2"/>
              </a:rPr>
              <a:t>th</a:t>
            </a:r>
            <a:r>
              <a:rPr lang="en-US" altLang="en-US" sz="1700" dirty="0">
                <a:sym typeface="Symbol" panose="05050102010706020507" pitchFamily="18" charset="2"/>
              </a:rPr>
              <a:t> attribute of s must be the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same, for all </a:t>
            </a:r>
            <a:r>
              <a:rPr lang="en-US" altLang="en-US" sz="1700" dirty="0" err="1">
                <a:sym typeface="Symbol" panose="05050102010706020507" pitchFamily="18" charset="2"/>
              </a:rPr>
              <a:t>i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 that r and s can be either database relations or temporary relations that </a:t>
            </a:r>
            <a:r>
              <a:rPr lang="en-US" altLang="en-US" sz="1700" dirty="0" smtClean="0">
                <a:sym typeface="Symbol" panose="05050102010706020507" pitchFamily="18" charset="2"/>
              </a:rPr>
              <a:t>are the </a:t>
            </a:r>
            <a:r>
              <a:rPr lang="en-US" altLang="en-US" sz="1700" dirty="0">
                <a:sym typeface="Symbol" panose="05050102010706020507" pitchFamily="18" charset="2"/>
              </a:rPr>
              <a:t>result of relational-algebra expressions. </a:t>
            </a:r>
            <a:endParaRPr lang="en-US" altLang="en-US" sz="1700" dirty="0" smtClean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dirty="0" smtClean="0"/>
              <a:t>Example</a:t>
            </a:r>
            <a:r>
              <a:rPr lang="en-US" altLang="en-US" sz="1700" dirty="0"/>
              <a:t>: to find all courses taught in the </a:t>
            </a:r>
            <a:r>
              <a:rPr lang="en-US" altLang="en-US" sz="1700"/>
              <a:t>Fall </a:t>
            </a:r>
            <a:r>
              <a:rPr lang="en-US" altLang="en-US" sz="1700" smtClean="0"/>
              <a:t>2009 </a:t>
            </a:r>
            <a:r>
              <a:rPr lang="en-US" altLang="en-US" sz="1700" dirty="0"/>
              <a:t>semester, or in the </a:t>
            </a:r>
            <a:r>
              <a:rPr lang="en-US" altLang="en-US" sz="1700"/>
              <a:t>Spring </a:t>
            </a:r>
            <a:r>
              <a:rPr lang="en-US" altLang="en-US" sz="1700" smtClean="0"/>
              <a:t>2010 </a:t>
            </a:r>
            <a:r>
              <a:rPr lang="en-US" altLang="en-US" sz="1700" dirty="0"/>
              <a:t>semester, or in both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 smtClean="0">
                <a:sym typeface="Symbol" panose="05050102010706020507" pitchFamily="18" charset="2"/>
              </a:rPr>
              <a:t>year=2009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 smtClean="0">
                <a:sym typeface="Symbol" panose="05050102010706020507" pitchFamily="18" charset="2"/>
              </a:rPr>
              <a:t>year=2010</a:t>
            </a:r>
            <a:r>
              <a:rPr lang="en-US" altLang="ja-JP" sz="1700" dirty="0" smtClean="0">
                <a:sym typeface="Symbol" panose="05050102010706020507" pitchFamily="18" charset="2"/>
              </a:rPr>
              <a:t>(</a:t>
            </a:r>
            <a:r>
              <a:rPr lang="en-US" altLang="ja-JP" sz="1700" i="1" dirty="0" smtClean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06673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6C2F6-301A-8076-5849-45D27908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2AB11C1-AE2D-6D60-838B-800246A1BA4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AE8838-52FB-C09D-09E9-47938233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Union Operation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59" y="1055805"/>
            <a:ext cx="6392167" cy="34675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41675" r="38160" b="17472"/>
          <a:stretch/>
        </p:blipFill>
        <p:spPr>
          <a:xfrm>
            <a:off x="7315200" y="2571750"/>
            <a:ext cx="1143000" cy="19811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0424" t="88090"/>
          <a:stretch/>
        </p:blipFill>
        <p:spPr>
          <a:xfrm>
            <a:off x="4633517" y="4578568"/>
            <a:ext cx="4510483" cy="28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1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5CF13-699C-32DA-F5FE-1377DCA1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1FF0A08-0DE5-B306-2CC4-03B1FEA666B2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A84202-87CF-9BD7-1379-CA9CA9E3A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Union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3504F-ECE0-1077-78E0-C303C6AA2E8E}"/>
              </a:ext>
            </a:extLst>
          </p:cNvPr>
          <p:cNvSpPr txBox="1"/>
          <p:nvPr/>
        </p:nvSpPr>
        <p:spPr>
          <a:xfrm>
            <a:off x="990600" y="1352550"/>
            <a:ext cx="7279888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9654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 smtClean="0">
                <a:sym typeface="Symbol" panose="05050102010706020507" pitchFamily="18" charset="2"/>
              </a:rPr>
              <a:t>year=2009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 smtClean="0">
                <a:sym typeface="Symbol" panose="05050102010706020507" pitchFamily="18" charset="2"/>
              </a:rPr>
              <a:t>year=2010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tabLst>
                <a:tab pos="2965450" algn="ctr"/>
              </a:tabLst>
            </a:pPr>
            <a:endParaRPr lang="en-US" altLang="ja-JP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In SQL,</a:t>
            </a:r>
          </a:p>
          <a:p>
            <a:pPr>
              <a:tabLst>
                <a:tab pos="2965450" algn="ctr"/>
              </a:tabLst>
            </a:pPr>
            <a:endParaRPr lang="en-US" altLang="ja-JP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SELECT </a:t>
            </a:r>
            <a:r>
              <a:rPr lang="en-US" altLang="ja-JP" sz="1700" dirty="0" err="1">
                <a:sym typeface="Symbol" panose="05050102010706020507" pitchFamily="18" charset="2"/>
              </a:rPr>
              <a:t>course_id</a:t>
            </a:r>
            <a:r>
              <a:rPr lang="en-US" altLang="ja-JP" sz="1700" dirty="0">
                <a:sym typeface="Symbol" panose="05050102010706020507" pitchFamily="18" charset="2"/>
              </a:rPr>
              <a:t> FROM section</a:t>
            </a: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WHERE semester=“Fall” AND </a:t>
            </a:r>
            <a:r>
              <a:rPr lang="en-US" altLang="ja-JP" sz="1700" dirty="0" smtClean="0">
                <a:sym typeface="Symbol" panose="05050102010706020507" pitchFamily="18" charset="2"/>
              </a:rPr>
              <a:t>year=2009</a:t>
            </a:r>
            <a:endParaRPr lang="en-US" altLang="ja-JP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UNION</a:t>
            </a: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SELECT </a:t>
            </a:r>
            <a:r>
              <a:rPr lang="en-US" altLang="ja-JP" sz="1700" dirty="0" err="1">
                <a:sym typeface="Symbol" panose="05050102010706020507" pitchFamily="18" charset="2"/>
              </a:rPr>
              <a:t>course_id</a:t>
            </a:r>
            <a:r>
              <a:rPr lang="en-US" altLang="ja-JP" sz="1700" dirty="0">
                <a:sym typeface="Symbol" panose="05050102010706020507" pitchFamily="18" charset="2"/>
              </a:rPr>
              <a:t> FROM section</a:t>
            </a: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WHERE semester=“Fall” AND </a:t>
            </a:r>
            <a:r>
              <a:rPr lang="en-US" altLang="ja-JP" sz="1700" dirty="0" smtClean="0">
                <a:sym typeface="Symbol" panose="05050102010706020507" pitchFamily="18" charset="2"/>
              </a:rPr>
              <a:t>year=2010</a:t>
            </a:r>
            <a:endParaRPr lang="en-US" altLang="ja-JP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endParaRPr lang="en-US" altLang="ja-JP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endParaRPr lang="en-US" altLang="ja-JP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endParaRPr lang="en-US" altLang="ja-JP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072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980D-2176-79FC-F431-C1AE2708D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42ED2F1-D1C9-715E-B72C-E98DF6C5A0CA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E49146-1B9E-E28F-9200-11263FD1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Union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5970-E79B-8792-AAF9-E3B0BA301EB5}"/>
              </a:ext>
            </a:extLst>
          </p:cNvPr>
          <p:cNvSpPr txBox="1"/>
          <p:nvPr/>
        </p:nvSpPr>
        <p:spPr>
          <a:xfrm>
            <a:off x="1066800" y="1200150"/>
            <a:ext cx="7279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965450" algn="ctr"/>
              </a:tabLst>
            </a:pPr>
            <a:r>
              <a:rPr lang="en-US" sz="1600" dirty="0"/>
              <a:t>Example: Consider </a:t>
            </a:r>
            <a:r>
              <a:rPr lang="en-US" sz="1600" dirty="0" smtClean="0"/>
              <a:t>the </a:t>
            </a:r>
            <a:r>
              <a:rPr lang="en-US" sz="1600" dirty="0"/>
              <a:t>following two relations:</a:t>
            </a:r>
            <a:endParaRPr lang="en-US" altLang="ja-JP" sz="1700" dirty="0">
              <a:sym typeface="Symbol" panose="05050102010706020507" pitchFamily="18" charset="2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B9111C-89D6-6CCF-4A10-E01596644AFE}"/>
              </a:ext>
            </a:extLst>
          </p:cNvPr>
          <p:cNvGrpSpPr/>
          <p:nvPr/>
        </p:nvGrpSpPr>
        <p:grpSpPr>
          <a:xfrm>
            <a:off x="1600200" y="1786684"/>
            <a:ext cx="914400" cy="1828800"/>
            <a:chOff x="3086100" y="1104900"/>
            <a:chExt cx="914400" cy="1828800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37976DBE-9E5C-226A-A753-D87D58D67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100" y="1104900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0D3243AC-A95A-D716-1DBB-D97170391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300" y="1104900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B</a:t>
              </a: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79414FE7-CB74-144E-5548-21F73FEDC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100" y="1638300"/>
              <a:ext cx="457200" cy="1295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</a:t>
              </a: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44173DBE-FD14-8CE4-7C35-21E136E41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300" y="1638300"/>
              <a:ext cx="457200" cy="1295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2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AACA030-EBB9-A436-6772-66DB019368CE}"/>
              </a:ext>
            </a:extLst>
          </p:cNvPr>
          <p:cNvSpPr txBox="1"/>
          <p:nvPr/>
        </p:nvSpPr>
        <p:spPr>
          <a:xfrm>
            <a:off x="1812073" y="362963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tx2"/>
                </a:solidFill>
              </a:rPr>
              <a:t>r</a:t>
            </a:r>
            <a:endParaRPr lang="en-US" sz="3200" dirty="0"/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F17AD946-0768-7D36-E590-15F52E237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132" y="1922279"/>
            <a:ext cx="457200" cy="45720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i="1" dirty="0">
                <a:solidFill>
                  <a:schemeClr val="tx2"/>
                </a:solidFill>
              </a:rPr>
              <a:t>D</a:t>
            </a:r>
            <a:endParaRPr lang="en-US" sz="1800" b="1" i="1" dirty="0">
              <a:solidFill>
                <a:schemeClr val="tx2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92E6C2C-6911-CB1A-2BCF-E29110E77DC2}"/>
              </a:ext>
            </a:extLst>
          </p:cNvPr>
          <p:cNvGrpSpPr/>
          <p:nvPr/>
        </p:nvGrpSpPr>
        <p:grpSpPr>
          <a:xfrm>
            <a:off x="2956932" y="1922279"/>
            <a:ext cx="914400" cy="2092077"/>
            <a:chOff x="5219700" y="1104900"/>
            <a:chExt cx="914400" cy="2092077"/>
          </a:xfrm>
        </p:grpSpPr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4AD81001-E5CF-252D-69A6-98DC1D0C9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1638300"/>
              <a:ext cx="457200" cy="914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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8BEC26E-9CE3-6537-6D38-6D04035CE9DA}"/>
                </a:ext>
              </a:extLst>
            </p:cNvPr>
            <p:cNvGrpSpPr/>
            <p:nvPr/>
          </p:nvGrpSpPr>
          <p:grpSpPr>
            <a:xfrm>
              <a:off x="5219700" y="1104900"/>
              <a:ext cx="914400" cy="2092077"/>
              <a:chOff x="5219700" y="1104900"/>
              <a:chExt cx="914400" cy="2092077"/>
            </a:xfrm>
          </p:grpSpPr>
          <p:sp>
            <p:nvSpPr>
              <p:cNvPr id="44" name="Rectangle 9">
                <a:extLst>
                  <a:ext uri="{FF2B5EF4-FFF2-40B4-BE49-F238E27FC236}">
                    <a16:creationId xmlns:a16="http://schemas.microsoft.com/office/drawing/2014/main" id="{8D8EE0B4-BBE1-10A3-F878-FF3CCD88E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9700" y="1104900"/>
                <a:ext cx="457200" cy="4572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 i="1" dirty="0">
                    <a:solidFill>
                      <a:schemeClr val="tx2"/>
                    </a:solidFill>
                  </a:rPr>
                  <a:t>C</a:t>
                </a:r>
                <a:endParaRPr lang="en-US" sz="1800" b="1" i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5" name="Rectangle 12">
                <a:extLst>
                  <a:ext uri="{FF2B5EF4-FFF2-40B4-BE49-F238E27FC236}">
                    <a16:creationId xmlns:a16="http://schemas.microsoft.com/office/drawing/2014/main" id="{E0B83EBF-5B05-E029-B6F5-2ADD34EC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6900" y="1638300"/>
                <a:ext cx="457200" cy="9144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i="1" dirty="0">
                    <a:solidFill>
                      <a:schemeClr val="tx2"/>
                    </a:solidFill>
                    <a:sym typeface="Symbol" pitchFamily="18" charset="2"/>
                  </a:rPr>
                  <a:t>2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800" b="1" i="1" dirty="0">
                    <a:solidFill>
                      <a:schemeClr val="tx2"/>
                    </a:solidFill>
                    <a:sym typeface="Symbol" pitchFamily="18" charset="2"/>
                  </a:rPr>
                  <a:t>3</a:t>
                </a:r>
              </a:p>
            </p:txBody>
          </p:sp>
          <p:sp>
            <p:nvSpPr>
              <p:cNvPr id="46" name="Text Box 14">
                <a:extLst>
                  <a:ext uri="{FF2B5EF4-FFF2-40B4-BE49-F238E27FC236}">
                    <a16:creationId xmlns:a16="http://schemas.microsoft.com/office/drawing/2014/main" id="{23AF342A-7764-5899-5133-7D8CCCAA2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1697" y="2427536"/>
                <a:ext cx="445956" cy="769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4400" b="1" i="1" dirty="0">
                    <a:solidFill>
                      <a:schemeClr val="tx2"/>
                    </a:solidFill>
                  </a:rPr>
                  <a:t>s</a:t>
                </a:r>
              </a:p>
            </p:txBody>
          </p:sp>
        </p:grpSp>
      </p:grpSp>
      <p:sp>
        <p:nvSpPr>
          <p:cNvPr id="47" name="Rectangle 4">
            <a:extLst>
              <a:ext uri="{FF2B5EF4-FFF2-40B4-BE49-F238E27FC236}">
                <a16:creationId xmlns:a16="http://schemas.microsoft.com/office/drawing/2014/main" id="{AF5A54B6-FA91-B14F-AB51-D33BB8918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272" y="2405062"/>
            <a:ext cx="70294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4400" b="1" dirty="0">
                <a:solidFill>
                  <a:schemeClr val="tx2"/>
                </a:solidFill>
              </a:rPr>
              <a:t>r </a:t>
            </a:r>
            <a:r>
              <a:rPr kumimoji="1" lang="en-US" sz="4400" b="1" dirty="0">
                <a:solidFill>
                  <a:schemeClr val="tx2"/>
                </a:solidFill>
                <a:sym typeface="Symbol" pitchFamily="18" charset="2"/>
              </a:rPr>
              <a:t> s</a:t>
            </a:r>
            <a:r>
              <a:rPr kumimoji="1" lang="en-US" sz="44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48" name="Rectangle 15">
            <a:extLst>
              <a:ext uri="{FF2B5EF4-FFF2-40B4-BE49-F238E27FC236}">
                <a16:creationId xmlns:a16="http://schemas.microsoft.com/office/drawing/2014/main" id="{4E1E3248-965C-CB83-CD20-171977895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901" y="1802607"/>
            <a:ext cx="457200" cy="45720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b="1" i="1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9" name="Rectangle 16">
            <a:extLst>
              <a:ext uri="{FF2B5EF4-FFF2-40B4-BE49-F238E27FC236}">
                <a16:creationId xmlns:a16="http://schemas.microsoft.com/office/drawing/2014/main" id="{3270744A-6E41-A5CD-CD0D-886B8AA4A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101" y="1802607"/>
            <a:ext cx="457200" cy="45720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b="1" i="1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50" name="Rectangle 17">
            <a:extLst>
              <a:ext uri="{FF2B5EF4-FFF2-40B4-BE49-F238E27FC236}">
                <a16:creationId xmlns:a16="http://schemas.microsoft.com/office/drawing/2014/main" id="{1EFC9C55-BEAC-67B8-2A7B-89CB7536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901" y="2336007"/>
            <a:ext cx="457200" cy="167640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sz="1800" b="1" i="1">
                <a:solidFill>
                  <a:schemeClr val="tx2"/>
                </a:solidFill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sz="1800" b="1" i="1">
                <a:solidFill>
                  <a:schemeClr val="tx2"/>
                </a:solidFill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sz="1800" b="1" i="1">
                <a:solidFill>
                  <a:schemeClr val="tx2"/>
                </a:solidFill>
                <a:sym typeface="Symbol" pitchFamily="18" charset="2"/>
              </a:rPr>
              <a:t></a:t>
            </a:r>
          </a:p>
          <a:p>
            <a:pPr algn="ctr">
              <a:lnSpc>
                <a:spcPct val="150000"/>
              </a:lnSpc>
            </a:pPr>
            <a:r>
              <a:rPr lang="en-US" sz="1800" b="1" i="1">
                <a:solidFill>
                  <a:schemeClr val="tx2"/>
                </a:solidFill>
                <a:sym typeface="Symbol" pitchFamily="18" charset="2"/>
              </a:rPr>
              <a:t></a:t>
            </a:r>
          </a:p>
        </p:txBody>
      </p:sp>
      <p:sp>
        <p:nvSpPr>
          <p:cNvPr id="51" name="Rectangle 18">
            <a:extLst>
              <a:ext uri="{FF2B5EF4-FFF2-40B4-BE49-F238E27FC236}">
                <a16:creationId xmlns:a16="http://schemas.microsoft.com/office/drawing/2014/main" id="{853F8EEB-681F-1D9E-A82B-270E82DA2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101" y="2336007"/>
            <a:ext cx="457200" cy="167640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sz="1800" b="1" i="1">
                <a:solidFill>
                  <a:schemeClr val="tx2"/>
                </a:solidFill>
                <a:sym typeface="Symbol" pitchFamily="18" charset="2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sz="1800" b="1" i="1">
                <a:solidFill>
                  <a:schemeClr val="tx2"/>
                </a:solidFill>
                <a:sym typeface="Symbol" pitchFamily="18" charset="2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 sz="1800" b="1" i="1">
                <a:solidFill>
                  <a:schemeClr val="tx2"/>
                </a:solidFill>
                <a:sym typeface="Symbol" pitchFamily="18" charset="2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sz="1800" b="1" i="1">
                <a:solidFill>
                  <a:schemeClr val="tx2"/>
                </a:solidFill>
                <a:sym typeface="Symbol" pitchFamily="18" charset="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5154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3E2C7-0571-7A16-6631-BD25B7E3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34286ED-62AB-D6AE-607B-C7980598C373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40C1A8-B4CA-8291-3D8E-7E053DC5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Intersection Operation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F8A92-801A-F7BD-84DF-BD50F1E78CA9}"/>
              </a:ext>
            </a:extLst>
          </p:cNvPr>
          <p:cNvSpPr txBox="1"/>
          <p:nvPr/>
        </p:nvSpPr>
        <p:spPr>
          <a:xfrm>
            <a:off x="1066800" y="1276350"/>
            <a:ext cx="60960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700" dirty="0"/>
              <a:t>The  set-intersection  operation </a:t>
            </a:r>
            <a:r>
              <a:rPr lang="en-US" altLang="en-US" sz="1700" dirty="0">
                <a:sym typeface="Symbol" panose="05050102010706020507" pitchFamily="18" charset="2"/>
              </a:rPr>
              <a:t> allows us to find tuples that are in both the input relations.</a:t>
            </a:r>
            <a:endParaRPr lang="en-US" altLang="en-US" sz="17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700" dirty="0"/>
              <a:t>Notation: </a:t>
            </a:r>
            <a:r>
              <a:rPr lang="en-US" altLang="en-US" sz="1700" i="1" dirty="0"/>
              <a:t>r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s</a:t>
            </a:r>
            <a:endParaRPr lang="en-US" altLang="en-US" sz="1700" dirty="0"/>
          </a:p>
          <a:p>
            <a:r>
              <a:rPr lang="en-US" altLang="en-US" sz="1700" dirty="0"/>
              <a:t>Assume: 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, </a:t>
            </a:r>
            <a:r>
              <a:rPr lang="en-US" altLang="en-US" sz="1700" i="1" dirty="0"/>
              <a:t>s</a:t>
            </a:r>
            <a:r>
              <a:rPr lang="en-US" altLang="en-US" sz="1700" dirty="0"/>
              <a:t> have the </a:t>
            </a:r>
            <a:r>
              <a:rPr lang="en-US" altLang="en-US" sz="1700" i="1" dirty="0"/>
              <a:t>same arity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attributes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are compatible</a:t>
            </a:r>
          </a:p>
          <a:p>
            <a:r>
              <a:rPr lang="en-US" altLang="en-US" sz="1700" dirty="0"/>
              <a:t>Example: Find the set of all courses taught in both the Fall </a:t>
            </a:r>
            <a:r>
              <a:rPr lang="en-US" altLang="en-US" sz="1700" dirty="0" smtClean="0"/>
              <a:t>2009 and </a:t>
            </a:r>
            <a:r>
              <a:rPr lang="en-US" altLang="en-US" sz="1700" dirty="0"/>
              <a:t>the Spring </a:t>
            </a:r>
            <a:r>
              <a:rPr lang="en-US" altLang="en-US" sz="1700" dirty="0" smtClean="0"/>
              <a:t>2010 </a:t>
            </a:r>
            <a:r>
              <a:rPr lang="en-US" altLang="en-US" sz="1700" dirty="0"/>
              <a:t>semesters.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 smtClean="0">
                <a:sym typeface="Symbol" panose="05050102010706020507" pitchFamily="18" charset="2"/>
              </a:rPr>
              <a:t>year=2009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ja-JP" sz="1700" dirty="0">
                <a:sym typeface="Symbol" panose="05050102010706020507" pitchFamily="18" charset="2"/>
              </a:rPr>
              <a:t/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 smtClean="0">
                <a:sym typeface="Symbol" panose="05050102010706020507" pitchFamily="18" charset="2"/>
              </a:rPr>
              <a:t>year=2010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99426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27ED-8A6D-8640-314F-CEA98D7A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8BDB09B-D010-020E-ED94-6F2AD9C82171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1DE781-7A6D-3DB3-294C-66C5B840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Intersection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76883-5C34-0F9E-D28F-83F7A6C2169C}"/>
              </a:ext>
            </a:extLst>
          </p:cNvPr>
          <p:cNvSpPr txBox="1"/>
          <p:nvPr/>
        </p:nvSpPr>
        <p:spPr>
          <a:xfrm>
            <a:off x="1066800" y="1200150"/>
            <a:ext cx="7279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965450" algn="ctr"/>
              </a:tabLst>
            </a:pPr>
            <a:r>
              <a:rPr lang="en-US" sz="1600" dirty="0"/>
              <a:t>Example: </a:t>
            </a:r>
            <a:r>
              <a:rPr lang="en-US" sz="1600" dirty="0" smtClean="0"/>
              <a:t>Consider </a:t>
            </a:r>
            <a:r>
              <a:rPr lang="en-US" sz="1600" dirty="0"/>
              <a:t>the following two relations:</a:t>
            </a:r>
            <a:endParaRPr lang="en-US" altLang="ja-JP" sz="1700" dirty="0">
              <a:sym typeface="Symbol" panose="05050102010706020507" pitchFamily="18" charset="2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6831E76-009D-79A3-7ED6-82E0ED478492}"/>
              </a:ext>
            </a:extLst>
          </p:cNvPr>
          <p:cNvGrpSpPr/>
          <p:nvPr/>
        </p:nvGrpSpPr>
        <p:grpSpPr>
          <a:xfrm>
            <a:off x="1600200" y="1786684"/>
            <a:ext cx="914400" cy="1828800"/>
            <a:chOff x="3086100" y="1104900"/>
            <a:chExt cx="914400" cy="1828800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1DDC3CC0-FF1D-9DF7-F2C2-03BC23A91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100" y="1104900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46FB1594-CDF9-8A8C-9253-1B705A945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300" y="1104900"/>
              <a:ext cx="457200" cy="4572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b="1" i="1">
                  <a:solidFill>
                    <a:schemeClr val="tx2"/>
                  </a:solidFill>
                </a:rPr>
                <a:t>B</a:t>
              </a: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534CABAD-8CE2-76C4-4AF3-70965748B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100" y="1638300"/>
              <a:ext cx="457200" cy="1295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</a:t>
              </a: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A74D3DD4-1285-355D-B284-F498FAAE6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300" y="1638300"/>
              <a:ext cx="457200" cy="1295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2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>
                  <a:solidFill>
                    <a:schemeClr val="tx2"/>
                  </a:solidFill>
                  <a:sym typeface="Symbol" pitchFamily="18" charset="2"/>
                </a:rPr>
                <a:t>1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8A7CBB6-823F-165A-7659-33F4C8D5379F}"/>
              </a:ext>
            </a:extLst>
          </p:cNvPr>
          <p:cNvSpPr txBox="1"/>
          <p:nvPr/>
        </p:nvSpPr>
        <p:spPr>
          <a:xfrm>
            <a:off x="1812073" y="362963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tx2"/>
                </a:solidFill>
              </a:rPr>
              <a:t>r</a:t>
            </a:r>
            <a:endParaRPr lang="en-US" sz="3200" dirty="0"/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CCFDB705-22CF-3D52-9CC6-1BB879FFB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132" y="1922279"/>
            <a:ext cx="457200" cy="45720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i="1" dirty="0">
                <a:solidFill>
                  <a:schemeClr val="tx2"/>
                </a:solidFill>
              </a:rPr>
              <a:t>D</a:t>
            </a:r>
            <a:endParaRPr lang="en-US" sz="1800" b="1" i="1" dirty="0">
              <a:solidFill>
                <a:schemeClr val="tx2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F2B06F-6263-2C09-544F-4AB4AFB56E6A}"/>
              </a:ext>
            </a:extLst>
          </p:cNvPr>
          <p:cNvGrpSpPr/>
          <p:nvPr/>
        </p:nvGrpSpPr>
        <p:grpSpPr>
          <a:xfrm>
            <a:off x="2956932" y="1922279"/>
            <a:ext cx="914400" cy="2092077"/>
            <a:chOff x="5219700" y="1104900"/>
            <a:chExt cx="914400" cy="2092077"/>
          </a:xfrm>
        </p:grpSpPr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54B4F3D1-88F8-705F-79C8-364FC11FA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1638300"/>
              <a:ext cx="457200" cy="914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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 i="1" dirty="0">
                  <a:solidFill>
                    <a:schemeClr val="tx2"/>
                  </a:solidFill>
                  <a:sym typeface="Symbol" pitchFamily="18" charset="2"/>
                </a:rPr>
                <a:t>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76485E4-4C10-654F-FC67-59E5556348B5}"/>
                </a:ext>
              </a:extLst>
            </p:cNvPr>
            <p:cNvGrpSpPr/>
            <p:nvPr/>
          </p:nvGrpSpPr>
          <p:grpSpPr>
            <a:xfrm>
              <a:off x="5219700" y="1104900"/>
              <a:ext cx="914400" cy="2092077"/>
              <a:chOff x="5219700" y="1104900"/>
              <a:chExt cx="914400" cy="2092077"/>
            </a:xfrm>
          </p:grpSpPr>
          <p:sp>
            <p:nvSpPr>
              <p:cNvPr id="44" name="Rectangle 9">
                <a:extLst>
                  <a:ext uri="{FF2B5EF4-FFF2-40B4-BE49-F238E27FC236}">
                    <a16:creationId xmlns:a16="http://schemas.microsoft.com/office/drawing/2014/main" id="{482DE4EB-B0EE-B4DB-677C-CEDEBB2A0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9700" y="1104900"/>
                <a:ext cx="457200" cy="4572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 i="1" dirty="0">
                    <a:solidFill>
                      <a:schemeClr val="tx2"/>
                    </a:solidFill>
                  </a:rPr>
                  <a:t>C</a:t>
                </a:r>
                <a:endParaRPr lang="en-US" sz="1800" b="1" i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5" name="Rectangle 12">
                <a:extLst>
                  <a:ext uri="{FF2B5EF4-FFF2-40B4-BE49-F238E27FC236}">
                    <a16:creationId xmlns:a16="http://schemas.microsoft.com/office/drawing/2014/main" id="{1575135A-8E51-30C0-6122-A0D3A70C1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6900" y="1638300"/>
                <a:ext cx="457200" cy="914400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B05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i="1" dirty="0">
                    <a:solidFill>
                      <a:schemeClr val="tx2"/>
                    </a:solidFill>
                    <a:sym typeface="Symbol" pitchFamily="18" charset="2"/>
                  </a:rPr>
                  <a:t>2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800" b="1" i="1" dirty="0">
                    <a:solidFill>
                      <a:schemeClr val="tx2"/>
                    </a:solidFill>
                    <a:sym typeface="Symbol" pitchFamily="18" charset="2"/>
                  </a:rPr>
                  <a:t>3</a:t>
                </a:r>
              </a:p>
            </p:txBody>
          </p:sp>
          <p:sp>
            <p:nvSpPr>
              <p:cNvPr id="46" name="Text Box 14">
                <a:extLst>
                  <a:ext uri="{FF2B5EF4-FFF2-40B4-BE49-F238E27FC236}">
                    <a16:creationId xmlns:a16="http://schemas.microsoft.com/office/drawing/2014/main" id="{7A1E0FF5-FAED-30B1-BCAC-B209FD0989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1697" y="2427536"/>
                <a:ext cx="445956" cy="769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4400" b="1" i="1" dirty="0">
                    <a:solidFill>
                      <a:schemeClr val="tx2"/>
                    </a:solidFill>
                  </a:rPr>
                  <a:t>s</a:t>
                </a:r>
              </a:p>
            </p:txBody>
          </p:sp>
        </p:grpSp>
      </p:grpSp>
      <p:sp>
        <p:nvSpPr>
          <p:cNvPr id="48" name="Rectangle 15">
            <a:extLst>
              <a:ext uri="{FF2B5EF4-FFF2-40B4-BE49-F238E27FC236}">
                <a16:creationId xmlns:a16="http://schemas.microsoft.com/office/drawing/2014/main" id="{5CD30840-D202-7305-BE26-1B6E5C03A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9690" y="2114550"/>
            <a:ext cx="457200" cy="45720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b="1" i="1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9" name="Rectangle 16">
            <a:extLst>
              <a:ext uri="{FF2B5EF4-FFF2-40B4-BE49-F238E27FC236}">
                <a16:creationId xmlns:a16="http://schemas.microsoft.com/office/drawing/2014/main" id="{FB32B32C-0D43-C2B7-ECAA-F04453B6B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890" y="2114550"/>
            <a:ext cx="457200" cy="45720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b="1" i="1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50" name="Rectangle 17">
            <a:extLst>
              <a:ext uri="{FF2B5EF4-FFF2-40B4-BE49-F238E27FC236}">
                <a16:creationId xmlns:a16="http://schemas.microsoft.com/office/drawing/2014/main" id="{73D31B66-F126-EDE1-210F-61F250670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9690" y="2647950"/>
            <a:ext cx="457200" cy="547687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endParaRPr lang="en-US" sz="1800" b="1" i="1" dirty="0">
              <a:solidFill>
                <a:schemeClr val="tx2"/>
              </a:solidFill>
              <a:sym typeface="Symbol" pitchFamily="18" charset="2"/>
            </a:endParaRPr>
          </a:p>
          <a:p>
            <a:pPr algn="ctr">
              <a:lnSpc>
                <a:spcPct val="150000"/>
              </a:lnSpc>
            </a:pPr>
            <a:r>
              <a:rPr lang="en-US" sz="1800" b="1" i="1" dirty="0">
                <a:solidFill>
                  <a:schemeClr val="tx2"/>
                </a:solidFill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endParaRPr lang="en-US" sz="1800" b="1" i="1" dirty="0">
              <a:solidFill>
                <a:schemeClr val="tx2"/>
              </a:solidFill>
              <a:sym typeface="Symbol" pitchFamily="18" charset="2"/>
            </a:endParaRPr>
          </a:p>
        </p:txBody>
      </p:sp>
      <p:sp>
        <p:nvSpPr>
          <p:cNvPr id="51" name="Rectangle 18">
            <a:extLst>
              <a:ext uri="{FF2B5EF4-FFF2-40B4-BE49-F238E27FC236}">
                <a16:creationId xmlns:a16="http://schemas.microsoft.com/office/drawing/2014/main" id="{2A7009AC-6917-8FF0-1BF8-3D6661938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890" y="2647950"/>
            <a:ext cx="457200" cy="547687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b="1" i="1" dirty="0">
                <a:solidFill>
                  <a:schemeClr val="tx2"/>
                </a:solidFill>
                <a:sym typeface="Symbol" pitchFamily="18" charset="2"/>
              </a:rPr>
              <a:t>2</a:t>
            </a:r>
            <a:endParaRPr lang="en-US" sz="1800" b="1" i="1" dirty="0">
              <a:solidFill>
                <a:schemeClr val="tx2"/>
              </a:solidFill>
              <a:sym typeface="Symbol" pitchFamily="18" charset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52258" y="4285744"/>
            <a:ext cx="34415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i="1" dirty="0" smtClean="0"/>
              <a:t>We also can write: r</a:t>
            </a:r>
            <a:r>
              <a:rPr lang="en-US" altLang="en-US" dirty="0" smtClean="0"/>
              <a:t>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 smtClean="0"/>
              <a:t>s= r-(r-s)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064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A9F45-A416-E203-D864-6094713A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0580E5E-0044-D4D3-6CE6-D31808EB2F13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EBF620-139A-F925-381C-ED4BE783D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 smtClean="0"/>
              <a:t>Set Difference </a:t>
            </a:r>
            <a:r>
              <a:rPr lang="en-US" dirty="0"/>
              <a:t>Operation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94FC36-BF93-560D-46A5-10F0B855AE26}"/>
              </a:ext>
            </a:extLst>
          </p:cNvPr>
          <p:cNvSpPr txBox="1"/>
          <p:nvPr/>
        </p:nvSpPr>
        <p:spPr>
          <a:xfrm>
            <a:off x="1066800" y="1276350"/>
            <a:ext cx="7315200" cy="328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ct val="60000"/>
              </a:spcBef>
              <a:buFont typeface="Wingdings" panose="05000000000000000000" pitchFamily="2" charset="2"/>
              <a:buChar char="q"/>
            </a:pPr>
            <a:r>
              <a:rPr lang="en-US" altLang="en-US" sz="1700" dirty="0"/>
              <a:t>The set-difference operation allows us to find tuples that are in one relation but are not in another. </a:t>
            </a:r>
          </a:p>
          <a:p>
            <a:pPr marL="285750" indent="-285750">
              <a:spcBef>
                <a:spcPct val="60000"/>
              </a:spcBef>
              <a:buFont typeface="Wingdings" panose="05000000000000000000" pitchFamily="2" charset="2"/>
              <a:buChar char="q"/>
            </a:pPr>
            <a:r>
              <a:rPr lang="en-US" altLang="en-US" sz="1700" dirty="0"/>
              <a:t>Notation </a:t>
            </a:r>
            <a:r>
              <a:rPr lang="en-US" altLang="en-US" sz="1700" i="1" dirty="0"/>
              <a:t>r – 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700" dirty="0"/>
              <a:t>Set differences must be taken between </a:t>
            </a:r>
            <a:r>
              <a:rPr lang="en-US" altLang="en-US" sz="1700" b="1" dirty="0">
                <a:solidFill>
                  <a:srgbClr val="002060"/>
                </a:solidFill>
              </a:rPr>
              <a:t>compatible</a:t>
            </a:r>
            <a:r>
              <a:rPr lang="en-US" altLang="en-US" sz="1700" dirty="0"/>
              <a:t> relations.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must have the </a:t>
            </a:r>
            <a:r>
              <a:rPr lang="en-US" altLang="en-US" sz="1700" dirty="0">
                <a:solidFill>
                  <a:srgbClr val="002060"/>
                </a:solidFill>
              </a:rPr>
              <a:t>same</a:t>
            </a:r>
            <a:r>
              <a:rPr lang="en-US" altLang="en-US" sz="1700" dirty="0"/>
              <a:t> arity</a:t>
            </a:r>
          </a:p>
          <a:p>
            <a:pPr lvl="1"/>
            <a:r>
              <a:rPr lang="en-US" altLang="en-US" sz="1700" dirty="0"/>
              <a:t>attribute domains of </a:t>
            </a:r>
            <a:r>
              <a:rPr lang="en-US" altLang="en-US" sz="1700" i="1" dirty="0"/>
              <a:t>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 </a:t>
            </a:r>
            <a:r>
              <a:rPr lang="en-US" altLang="en-US" sz="1700" dirty="0"/>
              <a:t>must be compatible</a:t>
            </a: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q"/>
            </a:pPr>
            <a:r>
              <a:rPr lang="en-US" altLang="en-US" sz="1700" dirty="0"/>
              <a:t>Example: to find all courses taught in the Fall </a:t>
            </a:r>
            <a:r>
              <a:rPr lang="en-US" altLang="en-US" sz="1700" dirty="0" smtClean="0"/>
              <a:t>2009 </a:t>
            </a:r>
            <a:r>
              <a:rPr lang="en-US" altLang="en-US" sz="1700" dirty="0"/>
              <a:t>semester, but not in the Spring </a:t>
            </a:r>
            <a:r>
              <a:rPr lang="en-US" altLang="en-US" sz="1700" dirty="0" smtClean="0"/>
              <a:t>2010 </a:t>
            </a:r>
            <a:r>
              <a:rPr lang="en-US" altLang="en-US" sz="1700" dirty="0"/>
              <a:t>semester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 smtClean="0">
                <a:sym typeface="Symbol" panose="05050102010706020507" pitchFamily="18" charset="2"/>
              </a:rPr>
              <a:t>year=2009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 smtClean="0">
                <a:sym typeface="Symbol" panose="05050102010706020507" pitchFamily="18" charset="2"/>
              </a:rPr>
              <a:t>year=2010</a:t>
            </a:r>
            <a:r>
              <a:rPr lang="en-US" altLang="ja-JP" sz="1700" dirty="0" smtClean="0">
                <a:sym typeface="Symbol" panose="05050102010706020507" pitchFamily="18" charset="2"/>
              </a:rPr>
              <a:t>(</a:t>
            </a:r>
            <a:r>
              <a:rPr lang="en-US" altLang="ja-JP" sz="1700" i="1" dirty="0" smtClean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05676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AA625-89EB-4317-9650-A225E46C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994BCA1-F3C1-AB60-4267-B3598DA7B26F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0EF985-18C1-0879-5A4E-416AAF3E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Difference Operation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4CA27-867F-58F5-47A3-3DA575D4E04D}"/>
              </a:ext>
            </a:extLst>
          </p:cNvPr>
          <p:cNvSpPr txBox="1"/>
          <p:nvPr/>
        </p:nvSpPr>
        <p:spPr>
          <a:xfrm>
            <a:off x="1066800" y="1276350"/>
            <a:ext cx="6096000" cy="276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60000"/>
              </a:spcBef>
            </a:pP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 smtClean="0">
                <a:sym typeface="Symbol" panose="05050102010706020507" pitchFamily="18" charset="2"/>
              </a:rPr>
              <a:t>year=2009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 smtClean="0">
                <a:sym typeface="Symbol" panose="05050102010706020507" pitchFamily="18" charset="2"/>
              </a:rPr>
              <a:t>year=2010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 smtClean="0">
                <a:sym typeface="Symbol" panose="05050102010706020507" pitchFamily="18" charset="2"/>
              </a:rPr>
              <a:t>))</a:t>
            </a:r>
          </a:p>
          <a:p>
            <a:pPr>
              <a:spcBef>
                <a:spcPct val="60000"/>
              </a:spcBef>
            </a:pPr>
            <a:endParaRPr lang="en-US" altLang="ja-JP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SELECT </a:t>
            </a:r>
            <a:r>
              <a:rPr lang="en-US" altLang="ja-JP" sz="1700" dirty="0" err="1">
                <a:sym typeface="Symbol" panose="05050102010706020507" pitchFamily="18" charset="2"/>
              </a:rPr>
              <a:t>course_id</a:t>
            </a:r>
            <a:r>
              <a:rPr lang="en-US" altLang="ja-JP" sz="1700" dirty="0">
                <a:sym typeface="Symbol" panose="05050102010706020507" pitchFamily="18" charset="2"/>
              </a:rPr>
              <a:t> FROM section</a:t>
            </a: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WHERE semester=“Fall” AND </a:t>
            </a:r>
            <a:r>
              <a:rPr lang="en-US" altLang="ja-JP" sz="1700" dirty="0" smtClean="0">
                <a:sym typeface="Symbol" panose="05050102010706020507" pitchFamily="18" charset="2"/>
              </a:rPr>
              <a:t>year=2009</a:t>
            </a:r>
            <a:endParaRPr lang="en-US" altLang="ja-JP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MINUS</a:t>
            </a: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SELECT </a:t>
            </a:r>
            <a:r>
              <a:rPr lang="en-US" altLang="ja-JP" sz="1700" dirty="0" err="1">
                <a:sym typeface="Symbol" panose="05050102010706020507" pitchFamily="18" charset="2"/>
              </a:rPr>
              <a:t>course_id</a:t>
            </a:r>
            <a:r>
              <a:rPr lang="en-US" altLang="ja-JP" sz="1700" dirty="0">
                <a:sym typeface="Symbol" panose="05050102010706020507" pitchFamily="18" charset="2"/>
              </a:rPr>
              <a:t> FROM section</a:t>
            </a:r>
          </a:p>
          <a:p>
            <a:pPr>
              <a:tabLst>
                <a:tab pos="2965450" algn="ctr"/>
              </a:tabLst>
            </a:pPr>
            <a:r>
              <a:rPr lang="en-US" altLang="ja-JP" sz="1700" dirty="0">
                <a:sym typeface="Symbol" panose="05050102010706020507" pitchFamily="18" charset="2"/>
              </a:rPr>
              <a:t>WHERE semester=“Fall” AND </a:t>
            </a:r>
            <a:r>
              <a:rPr lang="en-US" altLang="ja-JP" sz="1700" dirty="0" smtClean="0">
                <a:sym typeface="Symbol" panose="05050102010706020507" pitchFamily="18" charset="2"/>
              </a:rPr>
              <a:t>year=2010</a:t>
            </a:r>
            <a:endParaRPr lang="en-US" altLang="ja-JP" sz="1700" dirty="0">
              <a:sym typeface="Symbol" panose="05050102010706020507" pitchFamily="18" charset="2"/>
            </a:endParaRPr>
          </a:p>
          <a:p>
            <a:pPr>
              <a:spcBef>
                <a:spcPct val="60000"/>
              </a:spcBef>
            </a:pPr>
            <a:endParaRPr lang="en-US" altLang="ja-JP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3193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04B7-DE22-F381-AAAF-950836A6B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EE75634-4767-8169-4D45-A50222875F87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1C0F5E-F3A9-D2E5-22D6-03ED810E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8426234" cy="246221"/>
          </a:xfrm>
        </p:spPr>
        <p:txBody>
          <a:bodyPr/>
          <a:lstStyle/>
          <a:p>
            <a:r>
              <a:rPr lang="en-US" sz="1600" dirty="0"/>
              <a:t>Difference Operation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A57C178-714F-893A-F6D7-3851165781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277503"/>
            <a:ext cx="1600200" cy="443198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tx2"/>
                </a:solidFill>
              </a:rPr>
              <a:t>Relations </a:t>
            </a:r>
            <a:r>
              <a:rPr lang="en-US" sz="1600" b="1" i="1" dirty="0">
                <a:solidFill>
                  <a:schemeClr val="tx2"/>
                </a:solidFill>
              </a:rPr>
              <a:t>r</a:t>
            </a:r>
            <a:r>
              <a:rPr lang="en-US" sz="1600" b="1" dirty="0">
                <a:solidFill>
                  <a:schemeClr val="tx2"/>
                </a:solidFill>
              </a:rPr>
              <a:t>, </a:t>
            </a:r>
            <a:r>
              <a:rPr lang="en-US" sz="1600" b="1" i="1" dirty="0">
                <a:solidFill>
                  <a:schemeClr val="tx2"/>
                </a:solidFill>
              </a:rPr>
              <a:t>s</a:t>
            </a:r>
            <a:r>
              <a:rPr lang="en-US" sz="16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563A60D-2A30-FF4C-99F8-6A83E0C12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3810001"/>
            <a:ext cx="8577418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2000" b="1" i="1" dirty="0">
                <a:solidFill>
                  <a:schemeClr val="tx2"/>
                </a:solidFill>
              </a:rPr>
              <a:t>r  </a:t>
            </a:r>
            <a:r>
              <a:rPr kumimoji="1" lang="en-US" sz="2000" b="1" i="1" dirty="0">
                <a:solidFill>
                  <a:schemeClr val="tx2"/>
                </a:solidFill>
                <a:sym typeface="Symbol" pitchFamily="18" charset="2"/>
              </a:rPr>
              <a:t>– s</a:t>
            </a:r>
            <a:r>
              <a:rPr kumimoji="1" lang="en-US" sz="2000" b="1" i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2B75AD-B304-1026-33CB-99DA18B92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199" y="1168400"/>
            <a:ext cx="557881" cy="391886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 i="1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4AFA2B-668F-9BD5-99F5-E8F19635D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399" y="1168400"/>
            <a:ext cx="557881" cy="391886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 i="1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9498E-EF67-DF94-656F-F9D050C58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199" y="1701800"/>
            <a:ext cx="557881" cy="1110343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D8B315-550F-8317-45C1-37CE69805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399" y="1701800"/>
            <a:ext cx="557881" cy="1110343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29EA4F-E68C-9CEE-7A6C-C81114037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799" y="1168400"/>
            <a:ext cx="557881" cy="391886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 i="1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EF4987-BA63-9D90-8AB6-F73CBA4A0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999" y="1168400"/>
            <a:ext cx="557881" cy="391886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 i="1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AF2F1-F03E-92B7-A7C9-A5018CEFD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799" y="1701800"/>
            <a:ext cx="557881" cy="783771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A7C419-ECB8-44FC-FF4E-0CD763ECE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999" y="1701800"/>
            <a:ext cx="557881" cy="783771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3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86038EEE-0223-342E-41AF-B9FCAE0BF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3688" y="2956320"/>
            <a:ext cx="45809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i="1" dirty="0">
                <a:solidFill>
                  <a:schemeClr val="tx2"/>
                </a:solidFill>
              </a:rPr>
              <a:t>r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B64884A1-3A9E-FD2D-C8AD-5694FC154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9797" y="2651519"/>
            <a:ext cx="544161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i="1" dirty="0">
                <a:solidFill>
                  <a:schemeClr val="tx2"/>
                </a:solidFill>
              </a:rPr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60CA22-F845-015C-565E-40839A764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318" y="3573458"/>
            <a:ext cx="557881" cy="391886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 i="1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E0936D-CA58-DB1D-83B0-53F6D10D5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3518" y="3573458"/>
            <a:ext cx="557881" cy="391886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 i="1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F218C3-F38A-C6AE-4AF1-2DA4D59A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318" y="4106858"/>
            <a:ext cx="557881" cy="783771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</a:t>
            </a:r>
          </a:p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E5DA7-A05C-443A-B295-396D3DDED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3518" y="4106858"/>
            <a:ext cx="557881" cy="783771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  <a:sym typeface="Symbol" pitchFamily="18" charset="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3667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E44D-A6B6-5B5C-3867-60D734B99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14150D1-91E9-883A-7136-4885A85AEBC9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B9448D-9ECF-0E5F-8017-A0CB041FD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8426234" cy="246221"/>
          </a:xfrm>
        </p:spPr>
        <p:txBody>
          <a:bodyPr/>
          <a:lstStyle/>
          <a:p>
            <a:r>
              <a:rPr lang="en-US" sz="1600" dirty="0"/>
              <a:t>Assignment  Operation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884716-10E2-CE96-8D05-779046E91DBC}"/>
              </a:ext>
            </a:extLst>
          </p:cNvPr>
          <p:cNvSpPr txBox="1"/>
          <p:nvPr/>
        </p:nvSpPr>
        <p:spPr>
          <a:xfrm>
            <a:off x="1174651" y="1276350"/>
            <a:ext cx="7086600" cy="325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700" dirty="0"/>
              <a:t>It is convenient at times to write a relational-algebra expression by assigning parts of it to temporary relation variables.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700" dirty="0"/>
              <a:t>The assignment  operation is  denoted by </a:t>
            </a:r>
            <a:r>
              <a:rPr lang="en-US" altLang="en-US" sz="1700" dirty="0">
                <a:sym typeface="Symbol" panose="05050102010706020507" pitchFamily="18" charset="2"/>
              </a:rPr>
              <a:t></a:t>
            </a:r>
            <a:r>
              <a:rPr lang="en-US" altLang="en-US" sz="1700" dirty="0">
                <a:sym typeface="Wingdings" pitchFamily="2" charset="2"/>
              </a:rPr>
              <a:t> and </a:t>
            </a:r>
            <a:r>
              <a:rPr lang="en-US" altLang="en-US" sz="1700" dirty="0"/>
              <a:t>works like assignment in a programming language.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Example: Find all </a:t>
            </a:r>
            <a:r>
              <a:rPr lang="en-US" altLang="en-US" sz="1700" dirty="0">
                <a:sym typeface="Symbol" panose="05050102010706020507" pitchFamily="18" charset="2"/>
              </a:rPr>
              <a:t>instructor in the “Physics” and Music department.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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4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E2C5-C6E0-3C38-3705-F8FB264D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E1D73F9-9504-34D5-4E3E-BB8AADB11340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556F46-2616-D1E4-120C-74D67E17F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02022A-F262-F505-D4B3-810794DBE938}"/>
              </a:ext>
            </a:extLst>
          </p:cNvPr>
          <p:cNvSpPr txBox="1"/>
          <p:nvPr/>
        </p:nvSpPr>
        <p:spPr>
          <a:xfrm>
            <a:off x="1174651" y="1276350"/>
            <a:ext cx="708660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tabLst>
                <a:tab pos="3149600" algn="ctr"/>
              </a:tabLst>
            </a:pPr>
            <a:r>
              <a:rPr lang="en-US" altLang="en-US" sz="1700" dirty="0"/>
              <a:t>The Cartesian-product operation (denoted by X)  allows us to combine information from any two relations.  </a:t>
            </a:r>
          </a:p>
          <a:p>
            <a:pPr marL="285750" indent="-285750">
              <a:buFont typeface="Wingdings" panose="05000000000000000000" pitchFamily="2" charset="2"/>
              <a:buChar char="q"/>
              <a:tabLst>
                <a:tab pos="3149600" algn="ctr"/>
              </a:tabLst>
            </a:pPr>
            <a:r>
              <a:rPr lang="en-US" altLang="en-US" sz="1700" dirty="0"/>
              <a:t>Example: the Cartesian product of the relations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t</a:t>
            </a:r>
            <a:r>
              <a:rPr lang="en-US" altLang="en-US" sz="1700" i="1" dirty="0"/>
              <a:t>eaches</a:t>
            </a:r>
            <a:r>
              <a:rPr lang="en-US" altLang="en-US" sz="1700" dirty="0"/>
              <a:t> is written  as: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</a:p>
          <a:p>
            <a:pPr marL="285750" indent="-285750">
              <a:buFont typeface="Wingdings" panose="05000000000000000000" pitchFamily="2" charset="2"/>
              <a:buChar char="q"/>
              <a:tabLst>
                <a:tab pos="3149600" algn="ctr"/>
              </a:tabLst>
            </a:pPr>
            <a:r>
              <a:rPr lang="en-US" altLang="en-US" sz="1700" dirty="0"/>
              <a:t>We construct a tuple of the result out of each possible pair of tuples: one from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 and one from the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relation (see next slide)</a:t>
            </a:r>
          </a:p>
          <a:p>
            <a:pPr marL="285750" indent="-285750">
              <a:buFont typeface="Wingdings" panose="05000000000000000000" pitchFamily="2" charset="2"/>
              <a:buChar char="q"/>
              <a:tabLst>
                <a:tab pos="3149600" algn="ctr"/>
              </a:tabLst>
            </a:pPr>
            <a:r>
              <a:rPr lang="en-US" altLang="en-US" sz="1700" dirty="0"/>
              <a:t>Since the instructor</a:t>
            </a:r>
            <a:r>
              <a:rPr lang="en-US" altLang="en-US" sz="1700" i="1" dirty="0"/>
              <a:t> ID </a:t>
            </a:r>
            <a:r>
              <a:rPr lang="en-US" altLang="en-US" sz="1700" dirty="0"/>
              <a:t>appears in both relations we distinguish between these attribute by attaching to the attribute the name of the relation from which the attribute originally came.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instructor.ID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teaches.ID</a:t>
            </a:r>
          </a:p>
        </p:txBody>
      </p:sp>
    </p:spTree>
    <p:extLst>
      <p:ext uri="{BB962C8B-B14F-4D97-AF65-F5344CB8AC3E}">
        <p14:creationId xmlns:p14="http://schemas.microsoft.com/office/powerpoint/2010/main" val="183605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8143-480B-29F2-9015-CF0E68FB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E69BD30-888B-D600-856B-4BDB70BCCCF5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DCFFE8-8BED-718C-82EC-66E0A185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047" y="1047750"/>
            <a:ext cx="3962953" cy="38295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00150"/>
            <a:ext cx="4296375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0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B55A-30DB-C90F-CFC1-B883E206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EF7F334-F3FE-C5DC-92EA-4F5CBDDD3B7A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0D128-0601-6638-F022-2D07C681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556349-D831-C57B-89BF-BB548F255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71550"/>
            <a:ext cx="5181600" cy="391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0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B55A-30DB-C90F-CFC1-B883E206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EF7F334-F3FE-C5DC-92EA-4F5CBDDD3B7A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0D128-0601-6638-F022-2D07C681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28750"/>
            <a:ext cx="711317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3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B55A-30DB-C90F-CFC1-B883E206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EF7F334-F3FE-C5DC-92EA-4F5CBDDD3B7A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0D128-0601-6638-F022-2D07C681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047750"/>
            <a:ext cx="5943600" cy="385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58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B55A-30DB-C90F-CFC1-B883E206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EF7F334-F3FE-C5DC-92EA-4F5CBDDD3B7A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0D128-0601-6638-F022-2D07C681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70" y="1123950"/>
            <a:ext cx="7509510" cy="91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051" t="2778"/>
          <a:stretch/>
        </p:blipFill>
        <p:spPr>
          <a:xfrm>
            <a:off x="1307470" y="1885950"/>
            <a:ext cx="7280232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5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B55A-30DB-C90F-CFC1-B883E206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EF7F334-F3FE-C5DC-92EA-4F5CBDDD3B7A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0D128-0601-6638-F022-2D07C681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9808"/>
          <a:stretch/>
        </p:blipFill>
        <p:spPr>
          <a:xfrm>
            <a:off x="1295400" y="1428750"/>
            <a:ext cx="73342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4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B55A-30DB-C90F-CFC1-B883E206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EF7F334-F3FE-C5DC-92EA-4F5CBDDD3B7A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0D128-0601-6638-F022-2D07C681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523" t="6722" r="2510"/>
          <a:stretch/>
        </p:blipFill>
        <p:spPr>
          <a:xfrm>
            <a:off x="457200" y="1504950"/>
            <a:ext cx="8126786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2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FE2D-9759-1E57-3DFA-5031B8817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0E7704B-5B91-9D3F-0051-485130A0F747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87C213-0987-3C55-7B7B-AFC8EB01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FD3F6D5-8FCC-BA27-861B-33AABA70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23950"/>
            <a:ext cx="5283554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1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C9FC7-2611-9520-3777-52FA61E6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C9215BF-23B5-359D-7E27-03315B4BAFA0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1EF802-0406-07C1-3C3E-4E75FD5E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Cartesian-product Operation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BD59E-17DC-F704-0B85-4BD0281462B5}"/>
              </a:ext>
            </a:extLst>
          </p:cNvPr>
          <p:cNvSpPr txBox="1"/>
          <p:nvPr/>
        </p:nvSpPr>
        <p:spPr>
          <a:xfrm>
            <a:off x="1219504" y="1428750"/>
            <a:ext cx="6019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SQL,</a:t>
            </a:r>
          </a:p>
          <a:p>
            <a:endParaRPr lang="en-US" dirty="0"/>
          </a:p>
          <a:p>
            <a:r>
              <a:rPr lang="en-US" b="1" dirty="0"/>
              <a:t>SELECT </a:t>
            </a:r>
          </a:p>
          <a:p>
            <a:r>
              <a:rPr lang="en-US" dirty="0"/>
              <a:t>    instructor.*,</a:t>
            </a:r>
          </a:p>
          <a:p>
            <a:r>
              <a:rPr lang="en-US" dirty="0"/>
              <a:t>    teaches.*</a:t>
            </a:r>
          </a:p>
          <a:p>
            <a:r>
              <a:rPr lang="en-US" b="1" dirty="0"/>
              <a:t>FROM </a:t>
            </a:r>
          </a:p>
          <a:p>
            <a:r>
              <a:rPr lang="en-US" dirty="0"/>
              <a:t>    instructor</a:t>
            </a:r>
          </a:p>
          <a:p>
            <a:r>
              <a:rPr lang="en-US" b="1" dirty="0"/>
              <a:t>CROSS JOIN </a:t>
            </a:r>
          </a:p>
          <a:p>
            <a:r>
              <a:rPr lang="en-US" dirty="0"/>
              <a:t>    teaches;</a:t>
            </a:r>
          </a:p>
        </p:txBody>
      </p:sp>
    </p:spTree>
    <p:extLst>
      <p:ext uri="{BB962C8B-B14F-4D97-AF65-F5344CB8AC3E}">
        <p14:creationId xmlns:p14="http://schemas.microsoft.com/office/powerpoint/2010/main" val="6143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E04B9-53C7-96F4-B8E6-D54DC424F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B976BA8-7826-A726-00A8-74851E3070A2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CD3CE1-A72E-F306-54E1-DAC4601D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Join Operation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CA3A67-B9D4-67B8-1E28-F9D95D83FE19}"/>
              </a:ext>
            </a:extLst>
          </p:cNvPr>
          <p:cNvSpPr txBox="1"/>
          <p:nvPr/>
        </p:nvSpPr>
        <p:spPr>
          <a:xfrm>
            <a:off x="1174651" y="1276350"/>
            <a:ext cx="7086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tabLst>
                <a:tab pos="3149600" algn="ctr"/>
              </a:tabLst>
            </a:pPr>
            <a:r>
              <a:rPr lang="en-US" altLang="en-US" sz="1700" dirty="0"/>
              <a:t>The Cartesian-Product </a:t>
            </a:r>
          </a:p>
          <a:p>
            <a:pPr>
              <a:tabLst>
                <a:tab pos="3149600" algn="ctr"/>
              </a:tabLst>
            </a:pPr>
            <a:r>
              <a:rPr lang="en-US" altLang="en-US" sz="1700" i="1" dirty="0"/>
              <a:t>   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endParaRPr lang="en-US" altLang="en-US" sz="1700" dirty="0"/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      associates every  tuple of  instructor with every tuple of teaches. Most of    the resulting rows have information about instructors who did NOT teach a particular course.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700" dirty="0"/>
              <a:t>To get only those tuples of 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“ that pertain to instructors and the courses that they taught, we write:</a:t>
            </a:r>
          </a:p>
          <a:p>
            <a:pPr>
              <a:buNone/>
            </a:pP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 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ja-JP" sz="1700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teaches” </a:t>
            </a:r>
            <a:r>
              <a:rPr lang="en-US" altLang="ja-JP" sz="1700" dirty="0">
                <a:sym typeface="Symbol" panose="05050102010706020507" pitchFamily="18" charset="2"/>
              </a:rPr>
              <a:t>that pertain to instructors and the courses that they taught.</a:t>
            </a:r>
          </a:p>
          <a:p>
            <a:r>
              <a:rPr lang="en-US" altLang="ja-JP" sz="1700" dirty="0">
                <a:sym typeface="Symbol" panose="05050102010706020507" pitchFamily="18" charset="2"/>
              </a:rPr>
              <a:t>The result of this expression, shown in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421532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F466E-782D-DBFA-E86B-F2925A6D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1DB121A-48A1-463F-BE87-5BE6FAB71DDD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D0B2AC-8972-CA92-05C7-FFD3B1D8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Join Operation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9F9FE8-48AA-F382-60B7-C77E2B337A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-1" b="12878"/>
          <a:stretch/>
        </p:blipFill>
        <p:spPr>
          <a:xfrm>
            <a:off x="1183944" y="971550"/>
            <a:ext cx="7086600" cy="395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0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F466E-782D-DBFA-E86B-F2925A6D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1DB121A-48A1-463F-BE87-5BE6FAB71DDD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D0B2AC-8972-CA92-05C7-FFD3B1D8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Join Operation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8928"/>
            <a:ext cx="5487166" cy="36295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917298"/>
              </p:ext>
            </p:extLst>
          </p:nvPr>
        </p:nvGraphicFramePr>
        <p:xfrm>
          <a:off x="5494832" y="1348085"/>
          <a:ext cx="3310209" cy="9906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03403">
                  <a:extLst>
                    <a:ext uri="{9D8B030D-6E8A-4147-A177-3AD203B41FA5}">
                      <a16:colId xmlns:a16="http://schemas.microsoft.com/office/drawing/2014/main" val="1815012260"/>
                    </a:ext>
                  </a:extLst>
                </a:gridCol>
                <a:gridCol w="1103403">
                  <a:extLst>
                    <a:ext uri="{9D8B030D-6E8A-4147-A177-3AD203B41FA5}">
                      <a16:colId xmlns:a16="http://schemas.microsoft.com/office/drawing/2014/main" val="2493256771"/>
                    </a:ext>
                  </a:extLst>
                </a:gridCol>
                <a:gridCol w="1103403">
                  <a:extLst>
                    <a:ext uri="{9D8B030D-6E8A-4147-A177-3AD203B41FA5}">
                      <a16:colId xmlns:a16="http://schemas.microsoft.com/office/drawing/2014/main" val="344818382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lang="en-US" sz="1100" dirty="0"/>
                        <a:t>ID</a:t>
                      </a:r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Name</a:t>
                      </a:r>
                      <a:endParaRPr 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Dept</a:t>
                      </a:r>
                      <a:endParaRPr lang="en-US" sz="11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6728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  <a:endParaRPr 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Alice</a:t>
                      </a:r>
                      <a:endParaRPr 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CSE</a:t>
                      </a:r>
                      <a:endParaRPr lang="en-US" sz="11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9701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  <a:endParaRPr 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Bob</a:t>
                      </a:r>
                      <a:endParaRPr 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EEE</a:t>
                      </a:r>
                      <a:endParaRPr 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08624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133712"/>
              </p:ext>
            </p:extLst>
          </p:nvPr>
        </p:nvGraphicFramePr>
        <p:xfrm>
          <a:off x="5494831" y="2822859"/>
          <a:ext cx="3310210" cy="968091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55105">
                  <a:extLst>
                    <a:ext uri="{9D8B030D-6E8A-4147-A177-3AD203B41FA5}">
                      <a16:colId xmlns:a16="http://schemas.microsoft.com/office/drawing/2014/main" val="3566126379"/>
                    </a:ext>
                  </a:extLst>
                </a:gridCol>
                <a:gridCol w="1655105">
                  <a:extLst>
                    <a:ext uri="{9D8B030D-6E8A-4147-A177-3AD203B41FA5}">
                      <a16:colId xmlns:a16="http://schemas.microsoft.com/office/drawing/2014/main" val="1622859152"/>
                    </a:ext>
                  </a:extLst>
                </a:gridCol>
              </a:tblGrid>
              <a:tr h="322697">
                <a:tc>
                  <a:txBody>
                    <a:bodyPr/>
                    <a:lstStyle/>
                    <a:p>
                      <a:r>
                        <a:rPr lang="en-US" sz="1100"/>
                        <a:t>ID</a:t>
                      </a:r>
                      <a:endParaRPr 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Course</a:t>
                      </a:r>
                      <a:endParaRPr lang="en-US" sz="11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522278"/>
                  </a:ext>
                </a:extLst>
              </a:tr>
              <a:tr h="322697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DBMS</a:t>
                      </a:r>
                      <a:endParaRPr lang="en-US" sz="11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681610"/>
                  </a:ext>
                </a:extLst>
              </a:tr>
              <a:tr h="322697"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  <a:endParaRPr 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AI</a:t>
                      </a:r>
                      <a:endParaRPr 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281497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10200" y="1008054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Instructor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410200" y="2399501"/>
            <a:ext cx="927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Teaches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876800" y="3795546"/>
            <a:ext cx="4343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(a) Cartesian Product</a:t>
            </a:r>
          </a:p>
          <a:p>
            <a:pPr algn="ctr"/>
            <a:r>
              <a:rPr lang="en-US" sz="1400" b="1" dirty="0" err="1" smtClean="0">
                <a:solidFill>
                  <a:srgbClr val="FF0000"/>
                </a:solidFill>
              </a:rPr>
              <a:t>Instructor×Teaches</a:t>
            </a:r>
            <a:endParaRPr lang="en-US" sz="1400" b="1" dirty="0" smtClean="0">
              <a:solidFill>
                <a:srgbClr val="FF0000"/>
              </a:solidFill>
            </a:endParaRPr>
          </a:p>
          <a:p>
            <a:r>
              <a:rPr lang="en-US" sz="1400" b="1" dirty="0"/>
              <a:t>(b) Theta Join (condition: Instructor.ID = Teaches.ID)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Instructor</a:t>
            </a:r>
            <a:r>
              <a:rPr lang="en-US" sz="1400" b="1" dirty="0" smtClean="0">
                <a:solidFill>
                  <a:srgbClr val="FF0000"/>
                </a:solidFill>
              </a:rPr>
              <a:t>⋈ </a:t>
            </a:r>
            <a:r>
              <a:rPr lang="en-US" sz="800" b="1" dirty="0" smtClean="0">
                <a:solidFill>
                  <a:srgbClr val="FF0000"/>
                </a:solidFill>
              </a:rPr>
              <a:t>Instructor.ID=</a:t>
            </a:r>
            <a:r>
              <a:rPr lang="en-US" sz="800" b="1" dirty="0" err="1" smtClean="0">
                <a:solidFill>
                  <a:srgbClr val="FF0000"/>
                </a:solidFill>
              </a:rPr>
              <a:t>Teaches.ID</a:t>
            </a:r>
            <a:r>
              <a:rPr lang="en-US" sz="1400" b="1" dirty="0" err="1" smtClean="0">
                <a:solidFill>
                  <a:srgbClr val="FF0000"/>
                </a:solidFill>
              </a:rPr>
              <a:t>Teaches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29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CE6B8-0F3C-7863-C70D-3CABA551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CA57161-FE0A-6C76-B6FB-0E9A86FEEAF9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556FBC-A53F-786F-A789-2DBABA38E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Join Operation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1E19C-E6E0-D37D-436D-01DF65EEC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467"/>
          <a:stretch/>
        </p:blipFill>
        <p:spPr>
          <a:xfrm>
            <a:off x="962024" y="1581150"/>
            <a:ext cx="772990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6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BA03F-64E5-AE47-A9A2-1370E2EA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AC3F4C4-BDED-E828-0A7C-730ACD649733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526B5E-72B9-CAC4-C21F-F5FD139B4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Join Operation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3027B0-0684-9443-1D4A-AC394C925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350"/>
            <a:ext cx="91440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3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8AE4-4F30-CB50-8B93-29C45E5A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B8763C7-BAC1-514B-5129-F40A5485EBBA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29E96A-FE4B-6B06-EEAF-96C3F0FF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Join Operation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CD84E-B557-DEC5-324D-AE7E775EB596}"/>
              </a:ext>
            </a:extLst>
          </p:cNvPr>
          <p:cNvSpPr txBox="1"/>
          <p:nvPr/>
        </p:nvSpPr>
        <p:spPr>
          <a:xfrm>
            <a:off x="4809877" y="1962150"/>
            <a:ext cx="65122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dirty="0"/>
              <a:t>SELECT</a:t>
            </a:r>
            <a:r>
              <a:rPr lang="en-US" dirty="0"/>
              <a:t> instructor.*, teaches.*</a:t>
            </a:r>
          </a:p>
          <a:p>
            <a:r>
              <a:rPr lang="en-US" b="1" dirty="0"/>
              <a:t>FROM</a:t>
            </a:r>
            <a:r>
              <a:rPr lang="en-US" dirty="0"/>
              <a:t> instructor , teaches</a:t>
            </a:r>
          </a:p>
          <a:p>
            <a:r>
              <a:rPr lang="en-US" b="1" dirty="0"/>
              <a:t>WHERE</a:t>
            </a:r>
            <a:r>
              <a:rPr lang="en-US" dirty="0"/>
              <a:t> instructor.ID = teaches.ID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F49D6-D925-E86E-4C43-ADC3150C1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66950"/>
            <a:ext cx="3066554" cy="15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7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E4AA1-15F1-6169-B34F-ADBEA522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3A85F60-0E47-70F3-42CA-0CA76891E043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BE29ED-8FA5-AC8F-CAF4-9AFAD1B9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Join Operation </a:t>
            </a:r>
          </a:p>
        </p:txBody>
      </p:sp>
      <p:pic>
        <p:nvPicPr>
          <p:cNvPr id="5122" name="Picture 2" descr="Practice time ! - Happy Homer Meme Generator">
            <a:extLst>
              <a:ext uri="{FF2B5EF4-FFF2-40B4-BE49-F238E27FC236}">
                <a16:creationId xmlns:a16="http://schemas.microsoft.com/office/drawing/2014/main" id="{4C7A8745-D33E-3296-409B-68CB6C04F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206" y="1215981"/>
            <a:ext cx="6057900" cy="340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25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D8C7-E854-DCE0-5BC2-17AFF60A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8816075-A4E3-CC4A-A42D-2617AA8BC8CC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24C622-4508-6CA1-ED47-C95E561E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870A88-735C-7325-D3FE-F2384ADC7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920" y="1809750"/>
            <a:ext cx="8153400" cy="494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branch (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branch_name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branch_city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assets)</a:t>
            </a:r>
            <a:b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</a:b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customer (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customer_name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customer_street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customer_city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account (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account_number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branch_name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balance)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loan (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loan_number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branch_name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amount)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depositor (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customer_name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account_number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borrower</a:t>
            </a: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customer_name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</a:t>
            </a:r>
            <a:r>
              <a:rPr kumimoji="0" lang="en-US" sz="1800" b="0" i="1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loan_number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AA38FC-C502-AFC1-F308-D069C720F458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123950"/>
            <a:ext cx="8229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eaLnBrk="1" hangingPunct="1">
              <a:defRPr sz="24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kern="0">
                <a:solidFill>
                  <a:schemeClr val="tx1"/>
                </a:solidFill>
              </a:rPr>
              <a:t>Banking Example</a:t>
            </a:r>
            <a:endParaRPr lang="en-US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11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375C6-A2C3-CE20-07B9-B1D54A43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744BB3D-7014-E07C-4F12-57CA3604ED25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CE0469-C6E4-F75D-AB64-B1C843FA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1A24722-31E9-B3EF-B96E-C204999C0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00150"/>
            <a:ext cx="7912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Find all loans of over $1200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lang="en-US" sz="2000" kern="0" dirty="0">
              <a:solidFill>
                <a:srgbClr val="002600"/>
              </a:solidFill>
              <a:latin typeface="Franklin Gothic Book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>
              <a:lnSpc>
                <a:spcPct val="90000"/>
              </a:lnSpc>
              <a:buClr>
                <a:srgbClr val="CC9933"/>
              </a:buClr>
            </a:pPr>
            <a:endParaRPr kumimoji="1" lang="en-US" sz="2000" dirty="0">
              <a:solidFill>
                <a:schemeClr val="tx2"/>
              </a:solidFill>
              <a:latin typeface="Helvetica" pitchFamily="34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 pitchFamily="18" charset="2"/>
              </a:rPr>
              <a:t>                       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032B404C-6B8B-93BF-DC66-01385AD75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272" y="1581150"/>
            <a:ext cx="2725738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</a:t>
            </a:r>
            <a:r>
              <a:rPr kumimoji="1" lang="en-US" sz="2800" i="1" baseline="-25000" dirty="0">
                <a:solidFill>
                  <a:schemeClr val="tx2"/>
                </a:solidFill>
                <a:sym typeface="Symbol" pitchFamily="18" charset="2"/>
              </a:rPr>
              <a:t>amount</a:t>
            </a:r>
            <a:r>
              <a:rPr kumimoji="1" lang="en-US" sz="2400" i="1" baseline="-25000" dirty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kumimoji="1" lang="en-US" sz="2400" baseline="-25000" dirty="0">
                <a:solidFill>
                  <a:schemeClr val="tx2"/>
                </a:solidFill>
                <a:sym typeface="Symbol" pitchFamily="18" charset="2"/>
              </a:rPr>
              <a:t>&gt; 1200</a:t>
            </a: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 (</a:t>
            </a:r>
            <a:r>
              <a:rPr kumimoji="1" lang="en-US" sz="2400" i="1" dirty="0">
                <a:solidFill>
                  <a:schemeClr val="tx2"/>
                </a:solidFill>
                <a:sym typeface="Symbol" pitchFamily="18" charset="2"/>
              </a:rPr>
              <a:t>loan</a:t>
            </a: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)</a:t>
            </a:r>
          </a:p>
          <a:p>
            <a:pPr algn="ctr"/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5B2BB46-20DE-51C8-30FC-C5155E707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622506"/>
            <a:ext cx="7912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>
              <a:lnSpc>
                <a:spcPct val="90000"/>
              </a:lnSpc>
              <a:buClr>
                <a:srgbClr val="CC9933"/>
              </a:buClr>
            </a:pPr>
            <a:r>
              <a:rPr lang="en-US" sz="2000" kern="0" dirty="0">
                <a:solidFill>
                  <a:srgbClr val="002600"/>
                </a:solidFill>
                <a:latin typeface="Franklin Gothic Book"/>
              </a:rPr>
              <a:t>Find the loan number for each loan of an amount greater than                             $1200</a:t>
            </a:r>
          </a:p>
          <a:p>
            <a:pPr lvl="0">
              <a:lnSpc>
                <a:spcPct val="90000"/>
              </a:lnSpc>
              <a:buClr>
                <a:srgbClr val="CC9933"/>
              </a:buClr>
            </a:pPr>
            <a:endParaRPr lang="en-US" sz="2000" kern="0" dirty="0">
              <a:solidFill>
                <a:srgbClr val="002600"/>
              </a:solidFill>
              <a:latin typeface="Franklin Gothic Book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lang="en-US" sz="2000" kern="0" dirty="0">
              <a:solidFill>
                <a:srgbClr val="002600"/>
              </a:solidFill>
              <a:latin typeface="Franklin Gothic Book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>
              <a:lnSpc>
                <a:spcPct val="90000"/>
              </a:lnSpc>
              <a:buClr>
                <a:srgbClr val="CC9933"/>
              </a:buClr>
            </a:pPr>
            <a:endParaRPr kumimoji="1" lang="en-US" sz="2000" dirty="0">
              <a:solidFill>
                <a:schemeClr val="tx2"/>
              </a:solidFill>
              <a:latin typeface="Helvetica" pitchFamily="34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 pitchFamily="18" charset="2"/>
              </a:rPr>
              <a:t>                       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C0DF8D48-E3B4-7288-E9C3-A4745CA92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025" y="3502025"/>
            <a:ext cx="47069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sz="2800" i="1" baseline="-25000" dirty="0">
                <a:solidFill>
                  <a:schemeClr val="tx2"/>
                </a:solidFill>
                <a:sym typeface="Symbol" pitchFamily="18" charset="2"/>
              </a:rPr>
              <a:t>loan_number</a:t>
            </a: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 (</a:t>
            </a:r>
            <a:r>
              <a:rPr kumimoji="1" lang="en-US" sz="2800" i="1" baseline="-25000" dirty="0">
                <a:solidFill>
                  <a:schemeClr val="tx2"/>
                </a:solidFill>
                <a:sym typeface="Symbol" pitchFamily="18" charset="2"/>
              </a:rPr>
              <a:t>amount</a:t>
            </a:r>
            <a:r>
              <a:rPr kumimoji="1" lang="en-US" sz="2400" i="1" dirty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kumimoji="1" lang="en-US" sz="2400" baseline="-25000" dirty="0">
                <a:solidFill>
                  <a:schemeClr val="tx2"/>
                </a:solidFill>
                <a:sym typeface="Symbol" pitchFamily="18" charset="2"/>
              </a:rPr>
              <a:t>&gt; 1200</a:t>
            </a: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 (</a:t>
            </a:r>
            <a:r>
              <a:rPr kumimoji="1" lang="en-US" sz="2400" i="1" dirty="0">
                <a:solidFill>
                  <a:schemeClr val="tx2"/>
                </a:solidFill>
                <a:sym typeface="Symbol" pitchFamily="18" charset="2"/>
              </a:rPr>
              <a:t>loan</a:t>
            </a: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))</a:t>
            </a:r>
            <a:endParaRPr kumimoji="1" lang="en-US" sz="2400" dirty="0">
              <a:solidFill>
                <a:schemeClr val="tx2"/>
              </a:solidFill>
            </a:endParaRPr>
          </a:p>
          <a:p>
            <a:pPr algn="ctr"/>
            <a:endParaRPr lang="en-US" sz="1800" dirty="0">
              <a:solidFill>
                <a:schemeClr val="tx2"/>
              </a:solidFill>
            </a:endParaRPr>
          </a:p>
          <a:p>
            <a:pPr algn="ctr"/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87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utoUpdateAnimBg="0"/>
      <p:bldP spid="11" grpId="0"/>
      <p:bldP spid="12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E26B-13E6-F9FD-759E-5CB3E758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4C346A6-B877-B211-E0E0-D3C6DE3625F8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23E43B-1BCC-1104-B989-467AAEA8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97B7996-5F85-3A79-ED9A-4417CCF4D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00150"/>
            <a:ext cx="7912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2000" dirty="0">
                <a:solidFill>
                  <a:schemeClr val="tx2"/>
                </a:solidFill>
              </a:rPr>
              <a:t>Find the names of all customers who have a loan, an account, or both, from the bank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lang="en-US" sz="2000" kern="0" dirty="0">
              <a:solidFill>
                <a:srgbClr val="002600"/>
              </a:solidFill>
              <a:latin typeface="Franklin Gothic Book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>
              <a:lnSpc>
                <a:spcPct val="90000"/>
              </a:lnSpc>
              <a:buClr>
                <a:srgbClr val="CC9933"/>
              </a:buClr>
            </a:pPr>
            <a:endParaRPr kumimoji="1" lang="en-US" sz="2000" dirty="0">
              <a:solidFill>
                <a:schemeClr val="tx2"/>
              </a:solidFill>
              <a:latin typeface="Helvetica" pitchFamily="34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 pitchFamily="18" charset="2"/>
              </a:rPr>
              <a:t>                      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1689748-8FF6-C8BA-2AFD-2BD35EFB9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622506"/>
            <a:ext cx="7912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>
              <a:lnSpc>
                <a:spcPct val="90000"/>
              </a:lnSpc>
              <a:buClr>
                <a:srgbClr val="CC9933"/>
              </a:buClr>
            </a:pPr>
            <a:r>
              <a:rPr lang="en-US" sz="2000" kern="0" dirty="0">
                <a:solidFill>
                  <a:srgbClr val="002600"/>
                </a:solidFill>
                <a:latin typeface="Franklin Gothic Book"/>
              </a:rPr>
              <a:t>Find the names of all customers who have a loan at the </a:t>
            </a:r>
            <a:r>
              <a:rPr lang="en-US" sz="2000" kern="0" dirty="0" err="1">
                <a:solidFill>
                  <a:srgbClr val="002600"/>
                </a:solidFill>
                <a:latin typeface="Franklin Gothic Book"/>
              </a:rPr>
              <a:t>Perryridge</a:t>
            </a:r>
            <a:r>
              <a:rPr lang="en-US" sz="2000" kern="0" dirty="0">
                <a:solidFill>
                  <a:srgbClr val="002600"/>
                </a:solidFill>
                <a:latin typeface="Franklin Gothic Book"/>
              </a:rPr>
              <a:t> branch.</a:t>
            </a:r>
          </a:p>
          <a:p>
            <a:pPr lvl="0">
              <a:lnSpc>
                <a:spcPct val="90000"/>
              </a:lnSpc>
              <a:buClr>
                <a:srgbClr val="CC9933"/>
              </a:buClr>
            </a:pPr>
            <a:endParaRPr lang="en-US" sz="2000" kern="0" dirty="0">
              <a:solidFill>
                <a:srgbClr val="002600"/>
              </a:solidFill>
              <a:latin typeface="Franklin Gothic Book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lang="en-US" sz="2000" kern="0" dirty="0">
              <a:solidFill>
                <a:srgbClr val="002600"/>
              </a:solidFill>
              <a:latin typeface="Franklin Gothic Book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>
              <a:lnSpc>
                <a:spcPct val="90000"/>
              </a:lnSpc>
              <a:buClr>
                <a:srgbClr val="CC9933"/>
              </a:buClr>
            </a:pPr>
            <a:endParaRPr kumimoji="1" lang="en-US" sz="2000" dirty="0">
              <a:solidFill>
                <a:schemeClr val="tx2"/>
              </a:solidFill>
              <a:latin typeface="Helvetica" pitchFamily="34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 pitchFamily="18" charset="2"/>
              </a:rPr>
              <a:t>                       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0D97836E-B383-CB8F-55E1-DC13017BA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75" y="2032772"/>
            <a:ext cx="6813550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 algn="ctr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sz="2400" i="1" baseline="-25000" dirty="0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 (</a:t>
            </a:r>
            <a:r>
              <a:rPr kumimoji="1" lang="en-US" sz="2000" i="1" dirty="0">
                <a:solidFill>
                  <a:schemeClr val="tx2"/>
                </a:solidFill>
                <a:sym typeface="Symbol" pitchFamily="18" charset="2"/>
              </a:rPr>
              <a:t>borrower</a:t>
            </a: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)  </a:t>
            </a:r>
            <a:r>
              <a:rPr kumimoji="1" lang="en-US" sz="2400" i="1" baseline="-25000" dirty="0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 (</a:t>
            </a:r>
            <a:r>
              <a:rPr kumimoji="1" lang="en-US" sz="2000" i="1" dirty="0">
                <a:solidFill>
                  <a:schemeClr val="tx2"/>
                </a:solidFill>
                <a:sym typeface="Symbol" pitchFamily="18" charset="2"/>
              </a:rPr>
              <a:t>depositor</a:t>
            </a: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)</a:t>
            </a:r>
          </a:p>
          <a:p>
            <a:pPr algn="ctr"/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79AFE27E-1FF9-EFE5-D823-FAC513C64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79706"/>
            <a:ext cx="7772400" cy="2042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sz="1600" b="1" i="1" baseline="-25000" dirty="0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 (</a:t>
            </a:r>
            <a:r>
              <a:rPr kumimoji="1" lang="en-US" sz="1600" b="1" i="1" baseline="-25000" dirty="0">
                <a:solidFill>
                  <a:schemeClr val="tx2"/>
                </a:solidFill>
                <a:sym typeface="Symbol" pitchFamily="18" charset="2"/>
              </a:rPr>
              <a:t>branch_name=“Perryridge”</a:t>
            </a:r>
            <a:endParaRPr kumimoji="1" lang="en-US" sz="1600" b="1" dirty="0">
              <a:solidFill>
                <a:schemeClr val="tx2"/>
              </a:solidFill>
              <a:sym typeface="Symbol" pitchFamily="18" charset="2"/>
            </a:endParaRPr>
          </a:p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1600" b="1" dirty="0">
                <a:solidFill>
                  <a:schemeClr val="tx2"/>
                </a:solidFill>
              </a:rPr>
              <a:t>    (</a:t>
            </a:r>
            <a:r>
              <a:rPr kumimoji="1" lang="en-US" sz="1600" b="1" i="1" dirty="0">
                <a:solidFill>
                  <a:schemeClr val="tx2"/>
                </a:solidFill>
                <a:sym typeface="Symbol" pitchFamily="18" charset="2"/>
              </a:rPr>
              <a:t></a:t>
            </a:r>
            <a:r>
              <a:rPr kumimoji="1" lang="en-US" sz="1600" b="1" i="1" baseline="-25000" dirty="0">
                <a:solidFill>
                  <a:schemeClr val="tx2"/>
                </a:solidFill>
                <a:sym typeface="Symbol" pitchFamily="18" charset="2"/>
              </a:rPr>
              <a:t>borrower.loan_number = loan.loan_number</a:t>
            </a: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(</a:t>
            </a:r>
            <a:r>
              <a:rPr kumimoji="1" lang="en-US" sz="1600" b="1" i="1" dirty="0">
                <a:solidFill>
                  <a:schemeClr val="tx2"/>
                </a:solidFill>
                <a:sym typeface="Symbol" pitchFamily="18" charset="2"/>
              </a:rPr>
              <a:t>borrower x loan</a:t>
            </a: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)))</a:t>
            </a:r>
          </a:p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Or,</a:t>
            </a:r>
          </a:p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sz="1600" b="1" i="1" baseline="-25000" dirty="0" err="1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 (</a:t>
            </a:r>
            <a:r>
              <a:rPr kumimoji="1" lang="en-US" sz="1600" b="1" i="1" baseline="-25000" dirty="0" err="1">
                <a:solidFill>
                  <a:schemeClr val="tx2"/>
                </a:solidFill>
                <a:sym typeface="Symbol" pitchFamily="18" charset="2"/>
              </a:rPr>
              <a:t>branch_name</a:t>
            </a:r>
            <a:r>
              <a:rPr kumimoji="1" lang="en-US" sz="1600" b="1" i="1" baseline="-25000" dirty="0">
                <a:solidFill>
                  <a:schemeClr val="tx2"/>
                </a:solidFill>
                <a:sym typeface="Symbol" pitchFamily="18" charset="2"/>
              </a:rPr>
              <a:t>=“</a:t>
            </a:r>
            <a:r>
              <a:rPr kumimoji="1" lang="en-US" sz="1600" b="1" i="1" baseline="-25000" dirty="0" err="1">
                <a:solidFill>
                  <a:schemeClr val="tx2"/>
                </a:solidFill>
                <a:sym typeface="Symbol" pitchFamily="18" charset="2"/>
              </a:rPr>
              <a:t>Perryridge</a:t>
            </a:r>
            <a:r>
              <a:rPr kumimoji="1" lang="en-US" sz="1600" b="1" i="1" baseline="-25000" dirty="0">
                <a:solidFill>
                  <a:schemeClr val="tx2"/>
                </a:solidFill>
                <a:sym typeface="Symbol" pitchFamily="18" charset="2"/>
              </a:rPr>
              <a:t>”</a:t>
            </a:r>
            <a:endParaRPr kumimoji="1" lang="en-US" sz="1600" b="1" dirty="0">
              <a:solidFill>
                <a:schemeClr val="tx2"/>
              </a:solidFill>
              <a:sym typeface="Symbol" pitchFamily="18" charset="2"/>
            </a:endParaRPr>
          </a:p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1600" b="1" dirty="0">
                <a:solidFill>
                  <a:schemeClr val="tx2"/>
                </a:solidFill>
              </a:rPr>
              <a:t>    (</a:t>
            </a: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(</a:t>
            </a:r>
            <a:r>
              <a:rPr kumimoji="1" lang="en-US" sz="1600" b="1" i="1" dirty="0">
                <a:solidFill>
                  <a:schemeClr val="tx2"/>
                </a:solidFill>
                <a:sym typeface="Symbol" pitchFamily="18" charset="2"/>
              </a:rPr>
              <a:t>borrower </a:t>
            </a:r>
            <a:r>
              <a:rPr lang="en-US" b="1" dirty="0">
                <a:solidFill>
                  <a:schemeClr val="tx2"/>
                </a:solidFill>
              </a:rPr>
              <a:t>⋈ </a:t>
            </a:r>
            <a:r>
              <a:rPr kumimoji="1" lang="en-US" sz="1600" b="1" i="1" dirty="0">
                <a:solidFill>
                  <a:schemeClr val="tx2"/>
                </a:solidFill>
                <a:sym typeface="Symbol" pitchFamily="18" charset="2"/>
              </a:rPr>
              <a:t>loan</a:t>
            </a:r>
            <a:r>
              <a:rPr kumimoji="1" lang="en-US" sz="1600" b="1" dirty="0">
                <a:solidFill>
                  <a:schemeClr val="tx2"/>
                </a:solidFill>
                <a:sym typeface="Symbol" pitchFamily="18" charset="2"/>
              </a:rPr>
              <a:t>)))</a:t>
            </a:r>
          </a:p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sz="1600" dirty="0">
              <a:solidFill>
                <a:schemeClr val="tx2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7889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2" grpId="0" autoUpdateAnimBg="0"/>
      <p:bldP spid="6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1D34D-2226-EAA2-6D19-81F3F8F8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073FEA7-9085-7634-3AD3-2EF5C7086AFD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87AFD7-B363-1D56-DBD2-B3FF8269E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E986AB5-CB1B-2299-9ECE-D07E10711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00150"/>
            <a:ext cx="79121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Find the names of all customers who have a loan at the </a:t>
            </a:r>
            <a:b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</a:b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    </a:t>
            </a:r>
            <a:r>
              <a:rPr kumimoji="1" lang="en-US" sz="2000" dirty="0" err="1">
                <a:solidFill>
                  <a:schemeClr val="tx2"/>
                </a:solidFill>
                <a:sym typeface="Symbol" pitchFamily="18" charset="2"/>
              </a:rPr>
              <a:t>Perryridge</a:t>
            </a: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 branch but do not have an account at any branch of   </a:t>
            </a:r>
            <a:b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</a:b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    the bank.</a:t>
            </a:r>
            <a:endParaRPr lang="en-US" sz="2000" kern="0" dirty="0">
              <a:solidFill>
                <a:srgbClr val="002600"/>
              </a:solidFill>
              <a:latin typeface="Franklin Gothic Book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>
              <a:lnSpc>
                <a:spcPct val="90000"/>
              </a:lnSpc>
              <a:buClr>
                <a:srgbClr val="CC9933"/>
              </a:buClr>
            </a:pPr>
            <a:endParaRPr kumimoji="1" lang="en-US" sz="2000" dirty="0">
              <a:solidFill>
                <a:schemeClr val="tx2"/>
              </a:solidFill>
              <a:latin typeface="Helvetica" pitchFamily="34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26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Monotype Sort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 pitchFamily="18" charset="2"/>
              </a:rPr>
              <a:t>                       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F2D1A1F4-CCF6-C71D-B39C-CE5AA533A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964" y="2266950"/>
            <a:ext cx="8035636" cy="1794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i="1" baseline="-25000" dirty="0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 (</a:t>
            </a:r>
            <a:r>
              <a:rPr kumimoji="1" lang="en-US" i="1" baseline="-25000" dirty="0">
                <a:solidFill>
                  <a:schemeClr val="tx2"/>
                </a:solidFill>
                <a:sym typeface="Symbol" pitchFamily="18" charset="2"/>
              </a:rPr>
              <a:t>branch_name = “Perryridge”</a:t>
            </a:r>
            <a:endParaRPr kumimoji="1" lang="en-US" dirty="0">
              <a:solidFill>
                <a:schemeClr val="tx2"/>
              </a:solidFill>
              <a:sym typeface="Symbol" pitchFamily="18" charset="2"/>
            </a:endParaRPr>
          </a:p>
          <a:p>
            <a:pPr>
              <a:lnSpc>
                <a:spcPct val="13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 (</a:t>
            </a:r>
            <a:r>
              <a:rPr kumimoji="1" lang="en-US" i="1" baseline="-25000" dirty="0">
                <a:solidFill>
                  <a:schemeClr val="tx2"/>
                </a:solidFill>
                <a:sym typeface="Symbol" pitchFamily="18" charset="2"/>
              </a:rPr>
              <a:t>borrower.loan_number = loan.loan_number</a:t>
            </a: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(borrower x loan)))  –  </a:t>
            </a:r>
            <a:r>
              <a:rPr kumimoji="1" lang="en-US" i="1" baseline="-25000" dirty="0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(depositor)</a:t>
            </a:r>
          </a:p>
          <a:p>
            <a:pPr>
              <a:lnSpc>
                <a:spcPct val="13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i="1" baseline="-25000" dirty="0" err="1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 (</a:t>
            </a:r>
            <a:r>
              <a:rPr kumimoji="1" lang="en-US" i="1" baseline="-25000" dirty="0" err="1">
                <a:solidFill>
                  <a:schemeClr val="tx2"/>
                </a:solidFill>
                <a:sym typeface="Symbol" pitchFamily="18" charset="2"/>
              </a:rPr>
              <a:t>branch_name</a:t>
            </a:r>
            <a:r>
              <a:rPr kumimoji="1" lang="en-US" i="1" baseline="-25000" dirty="0">
                <a:solidFill>
                  <a:schemeClr val="tx2"/>
                </a:solidFill>
                <a:sym typeface="Symbol" pitchFamily="18" charset="2"/>
              </a:rPr>
              <a:t> = “</a:t>
            </a:r>
            <a:r>
              <a:rPr kumimoji="1" lang="en-US" i="1" baseline="-25000" dirty="0" err="1">
                <a:solidFill>
                  <a:schemeClr val="tx2"/>
                </a:solidFill>
                <a:sym typeface="Symbol" pitchFamily="18" charset="2"/>
              </a:rPr>
              <a:t>Perryridge</a:t>
            </a:r>
            <a:r>
              <a:rPr kumimoji="1" lang="en-US" i="1" baseline="-25000" dirty="0">
                <a:solidFill>
                  <a:schemeClr val="tx2"/>
                </a:solidFill>
                <a:sym typeface="Symbol" pitchFamily="18" charset="2"/>
              </a:rPr>
              <a:t>”</a:t>
            </a: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 ( (borrower </a:t>
            </a:r>
            <a:r>
              <a:rPr lang="en-US" b="1" dirty="0">
                <a:solidFill>
                  <a:schemeClr val="tx2"/>
                </a:solidFill>
              </a:rPr>
              <a:t>⋈</a:t>
            </a: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 loan)))  –  </a:t>
            </a:r>
            <a:r>
              <a:rPr kumimoji="1" lang="en-US" i="1" baseline="-25000" dirty="0" err="1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dirty="0">
                <a:solidFill>
                  <a:schemeClr val="tx2"/>
                </a:solidFill>
                <a:sym typeface="Symbol" pitchFamily="18" charset="2"/>
              </a:rPr>
              <a:t>(depositor)</a:t>
            </a: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08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FD89-835C-A074-85DB-B7F71540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165D27B-C896-82DA-EC15-C2C83D100B3D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AFBC03-BEA5-854A-A1EB-2F26BB6A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99B56FB-EB84-2A37-F709-02F4594DB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096241"/>
            <a:ext cx="81534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33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Find the names of all customers who have a loan at the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Perryridge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6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branch.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F3589E9B-2E02-BB42-0C53-33C14E45C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2876550"/>
            <a:ext cx="7858125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850900" indent="-3937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5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spcBef>
                <a:spcPct val="35000"/>
              </a:spcBef>
              <a:buClr>
                <a:srgbClr val="336600"/>
              </a:buClr>
              <a:buSzPct val="80000"/>
              <a:buFont typeface="Monotype Sorts" pitchFamily="2" charset="2"/>
              <a:buChar char="l"/>
            </a:pPr>
            <a:r>
              <a:rPr kumimoji="1" lang="en-US" sz="2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 Query 2</a:t>
            </a:r>
          </a:p>
          <a:p>
            <a:pPr lvl="1">
              <a:lnSpc>
                <a:spcPct val="130000"/>
              </a:lnSpc>
              <a:spcBef>
                <a:spcPct val="35000"/>
              </a:spcBef>
              <a:buClr>
                <a:srgbClr val="336600"/>
              </a:buClr>
              <a:buSzPct val="80000"/>
              <a:buFont typeface="Monotype Sorts" pitchFamily="2" charset="2"/>
              <a:buNone/>
            </a:pPr>
            <a:r>
              <a:rPr kumimoji="1" lang="en-US" sz="2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 </a:t>
            </a:r>
            <a:r>
              <a:rPr kumimoji="1" lang="en-US" sz="2000" baseline="-25000" dirty="0" err="1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customer_name</a:t>
            </a:r>
            <a:r>
              <a:rPr kumimoji="1" lang="en-US" sz="2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(</a:t>
            </a:r>
            <a:r>
              <a:rPr kumimoji="1" lang="en-US" sz="2000" baseline="-25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 </a:t>
            </a:r>
            <a:r>
              <a:rPr kumimoji="1" lang="en-US" sz="2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( (</a:t>
            </a:r>
            <a:r>
              <a:rPr kumimoji="1" lang="en-US" sz="2000" baseline="-25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branch_name = “Perryridge” </a:t>
            </a:r>
            <a:r>
              <a:rPr kumimoji="1" lang="en-US" sz="2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(loan)) </a:t>
            </a:r>
            <a:r>
              <a:rPr lang="en-US" sz="2000" b="1" dirty="0">
                <a:solidFill>
                  <a:schemeClr val="tx2"/>
                </a:solidFill>
              </a:rPr>
              <a:t>⋈</a:t>
            </a:r>
            <a:r>
              <a:rPr kumimoji="1" lang="en-US" sz="2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  borrower))</a:t>
            </a:r>
            <a:endParaRPr kumimoji="1" lang="en-US" sz="2000" dirty="0">
              <a:solidFill>
                <a:srgbClr val="002600"/>
              </a:solidFill>
              <a:latin typeface="Helvetica" pitchFamily="34" charset="0"/>
            </a:endParaRPr>
          </a:p>
          <a:p>
            <a:pPr>
              <a:buClr>
                <a:srgbClr val="336600"/>
              </a:buClr>
              <a:buSzPct val="80000"/>
              <a:buFont typeface="Monotype Sorts" pitchFamily="2" charset="2"/>
              <a:buChar char="l"/>
            </a:pPr>
            <a:endParaRPr lang="en-US" sz="2000" dirty="0">
              <a:solidFill>
                <a:srgbClr val="002600"/>
              </a:solidFill>
              <a:latin typeface="Helvetica" pitchFamily="34" charset="0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6D27FF2A-DB2D-0721-53C3-1D4261A30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1793895"/>
            <a:ext cx="8661400" cy="139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93750" indent="-3365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lnSpc>
                <a:spcPct val="120000"/>
              </a:lnSpc>
              <a:spcBef>
                <a:spcPct val="35000"/>
              </a:spcBef>
              <a:buClr>
                <a:srgbClr val="336600"/>
              </a:buClr>
              <a:buSzPct val="80000"/>
              <a:buFont typeface="Monotype Sorts" pitchFamily="2" charset="2"/>
              <a:buChar char="l"/>
            </a:pPr>
            <a:r>
              <a:rPr kumimoji="1" lang="en-US" sz="1600" dirty="0">
                <a:solidFill>
                  <a:srgbClr val="002600"/>
                </a:solidFill>
                <a:latin typeface="Helvetica" pitchFamily="34" charset="0"/>
              </a:rPr>
              <a:t>Query 1</a:t>
            </a:r>
            <a:r>
              <a:rPr kumimoji="1" lang="en-US" sz="2000" dirty="0">
                <a:solidFill>
                  <a:srgbClr val="002600"/>
                </a:solidFill>
                <a:latin typeface="Helvetica" pitchFamily="34" charset="0"/>
              </a:rPr>
              <a:t/>
            </a:r>
            <a:br>
              <a:rPr kumimoji="1" lang="en-US" sz="2000" dirty="0">
                <a:solidFill>
                  <a:srgbClr val="002600"/>
                </a:solidFill>
                <a:latin typeface="Helvetica" pitchFamily="34" charset="0"/>
              </a:rPr>
            </a:br>
            <a:r>
              <a:rPr kumimoji="1" lang="en-US" sz="2000" dirty="0">
                <a:solidFill>
                  <a:srgbClr val="002600"/>
                </a:solidFill>
                <a:latin typeface="Helvetica" pitchFamily="34" charset="0"/>
              </a:rPr>
              <a:t>  </a:t>
            </a:r>
            <a:r>
              <a:rPr kumimoji="1" lang="en-US" sz="18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</a:t>
            </a:r>
            <a:r>
              <a:rPr kumimoji="1" lang="en-US" sz="1800" baseline="-25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customer_name </a:t>
            </a:r>
            <a:r>
              <a:rPr kumimoji="1" lang="en-US" sz="18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(</a:t>
            </a:r>
            <a:r>
              <a:rPr kumimoji="1" lang="en-US" sz="1800" baseline="-25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branch_name = “Perryridge”</a:t>
            </a:r>
            <a:r>
              <a:rPr kumimoji="1" lang="en-US" sz="18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 (</a:t>
            </a:r>
            <a:br>
              <a:rPr kumimoji="1" lang="en-US" sz="18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</a:br>
            <a:r>
              <a:rPr kumimoji="1" lang="en-US" sz="18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  </a:t>
            </a:r>
            <a:r>
              <a:rPr kumimoji="1" lang="en-US" sz="1800" baseline="-250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borrower.loan_number = loan.loan_number </a:t>
            </a:r>
            <a:r>
              <a:rPr kumimoji="1" lang="en-US" sz="18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(borrower x loan)))</a:t>
            </a:r>
          </a:p>
          <a:p>
            <a:endParaRPr lang="en-US" sz="2000" dirty="0">
              <a:solidFill>
                <a:srgbClr val="002600"/>
              </a:solidFill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11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utoUpdateAnimBg="0"/>
      <p:bldP spid="11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C3D8-02BB-0F6F-7DC5-2E02C309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20B187F-89E6-E8CF-BA5E-92E1D7FE1CC6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461EAE-D9AD-8338-2D59-A2DF9807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5A37E43-4209-FF52-4C7C-614358209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096240"/>
            <a:ext cx="8153400" cy="2237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>
              <a:buClr>
                <a:srgbClr val="CC9933"/>
              </a:buClr>
            </a:pP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Find the largest account balance</a:t>
            </a:r>
          </a:p>
          <a:p>
            <a:pPr lvl="1">
              <a:buClr>
                <a:srgbClr val="8F9967"/>
              </a:buClr>
            </a:pP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Strategy:</a:t>
            </a:r>
          </a:p>
          <a:p>
            <a:pPr lvl="2">
              <a:buClr>
                <a:srgbClr val="CC9933"/>
              </a:buClr>
            </a:pP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Find those balances that are </a:t>
            </a:r>
            <a:r>
              <a:rPr lang="en-US" sz="1600" i="1" kern="0" dirty="0">
                <a:solidFill>
                  <a:srgbClr val="002600"/>
                </a:solidFill>
                <a:latin typeface="Franklin Gothic Book"/>
              </a:rPr>
              <a:t>not </a:t>
            </a: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the largest</a:t>
            </a:r>
          </a:p>
          <a:p>
            <a:pPr lvl="3">
              <a:buClr>
                <a:srgbClr val="8F9967"/>
              </a:buClr>
            </a:pP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Rename </a:t>
            </a:r>
            <a:r>
              <a:rPr lang="en-US" sz="1600" i="1" kern="0" dirty="0">
                <a:solidFill>
                  <a:srgbClr val="002600"/>
                </a:solidFill>
                <a:latin typeface="Franklin Gothic Book"/>
              </a:rPr>
              <a:t>account </a:t>
            </a: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relation as </a:t>
            </a:r>
            <a:r>
              <a:rPr lang="en-US" sz="1600" i="1" kern="0" dirty="0">
                <a:solidFill>
                  <a:srgbClr val="002600"/>
                </a:solidFill>
                <a:latin typeface="Franklin Gothic Book"/>
              </a:rPr>
              <a:t>d </a:t>
            </a: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so that we can compare each account balance with all others</a:t>
            </a:r>
          </a:p>
          <a:p>
            <a:pPr lvl="2">
              <a:buClr>
                <a:srgbClr val="CC9933"/>
              </a:buClr>
            </a:pP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Use set difference to find those account balances that were </a:t>
            </a:r>
            <a:r>
              <a:rPr lang="en-US" sz="1600" i="1" kern="0" dirty="0">
                <a:solidFill>
                  <a:srgbClr val="002600"/>
                </a:solidFill>
                <a:latin typeface="Franklin Gothic Book"/>
              </a:rPr>
              <a:t>not</a:t>
            </a:r>
            <a:r>
              <a:rPr lang="en-US" sz="1600" kern="0" dirty="0">
                <a:solidFill>
                  <a:srgbClr val="002600"/>
                </a:solidFill>
                <a:latin typeface="Franklin Gothic Book"/>
              </a:rPr>
              <a:t> found in the earlier step. 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C52306AA-6D5B-0522-34F7-68A0DFC8E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3335019"/>
            <a:ext cx="7331075" cy="102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sz="2800" i="1" baseline="-25000" dirty="0">
                <a:solidFill>
                  <a:schemeClr val="tx2"/>
                </a:solidFill>
                <a:sym typeface="Symbol" pitchFamily="18" charset="2"/>
              </a:rPr>
              <a:t>balance</a:t>
            </a:r>
            <a:r>
              <a:rPr kumimoji="1" lang="en-US" sz="2400" i="1" dirty="0">
                <a:solidFill>
                  <a:schemeClr val="tx2"/>
                </a:solidFill>
                <a:sym typeface="Symbol" pitchFamily="18" charset="2"/>
              </a:rPr>
              <a:t>(account) </a:t>
            </a: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- </a:t>
            </a:r>
            <a:r>
              <a:rPr kumimoji="1" lang="en-US" sz="2800" i="1" baseline="-25000" dirty="0">
                <a:solidFill>
                  <a:schemeClr val="tx2"/>
                </a:solidFill>
                <a:sym typeface="Symbol" pitchFamily="18" charset="2"/>
              </a:rPr>
              <a:t>account.balance</a:t>
            </a:r>
            <a:endParaRPr kumimoji="1" lang="en-US" sz="2800" dirty="0">
              <a:solidFill>
                <a:schemeClr val="tx2"/>
              </a:solidFill>
              <a:sym typeface="Symbol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2400" dirty="0">
                <a:solidFill>
                  <a:schemeClr val="tx2"/>
                </a:solidFill>
                <a:sym typeface="Symbol" pitchFamily="18" charset="2"/>
              </a:rPr>
              <a:t>    (</a:t>
            </a:r>
            <a:r>
              <a:rPr kumimoji="1" lang="en-US" sz="2800" i="1" baseline="-25000" dirty="0">
                <a:solidFill>
                  <a:schemeClr val="tx2"/>
                </a:solidFill>
                <a:sym typeface="Symbol" pitchFamily="18" charset="2"/>
              </a:rPr>
              <a:t>account.balance &lt; d.balance</a:t>
            </a:r>
            <a:r>
              <a:rPr kumimoji="1" lang="en-US" sz="2400" i="1" dirty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(</a:t>
            </a:r>
            <a:r>
              <a:rPr kumimoji="1" lang="en-US" sz="2000" i="1" dirty="0" smtClean="0">
                <a:solidFill>
                  <a:schemeClr val="tx2"/>
                </a:solidFill>
                <a:sym typeface="Symbol" pitchFamily="18" charset="2"/>
              </a:rPr>
              <a:t>account</a:t>
            </a:r>
            <a:r>
              <a:rPr kumimoji="1" lang="en-US" sz="2400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 </a:t>
            </a:r>
            <a:r>
              <a:rPr kumimoji="1" lang="en-US" sz="2400" dirty="0">
                <a:solidFill>
                  <a:schemeClr val="accent1"/>
                </a:solidFill>
                <a:latin typeface="Helvetica" pitchFamily="34" charset="0"/>
                <a:sym typeface="Symbol" pitchFamily="18" charset="2"/>
              </a:rPr>
              <a:t>x</a:t>
            </a:r>
            <a:r>
              <a:rPr kumimoji="1" lang="en-US" sz="2400" i="1" dirty="0" smtClean="0">
                <a:solidFill>
                  <a:schemeClr val="tx2"/>
                </a:solidFill>
                <a:sym typeface="Symbol" pitchFamily="18" charset="2"/>
              </a:rPr>
              <a:t>  </a:t>
            </a:r>
            <a:r>
              <a:rPr kumimoji="1" lang="en-US" sz="2400" i="1" dirty="0">
                <a:solidFill>
                  <a:schemeClr val="tx2"/>
                </a:solidFill>
                <a:latin typeface="Symbol" pitchFamily="18" charset="2"/>
                <a:sym typeface="Symbol" pitchFamily="18" charset="2"/>
              </a:rPr>
              <a:t>r</a:t>
            </a:r>
            <a:r>
              <a:rPr kumimoji="1" lang="en-US" sz="2800" i="1" baseline="-25000" dirty="0">
                <a:solidFill>
                  <a:schemeClr val="tx2"/>
                </a:solidFill>
                <a:sym typeface="Symbol" pitchFamily="18" charset="2"/>
              </a:rPr>
              <a:t>d</a:t>
            </a:r>
            <a:r>
              <a:rPr kumimoji="1" lang="en-US" sz="2400" i="1" dirty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kumimoji="1" lang="en-US" sz="2000" i="1" dirty="0">
                <a:solidFill>
                  <a:schemeClr val="tx2"/>
                </a:solidFill>
                <a:sym typeface="Symbol" pitchFamily="18" charset="2"/>
              </a:rPr>
              <a:t>(account</a:t>
            </a:r>
            <a:r>
              <a:rPr kumimoji="1" lang="en-US" sz="2000" dirty="0">
                <a:solidFill>
                  <a:schemeClr val="tx2"/>
                </a:solidFill>
                <a:sym typeface="Symbol" pitchFamily="18" charset="2"/>
              </a:rPr>
              <a:t>)))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7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AFE8-F34E-7617-243B-377CEA3A9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1917FE4-B11F-C501-CF5D-96D060F81510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8A5EB8-DDC0-0AFC-1F75-2A3B58C47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802A954-64E7-2324-0443-3DA14F8E4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096240"/>
            <a:ext cx="8153400" cy="2237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>
              <a:lnSpc>
                <a:spcPct val="120000"/>
              </a:lnSpc>
              <a:buClr>
                <a:srgbClr val="CC9933"/>
              </a:buClr>
            </a:pPr>
            <a:r>
              <a:rPr lang="en-US" kern="0" dirty="0">
                <a:solidFill>
                  <a:srgbClr val="002600"/>
                </a:solidFill>
                <a:latin typeface="Franklin Gothic Book"/>
              </a:rPr>
              <a:t>Find the name of all customers who have a loan at the bank and the loan amount</a:t>
            </a:r>
          </a:p>
        </p:txBody>
      </p:sp>
      <p:sp>
        <p:nvSpPr>
          <p:cNvPr id="2" name="Text Box 11">
            <a:extLst>
              <a:ext uri="{FF2B5EF4-FFF2-40B4-BE49-F238E27FC236}">
                <a16:creationId xmlns:a16="http://schemas.microsoft.com/office/drawing/2014/main" id="{2D2FC06A-B674-D0BB-AC23-04C5108D6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373312"/>
            <a:ext cx="756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sz="2000" b="1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sz="2400" b="1" i="1" baseline="-25000" dirty="0">
                <a:solidFill>
                  <a:schemeClr val="tx2"/>
                </a:solidFill>
                <a:sym typeface="Symbol" pitchFamily="18" charset="2"/>
              </a:rPr>
              <a:t>customer_name, loan_number, amount </a:t>
            </a:r>
            <a:r>
              <a:rPr kumimoji="1" lang="en-US" sz="2000" b="1" i="1" dirty="0">
                <a:solidFill>
                  <a:schemeClr val="tx2"/>
                </a:solidFill>
                <a:sym typeface="Symbol" pitchFamily="18" charset="2"/>
              </a:rPr>
              <a:t>(borrower </a:t>
            </a:r>
            <a:r>
              <a:rPr lang="en-US" sz="2000" b="1" dirty="0">
                <a:solidFill>
                  <a:schemeClr val="tx2"/>
                </a:solidFill>
              </a:rPr>
              <a:t>⋈</a:t>
            </a:r>
            <a:r>
              <a:rPr kumimoji="1" lang="en-US" sz="2000" b="1" i="1" dirty="0">
                <a:solidFill>
                  <a:schemeClr val="tx2"/>
                </a:solidFill>
                <a:sym typeface="Symbol" pitchFamily="18" charset="2"/>
              </a:rPr>
              <a:t>   loan)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58DB6AE8-9845-A1F2-1207-57B59FB58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842471"/>
            <a:ext cx="75692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sz="2000" b="1" dirty="0">
                <a:solidFill>
                  <a:schemeClr val="tx2"/>
                </a:solidFill>
                <a:sym typeface="Symbol" pitchFamily="18" charset="2"/>
              </a:rPr>
              <a:t></a:t>
            </a:r>
            <a:r>
              <a:rPr kumimoji="1" lang="en-US" sz="2400" b="1" i="1" baseline="-25000" dirty="0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sz="2000" b="1" dirty="0">
                <a:solidFill>
                  <a:schemeClr val="tx2"/>
                </a:solidFill>
                <a:sym typeface="Symbol" pitchFamily="18" charset="2"/>
              </a:rPr>
              <a:t> (</a:t>
            </a:r>
            <a:r>
              <a:rPr kumimoji="1" lang="en-US" sz="2000" b="1" i="1" dirty="0">
                <a:solidFill>
                  <a:schemeClr val="tx2"/>
                </a:solidFill>
                <a:sym typeface="Symbol" pitchFamily="18" charset="2"/>
              </a:rPr>
              <a:t>borrower</a:t>
            </a:r>
            <a:r>
              <a:rPr kumimoji="1" lang="en-US" sz="2000" b="1" dirty="0">
                <a:solidFill>
                  <a:schemeClr val="tx2"/>
                </a:solidFill>
                <a:sym typeface="Symbol" pitchFamily="18" charset="2"/>
              </a:rPr>
              <a:t>)  </a:t>
            </a:r>
            <a:r>
              <a:rPr kumimoji="1" lang="en-US" sz="2400" b="1" i="1" baseline="-25000" dirty="0">
                <a:solidFill>
                  <a:schemeClr val="tx2"/>
                </a:solidFill>
                <a:sym typeface="Symbol" pitchFamily="18" charset="2"/>
              </a:rPr>
              <a:t>customer_name</a:t>
            </a:r>
            <a:r>
              <a:rPr kumimoji="1" lang="en-US" sz="2000" b="1" dirty="0">
                <a:solidFill>
                  <a:schemeClr val="tx2"/>
                </a:solidFill>
                <a:sym typeface="Symbol" pitchFamily="18" charset="2"/>
              </a:rPr>
              <a:t> (</a:t>
            </a:r>
            <a:r>
              <a:rPr kumimoji="1" lang="en-US" sz="2000" b="1" i="1" dirty="0">
                <a:solidFill>
                  <a:schemeClr val="tx2"/>
                </a:solidFill>
                <a:sym typeface="Symbol" pitchFamily="18" charset="2"/>
              </a:rPr>
              <a:t>depositor</a:t>
            </a:r>
            <a:r>
              <a:rPr kumimoji="1" lang="en-US" sz="2000" b="1" dirty="0">
                <a:solidFill>
                  <a:schemeClr val="tx2"/>
                </a:solidFill>
                <a:sym typeface="Symbol" pitchFamily="18" charset="2"/>
              </a:rPr>
              <a:t>)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endParaRPr lang="en-US" sz="1800" b="1" dirty="0">
              <a:solidFill>
                <a:schemeClr val="tx2"/>
              </a:solidFill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299CFCB5-D685-AECF-A719-5F26B22C1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010583"/>
            <a:ext cx="7569200" cy="1435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>
              <a:spcBef>
                <a:spcPct val="35000"/>
              </a:spcBef>
              <a:buClr>
                <a:srgbClr val="002600"/>
              </a:buClr>
              <a:buSzPct val="90000"/>
              <a:buFont typeface="Monotype Sorts" pitchFamily="2" charset="2"/>
              <a:buChar char="n"/>
              <a:defRPr/>
            </a:pPr>
            <a:r>
              <a:rPr kumimoji="1" lang="en-US" dirty="0">
                <a:solidFill>
                  <a:srgbClr val="002600"/>
                </a:solidFill>
                <a:latin typeface="Helvetica" pitchFamily="34" charset="0"/>
                <a:sym typeface="Symbol" pitchFamily="18" charset="2"/>
              </a:rPr>
              <a:t>Find the names of all customers who have a loan and an account at bank.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endParaRPr kumimoji="1"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15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utoUpdateAnimBg="0"/>
      <p:bldP spid="14" grpId="0" autoUpdateAnimBg="0"/>
      <p:bldP spid="15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92AE-AB51-D394-23E8-B0EAC46C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E3DDFA4-7CF5-6711-1859-AD2C031C741C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09DDC3-827E-A9CC-C50B-D050D0013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954E257-1274-973F-55F6-9D384446A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52550"/>
            <a:ext cx="8153400" cy="2237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just">
              <a:buClr>
                <a:srgbClr val="CC9933"/>
              </a:buClr>
            </a:pPr>
            <a:r>
              <a:rPr lang="en-US" sz="2800" kern="0" dirty="0">
                <a:solidFill>
                  <a:srgbClr val="002600"/>
                </a:solidFill>
                <a:latin typeface="Franklin Gothic Book"/>
              </a:rPr>
              <a:t>Find all customers who have an account from at </a:t>
            </a:r>
            <a:r>
              <a:rPr lang="en-US" sz="2800" kern="0" dirty="0" smtClean="0">
                <a:solidFill>
                  <a:srgbClr val="002600"/>
                </a:solidFill>
                <a:latin typeface="Franklin Gothic Book"/>
              </a:rPr>
              <a:t>both </a:t>
            </a:r>
            <a:r>
              <a:rPr lang="en-US" sz="2800" kern="0" dirty="0">
                <a:solidFill>
                  <a:srgbClr val="002600"/>
                </a:solidFill>
                <a:latin typeface="Franklin Gothic Book"/>
              </a:rPr>
              <a:t>the “Downtown” and the Uptown” branches.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12E63DBD-7A6F-35BC-658E-98DA8ABBD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30" y="2607546"/>
            <a:ext cx="8885830" cy="98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92150" indent="-2349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2">
              <a:lnSpc>
                <a:spcPct val="120000"/>
              </a:lnSpc>
              <a:spcBef>
                <a:spcPct val="35000"/>
              </a:spcBef>
              <a:buClr>
                <a:srgbClr val="000099"/>
              </a:buClr>
              <a:buSzPct val="105000"/>
              <a:buFont typeface="Wingdings 3" pitchFamily="18" charset="2"/>
              <a:buNone/>
            </a:pP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</a:t>
            </a:r>
            <a:r>
              <a:rPr kumimoji="1" lang="en-US" sz="2200" b="1" i="1" baseline="-25000" dirty="0">
                <a:solidFill>
                  <a:schemeClr val="tx2"/>
                </a:solidFill>
                <a:latin typeface="Helvetica" pitchFamily="34" charset="0"/>
              </a:rPr>
              <a:t>customer_name 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</a:rPr>
              <a:t>(</a:t>
            </a:r>
            <a:r>
              <a:rPr kumimoji="1" lang="en-US" sz="22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</a:t>
            </a:r>
            <a:r>
              <a:rPr kumimoji="1" lang="en-US" sz="2100" b="1" i="1" baseline="-25000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branch_name </a:t>
            </a:r>
            <a:r>
              <a:rPr kumimoji="1" lang="en-US" sz="2100" b="1" baseline="-25000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= “Downtown</a:t>
            </a:r>
            <a:r>
              <a:rPr kumimoji="1" lang="en-US" sz="1800" b="1" baseline="-25000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” 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(</a:t>
            </a:r>
            <a:r>
              <a:rPr kumimoji="1" lang="en-US" sz="1800" b="1" i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depositor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 </a:t>
            </a:r>
            <a:r>
              <a:rPr lang="en-US" sz="1800" b="1" dirty="0">
                <a:solidFill>
                  <a:schemeClr val="tx2"/>
                </a:solidFill>
              </a:rPr>
              <a:t>⋈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    </a:t>
            </a:r>
            <a:r>
              <a:rPr kumimoji="1" lang="en-US" sz="1800" b="1" i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account 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)) </a:t>
            </a:r>
          </a:p>
          <a:p>
            <a:pPr lvl="2">
              <a:lnSpc>
                <a:spcPct val="120000"/>
              </a:lnSpc>
              <a:spcBef>
                <a:spcPct val="35000"/>
              </a:spcBef>
              <a:buClr>
                <a:srgbClr val="000099"/>
              </a:buClr>
              <a:buSzPct val="105000"/>
              <a:buFont typeface="Wingdings 3" pitchFamily="18" charset="2"/>
              <a:buNone/>
            </a:pP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        </a:t>
            </a:r>
            <a:r>
              <a:rPr kumimoji="1" lang="en-US" sz="2100" b="1" i="1" baseline="-25000" dirty="0">
                <a:solidFill>
                  <a:schemeClr val="tx2"/>
                </a:solidFill>
                <a:latin typeface="Helvetica" pitchFamily="34" charset="0"/>
              </a:rPr>
              <a:t>customer_name 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</a:rPr>
              <a:t>(</a:t>
            </a:r>
            <a:r>
              <a:rPr kumimoji="1" lang="en-US" sz="22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</a:t>
            </a:r>
            <a:r>
              <a:rPr kumimoji="1" lang="en-US" sz="2100" b="1" i="1" baseline="-25000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branch_name </a:t>
            </a:r>
            <a:r>
              <a:rPr kumimoji="1" lang="en-US" sz="2100" b="1" baseline="-25000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= “Uptown</a:t>
            </a:r>
            <a:r>
              <a:rPr kumimoji="1" lang="en-US" sz="1800" b="1" baseline="-25000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” 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(</a:t>
            </a:r>
            <a:r>
              <a:rPr kumimoji="1" lang="en-US" sz="1800" b="1" i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depositor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 </a:t>
            </a:r>
            <a:r>
              <a:rPr lang="en-US" sz="1800" b="1" dirty="0">
                <a:solidFill>
                  <a:schemeClr val="tx2"/>
                </a:solidFill>
              </a:rPr>
              <a:t>⋈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 </a:t>
            </a:r>
            <a:r>
              <a:rPr kumimoji="1" lang="en-US" sz="1800" b="1" i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account</a:t>
            </a:r>
            <a:r>
              <a:rPr kumimoji="1" lang="en-US" sz="1800" b="1" dirty="0">
                <a:solidFill>
                  <a:schemeClr val="tx2"/>
                </a:solidFill>
                <a:latin typeface="Helvetica" pitchFamily="34" charset="0"/>
                <a:sym typeface="Symbol" pitchFamily="18" charset="2"/>
              </a:rPr>
              <a:t>))</a:t>
            </a:r>
            <a:endParaRPr lang="en-US" sz="1800" b="1" dirty="0">
              <a:solidFill>
                <a:schemeClr val="tx2"/>
              </a:solidFill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00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025B6-E222-A1B1-F23F-525161B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8E67BE4-D094-9B8E-12E9-DFEA74907221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FCB81E-00DE-BA62-71C4-C170B863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C2E77-4642-FC52-28FB-6F65BAAA2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49452"/>
            <a:ext cx="7156715" cy="37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8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6096-925C-46A1-E3C8-25DE52F6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70C0734-C7BC-7506-1944-143BCF265293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C9BF7B-FC9B-43BD-EDB7-78820A34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5812B-FF5A-5119-6A43-8C4E79951D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958"/>
          <a:stretch/>
        </p:blipFill>
        <p:spPr>
          <a:xfrm>
            <a:off x="1295400" y="1123950"/>
            <a:ext cx="7156715" cy="1447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F07814-3975-FCC1-F1F6-5C22C127507A}"/>
              </a:ext>
            </a:extLst>
          </p:cNvPr>
          <p:cNvSpPr txBox="1"/>
          <p:nvPr/>
        </p:nvSpPr>
        <p:spPr>
          <a:xfrm>
            <a:off x="1264920" y="2571750"/>
            <a:ext cx="7315200" cy="2275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Queries: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i="0" dirty="0">
                <a:solidFill>
                  <a:srgbClr val="800080"/>
                </a:solidFill>
                <a:effectLst/>
                <a:latin typeface="book antiqua" panose="02040602050305030304" pitchFamily="18" charset="0"/>
              </a:rPr>
              <a:t>Find only the flight numbers for passenger with </a:t>
            </a:r>
            <a:r>
              <a:rPr lang="en-US" sz="1400" b="1" i="0" dirty="0" err="1">
                <a:solidFill>
                  <a:srgbClr val="800080"/>
                </a:solidFill>
                <a:effectLst/>
                <a:latin typeface="book antiqua" panose="02040602050305030304" pitchFamily="18" charset="0"/>
              </a:rPr>
              <a:t>pid</a:t>
            </a:r>
            <a:r>
              <a:rPr lang="en-US" sz="1400" b="1" i="0" dirty="0">
                <a:solidFill>
                  <a:srgbClr val="800080"/>
                </a:solidFill>
                <a:effectLst/>
                <a:latin typeface="book antiqua" panose="02040602050305030304" pitchFamily="18" charset="0"/>
              </a:rPr>
              <a:t> 123 for flights to Chennai before 06/11/2020.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i="0" dirty="0">
                <a:solidFill>
                  <a:srgbClr val="800080"/>
                </a:solidFill>
                <a:effectLst/>
                <a:latin typeface="book antiqua" panose="02040602050305030304" pitchFamily="18" charset="0"/>
              </a:rPr>
              <a:t>Find the agency names for agencies that located in the same city as passenger with passenger id 123.</a:t>
            </a:r>
            <a:endParaRPr lang="en-US" sz="1400" b="1" dirty="0">
              <a:solidFill>
                <a:srgbClr val="800080"/>
              </a:solidFill>
              <a:latin typeface="book antiqua" panose="0204060205030503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i="0" dirty="0">
                <a:solidFill>
                  <a:srgbClr val="800080"/>
                </a:solidFill>
                <a:effectLst/>
                <a:latin typeface="book antiqua" panose="02040602050305030304" pitchFamily="18" charset="0"/>
              </a:rPr>
              <a:t>Get the details of flights that are scheduled on both dates 01/12/2020 and 02/12/2020 at 16:00 hours.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589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FD40-2CB2-76B1-F7DC-99902FF73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BF61D72-0B5D-5614-D8A9-0771CE643C64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9285B8-DE42-9736-6E43-F6BAF12F9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0793A-E53B-5F17-40AC-3DC8307A8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958"/>
          <a:stretch/>
        </p:blipFill>
        <p:spPr>
          <a:xfrm>
            <a:off x="1295400" y="1123950"/>
            <a:ext cx="7156715" cy="1447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2C46B3-B7BA-C924-7A13-F459AAE07AF1}"/>
              </a:ext>
            </a:extLst>
          </p:cNvPr>
          <p:cNvSpPr txBox="1"/>
          <p:nvPr/>
        </p:nvSpPr>
        <p:spPr>
          <a:xfrm>
            <a:off x="1295400" y="2724150"/>
            <a:ext cx="7315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Queries: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i="0" dirty="0">
                <a:solidFill>
                  <a:srgbClr val="800080"/>
                </a:solidFill>
                <a:effectLst/>
                <a:latin typeface="book antiqua" panose="02040602050305030304" pitchFamily="18" charset="0"/>
              </a:rPr>
              <a:t>Get the details of flights that are scheduled on either of the dates 01/12/2020 or 02/12/2020 or both at 16:00 hours.</a:t>
            </a:r>
          </a:p>
          <a:p>
            <a:endParaRPr lang="en-US" sz="1600" b="1" i="0" dirty="0">
              <a:solidFill>
                <a:srgbClr val="800080"/>
              </a:solidFill>
              <a:effectLst/>
              <a:latin typeface="book antiqua" panose="0204060205030503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i="0" dirty="0">
                <a:solidFill>
                  <a:srgbClr val="800080"/>
                </a:solidFill>
                <a:effectLst/>
                <a:latin typeface="book antiqua" panose="02040602050305030304" pitchFamily="18" charset="0"/>
              </a:rPr>
              <a:t>Find the agency names for agencies who do not have any bookings for passenger with id 123.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1760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513D-F9BC-9217-DD20-28208613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C4F2A6D-B9C6-ED2C-9A52-0F21A6240CB3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391D37-8822-9372-E53B-61C53A18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38150"/>
            <a:ext cx="2854656" cy="246221"/>
          </a:xfrm>
        </p:spPr>
        <p:txBody>
          <a:bodyPr/>
          <a:lstStyle/>
          <a:p>
            <a:r>
              <a:rPr lang="en-US" sz="1600" dirty="0"/>
              <a:t>Aggregate Operation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873EAF-DBFD-3B73-926A-BBD7FBC61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47750"/>
            <a:ext cx="7086599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0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0872-762A-DD2C-5B39-4EFE01EA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9E86FAF-9671-1333-8123-EB1D99EBDFAD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3C54E7-D805-60BC-8000-385D7DF0A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38150"/>
            <a:ext cx="2854656" cy="246221"/>
          </a:xfrm>
        </p:spPr>
        <p:txBody>
          <a:bodyPr/>
          <a:lstStyle/>
          <a:p>
            <a:r>
              <a:rPr lang="en-US" sz="1600" dirty="0"/>
              <a:t>Aggregate Operation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D145B-4B5B-A189-5442-DCE5A9A6E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02"/>
          <a:stretch/>
        </p:blipFill>
        <p:spPr>
          <a:xfrm>
            <a:off x="1524000" y="1106328"/>
            <a:ext cx="6530906" cy="369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5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1D1-2EB2-6298-0411-F593264D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DC1A577-F726-F471-5ABA-462B445D44D4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FB2D91-9888-FF8B-94A1-B38619C06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38150"/>
            <a:ext cx="2854656" cy="246221"/>
          </a:xfrm>
        </p:spPr>
        <p:txBody>
          <a:bodyPr/>
          <a:lstStyle/>
          <a:p>
            <a:r>
              <a:rPr lang="en-US" sz="1600" dirty="0"/>
              <a:t>Aggregate Operation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E3A4E-0E78-891C-D017-8BA102357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648" y="1123950"/>
            <a:ext cx="5570703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5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071B-3FB2-105F-58F5-76265E34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EE84587-62E4-68C9-E2D9-369A631F81E2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44AD26-F54B-AF61-071B-7DF28A28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38150"/>
            <a:ext cx="2854656" cy="246221"/>
          </a:xfrm>
        </p:spPr>
        <p:txBody>
          <a:bodyPr/>
          <a:lstStyle/>
          <a:p>
            <a:r>
              <a:rPr lang="en-US" sz="1600" dirty="0"/>
              <a:t>Aggregate Operation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0A2B9-0104-0BAC-57F3-A720B7BDD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202" y="1306720"/>
            <a:ext cx="6637595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9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DE92B-1698-A851-946D-2A85E88D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4711550-ADA6-91AB-8D59-6D3B0BBD3C4D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3423AD-0373-12C1-421E-8C608820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38150"/>
            <a:ext cx="2854656" cy="246221"/>
          </a:xfrm>
        </p:spPr>
        <p:txBody>
          <a:bodyPr/>
          <a:lstStyle/>
          <a:p>
            <a:r>
              <a:rPr lang="en-US" sz="1600" dirty="0"/>
              <a:t>Aggregate Operation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C4F71B-0B85-975F-E86C-F6CEDE23B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76" y="1123950"/>
            <a:ext cx="5601185" cy="21718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7777AE-6659-3242-C4CC-53EC6DF8D4FE}"/>
              </a:ext>
            </a:extLst>
          </p:cNvPr>
          <p:cNvSpPr txBox="1"/>
          <p:nvPr/>
        </p:nvSpPr>
        <p:spPr>
          <a:xfrm>
            <a:off x="1143000" y="3295838"/>
            <a:ext cx="73152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Average Salary per Department</a:t>
            </a:r>
          </a:p>
          <a:p>
            <a:r>
              <a:rPr lang="en-US" dirty="0"/>
              <a:t>Relational Algebra Expression:</a:t>
            </a:r>
          </a:p>
          <a:p>
            <a:r>
              <a:rPr lang="en-US" dirty="0"/>
              <a:t> Dept </a:t>
            </a:r>
            <a:r>
              <a:rPr lang="en-US" sz="3200" dirty="0"/>
              <a:t>g</a:t>
            </a:r>
            <a:r>
              <a:rPr lang="en-US" dirty="0"/>
              <a:t> AVG(Salary)(Employee)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A51ED95-6C6E-7764-B465-1D83A2231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44857"/>
            <a:ext cx="4191000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1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7BEA4-9B05-480D-B301-B5AA64C2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4019F71-18AB-5390-A61A-50BE5CA1F16B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BEEFF0-2528-331A-F939-959F184ED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38150"/>
            <a:ext cx="2854656" cy="246221"/>
          </a:xfrm>
        </p:spPr>
        <p:txBody>
          <a:bodyPr/>
          <a:lstStyle/>
          <a:p>
            <a:r>
              <a:rPr lang="en-US" sz="1600" dirty="0"/>
              <a:t>Aggregate Operation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7EAFE3-E1D2-B3E0-CA57-7BDE48D04784}"/>
              </a:ext>
            </a:extLst>
          </p:cNvPr>
          <p:cNvSpPr txBox="1"/>
          <p:nvPr/>
        </p:nvSpPr>
        <p:spPr>
          <a:xfrm>
            <a:off x="1981200" y="1432977"/>
            <a:ext cx="54102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Total Salary and Count of Employees per Department</a:t>
            </a:r>
          </a:p>
          <a:p>
            <a:r>
              <a:rPr lang="en-US" dirty="0"/>
              <a:t>Algebra Expression:</a:t>
            </a:r>
          </a:p>
          <a:p>
            <a:r>
              <a:rPr lang="en-US" dirty="0"/>
              <a:t> Dept </a:t>
            </a:r>
            <a:r>
              <a:rPr lang="en-US" sz="3200" dirty="0"/>
              <a:t>g</a:t>
            </a:r>
            <a:r>
              <a:rPr lang="en-US" dirty="0"/>
              <a:t> SUM(Salary),COUNT(</a:t>
            </a:r>
            <a:r>
              <a:rPr lang="en-US" dirty="0" err="1"/>
              <a:t>EmpID</a:t>
            </a:r>
            <a:r>
              <a:rPr lang="en-US" dirty="0"/>
              <a:t>)(Employee)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8FE09-477D-A8A4-D6BE-02E6678E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97" y="2876550"/>
            <a:ext cx="5570703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3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C2E22-0D09-B45C-D61B-FD852B98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DC630E7-C662-8545-E664-7BCF5B53FD85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07C27F-91EF-3C59-D61C-A42C7D821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5B47B5-9A73-C903-607A-7FFFD02165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564"/>
          <a:stretch/>
        </p:blipFill>
        <p:spPr>
          <a:xfrm>
            <a:off x="1295400" y="1276350"/>
            <a:ext cx="7108434" cy="34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4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42F1-B3D9-FD53-2524-1B9CD55C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D133F7C-C980-EB5A-DF2F-57B7838A00DA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73869E-F31B-78E1-042C-5E68E0DB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C4ED4-D7E7-9884-8B1A-8FC5F5E5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20" y="1123950"/>
            <a:ext cx="6685638" cy="371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5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1A07-FEA0-BBFB-359C-67B06BEC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D4FD660-48DE-CA17-3558-DDCE0603A20C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1E4356-1D10-E172-8127-7106CAAB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B04272-DF5B-B986-D198-EC62B7EA2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892459"/>
            <a:ext cx="7010400" cy="404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3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C003-8FB4-BB88-C49B-DF2EDEEC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4AB81CC-B0C2-665D-16BC-07F50303FA9B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0700D1-AA22-FE94-C1B6-3818C344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B414A-76BF-1C54-3F0B-74E4015C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44" y="895350"/>
            <a:ext cx="6943507" cy="397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ABDF-34FC-1EE3-2841-8FCADD66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037891C-B2A5-967C-9F3D-64FE7F9A8BC4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0EB943-01A5-9925-C014-3815F466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FCE706-DBC5-22B6-FCFF-FD8E9DBB0E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082"/>
          <a:stretch/>
        </p:blipFill>
        <p:spPr>
          <a:xfrm>
            <a:off x="914400" y="1104193"/>
            <a:ext cx="8040881" cy="276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5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4B04E-DAE2-B8A1-9084-6809BAFF9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45C0A65-1ABE-85CB-887E-54448CDE6F32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2CBF4E-C69C-C5D9-6F08-ED939DA4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2C98C6-023D-310E-FF5D-4A2214CDC8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3" b="59826"/>
          <a:stretch/>
        </p:blipFill>
        <p:spPr>
          <a:xfrm>
            <a:off x="838200" y="1129664"/>
            <a:ext cx="7848600" cy="1615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E73A19-87FE-B978-573C-086C9760D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463" t="65471" r="2463" b="20348"/>
          <a:stretch/>
        </p:blipFill>
        <p:spPr>
          <a:xfrm>
            <a:off x="647700" y="3181350"/>
            <a:ext cx="7848600" cy="60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AD5434-568B-A3F4-24D9-CAD39366F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87780"/>
            <a:ext cx="6576630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9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C2E22-0D09-B45C-D61B-FD852B98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DC630E7-C662-8545-E664-7BCF5B53FD85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07C27F-91EF-3C59-D61C-A42C7D821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5B47B5-9A73-C903-607A-7FFFD02165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564"/>
          <a:stretch/>
        </p:blipFill>
        <p:spPr>
          <a:xfrm>
            <a:off x="1295400" y="1276350"/>
            <a:ext cx="7108434" cy="34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9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142FE-63FE-127C-BC85-4185CD2F8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65645D6-CA4C-E6B9-5731-B3BE716B30D6}"/>
              </a:ext>
            </a:extLst>
          </p:cNvPr>
          <p:cNvSpPr txBox="1"/>
          <p:nvPr/>
        </p:nvSpPr>
        <p:spPr>
          <a:xfrm>
            <a:off x="237845" y="246634"/>
            <a:ext cx="1492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591785-D980-C1A5-A0C8-ACE2206D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2854656" cy="246221"/>
          </a:xfrm>
        </p:spPr>
        <p:txBody>
          <a:bodyPr/>
          <a:lstStyle/>
          <a:p>
            <a:r>
              <a:rPr lang="en-US" sz="1600" dirty="0"/>
              <a:t>Example Queries</a:t>
            </a:r>
          </a:p>
        </p:txBody>
      </p:sp>
      <p:pic>
        <p:nvPicPr>
          <p:cNvPr id="4098" name="Picture 2" descr="a cartoon of spongebob squarepants giving a thumbs up and the words problem solved .">
            <a:extLst>
              <a:ext uri="{FF2B5EF4-FFF2-40B4-BE49-F238E27FC236}">
                <a16:creationId xmlns:a16="http://schemas.microsoft.com/office/drawing/2014/main" id="{34C1B99A-47BE-8A65-CD29-90FE9E979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099617"/>
            <a:ext cx="4876800" cy="359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49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1212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slide1</Template>
  <TotalTime>8122</TotalTime>
  <Words>2472</Words>
  <Application>Microsoft Office PowerPoint</Application>
  <PresentationFormat>On-screen Show (16:9)</PresentationFormat>
  <Paragraphs>511</Paragraphs>
  <Slides>68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83" baseType="lpstr">
      <vt:lpstr>MS PGothic</vt:lpstr>
      <vt:lpstr>Aptos</vt:lpstr>
      <vt:lpstr>Arial</vt:lpstr>
      <vt:lpstr>Book Antiqua</vt:lpstr>
      <vt:lpstr>Calibri</vt:lpstr>
      <vt:lpstr>Franklin Gothic Book</vt:lpstr>
      <vt:lpstr>Helvetica</vt:lpstr>
      <vt:lpstr>Monotype Sorts</vt:lpstr>
      <vt:lpstr>Symbol</vt:lpstr>
      <vt:lpstr>Times New Roman</vt:lpstr>
      <vt:lpstr>Trebuchet MS</vt:lpstr>
      <vt:lpstr>Wingdings</vt:lpstr>
      <vt:lpstr>Wingdings 3</vt:lpstr>
      <vt:lpstr>Office Theme</vt:lpstr>
      <vt:lpstr>Equation</vt:lpstr>
      <vt:lpstr>PowerPoint Presentation</vt:lpstr>
      <vt:lpstr>Relational Query Language</vt:lpstr>
      <vt:lpstr>Relational Algebra</vt:lpstr>
      <vt:lpstr>Select Operation</vt:lpstr>
      <vt:lpstr>Select Operation</vt:lpstr>
      <vt:lpstr>Select Operation</vt:lpstr>
      <vt:lpstr>Project Operation</vt:lpstr>
      <vt:lpstr>Project Operation</vt:lpstr>
      <vt:lpstr>Project Operation</vt:lpstr>
      <vt:lpstr>Project Operation</vt:lpstr>
      <vt:lpstr>Composition of Relational Operations</vt:lpstr>
      <vt:lpstr>Rename Operation</vt:lpstr>
      <vt:lpstr>Rename Operation</vt:lpstr>
      <vt:lpstr>Rename Operation</vt:lpstr>
      <vt:lpstr>Rename Operation</vt:lpstr>
      <vt:lpstr>Rename Operation</vt:lpstr>
      <vt:lpstr>Union Operation</vt:lpstr>
      <vt:lpstr>Union Operation</vt:lpstr>
      <vt:lpstr>Union Operation</vt:lpstr>
      <vt:lpstr>Union Operation</vt:lpstr>
      <vt:lpstr>Intersection Operation</vt:lpstr>
      <vt:lpstr>Intersection Operation</vt:lpstr>
      <vt:lpstr>Set Difference Operation</vt:lpstr>
      <vt:lpstr>Difference Operation</vt:lpstr>
      <vt:lpstr>Difference Operation</vt:lpstr>
      <vt:lpstr>Assignment  Operation </vt:lpstr>
      <vt:lpstr>Cartesian-product Operation </vt:lpstr>
      <vt:lpstr>Cartesian-product Operation </vt:lpstr>
      <vt:lpstr>Cartesian-product Operation </vt:lpstr>
      <vt:lpstr>Cartesian-product Operation </vt:lpstr>
      <vt:lpstr>Cartesian-product Operation </vt:lpstr>
      <vt:lpstr>Cartesian-product Operation </vt:lpstr>
      <vt:lpstr>Cartesian-product Operation </vt:lpstr>
      <vt:lpstr>Cartesian-product Operation </vt:lpstr>
      <vt:lpstr>Cartesian-product Operation </vt:lpstr>
      <vt:lpstr>Cartesian-product Operation </vt:lpstr>
      <vt:lpstr>Join Operation </vt:lpstr>
      <vt:lpstr>Join Operation </vt:lpstr>
      <vt:lpstr>Join Operation </vt:lpstr>
      <vt:lpstr>Join Operation </vt:lpstr>
      <vt:lpstr>Join Operation </vt:lpstr>
      <vt:lpstr>Join Operation </vt:lpstr>
      <vt:lpstr>Join Operation </vt:lpstr>
      <vt:lpstr>Example Queries</vt:lpstr>
      <vt:lpstr>Example Queries</vt:lpstr>
      <vt:lpstr>Example Queries</vt:lpstr>
      <vt:lpstr>Example Queries</vt:lpstr>
      <vt:lpstr>Example Queries</vt:lpstr>
      <vt:lpstr>Example Queries</vt:lpstr>
      <vt:lpstr>Example Queries</vt:lpstr>
      <vt:lpstr>Example Queries</vt:lpstr>
      <vt:lpstr>Example Queries</vt:lpstr>
      <vt:lpstr>Example Queries</vt:lpstr>
      <vt:lpstr>Example Queries</vt:lpstr>
      <vt:lpstr>Aggregate Operation</vt:lpstr>
      <vt:lpstr>Aggregate Operation</vt:lpstr>
      <vt:lpstr>Aggregate Operation</vt:lpstr>
      <vt:lpstr>Aggregate Operation</vt:lpstr>
      <vt:lpstr>Aggregate Operation</vt:lpstr>
      <vt:lpstr>Aggregate Operation</vt:lpstr>
      <vt:lpstr>Example Queries</vt:lpstr>
      <vt:lpstr>Example Queries</vt:lpstr>
      <vt:lpstr>Example Queries</vt:lpstr>
      <vt:lpstr>Example Queries</vt:lpstr>
      <vt:lpstr>Example Queries</vt:lpstr>
      <vt:lpstr>Example Queries</vt:lpstr>
      <vt:lpstr>Example Queries</vt:lpstr>
      <vt:lpstr>Example Queries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social</dc:creator>
  <cp:lastModifiedBy>Antu Chowdhury</cp:lastModifiedBy>
  <cp:revision>61</cp:revision>
  <dcterms:created xsi:type="dcterms:W3CDTF">2024-11-07T07:22:09Z</dcterms:created>
  <dcterms:modified xsi:type="dcterms:W3CDTF">2026-01-27T16:25:53Z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2023-02-14T00:00:00Z</vt:filetime>
  </property>
</Properties>
</file>