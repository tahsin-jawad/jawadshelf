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8" r:id="rId4"/>
    <p:sldId id="280" r:id="rId5"/>
    <p:sldId id="281" r:id="rId6"/>
    <p:sldId id="282" r:id="rId7"/>
    <p:sldId id="283" r:id="rId8"/>
    <p:sldId id="284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6" r:id="rId18"/>
    <p:sldId id="297" r:id="rId19"/>
    <p:sldId id="298" r:id="rId20"/>
    <p:sldId id="299" r:id="rId2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>
      <p:cViewPr varScale="1">
        <p:scale>
          <a:sx n="108" d="100"/>
          <a:sy n="108" d="100"/>
        </p:scale>
        <p:origin x="82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03936-BC7F-49E5-81EC-58F348CF1553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061C-0624-49FA-BA36-89A8CB22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1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83944" y="447243"/>
            <a:ext cx="6776110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23-Sep-26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23-Sep-26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3999" cy="51434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33840" cy="5133340"/>
          </a:xfrm>
          <a:custGeom>
            <a:avLst/>
            <a:gdLst/>
            <a:ahLst/>
            <a:cxnLst/>
            <a:rect l="l" t="t" r="r" b="b"/>
            <a:pathLst>
              <a:path w="9133840" h="5133340">
                <a:moveTo>
                  <a:pt x="0" y="5132831"/>
                </a:moveTo>
                <a:lnTo>
                  <a:pt x="9133332" y="5132831"/>
                </a:lnTo>
                <a:lnTo>
                  <a:pt x="9133332" y="0"/>
                </a:lnTo>
                <a:lnTo>
                  <a:pt x="0" y="0"/>
                </a:lnTo>
                <a:lnTo>
                  <a:pt x="0" y="5132831"/>
                </a:lnTo>
                <a:close/>
              </a:path>
            </a:pathLst>
          </a:custGeom>
          <a:solidFill>
            <a:srgbClr val="212121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87111" y="0"/>
            <a:ext cx="4057015" cy="5143500"/>
          </a:xfrm>
          <a:custGeom>
            <a:avLst/>
            <a:gdLst/>
            <a:ahLst/>
            <a:cxnLst/>
            <a:rect l="l" t="t" r="r" b="b"/>
            <a:pathLst>
              <a:path w="4057015" h="5143500">
                <a:moveTo>
                  <a:pt x="4056887" y="0"/>
                </a:moveTo>
                <a:lnTo>
                  <a:pt x="0" y="0"/>
                </a:lnTo>
                <a:lnTo>
                  <a:pt x="2666298" y="5143498"/>
                </a:lnTo>
                <a:lnTo>
                  <a:pt x="4056887" y="5143498"/>
                </a:lnTo>
                <a:lnTo>
                  <a:pt x="4056887" y="0"/>
                </a:lnTo>
                <a:close/>
              </a:path>
            </a:pathLst>
          </a:custGeom>
          <a:solidFill>
            <a:srgbClr val="FF8600">
              <a:alpha val="8548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4393691"/>
            <a:ext cx="7754620" cy="749935"/>
          </a:xfrm>
          <a:custGeom>
            <a:avLst/>
            <a:gdLst/>
            <a:ahLst/>
            <a:cxnLst/>
            <a:rect l="l" t="t" r="r" b="b"/>
            <a:pathLst>
              <a:path w="7754620" h="749935">
                <a:moveTo>
                  <a:pt x="7367651" y="0"/>
                </a:moveTo>
                <a:lnTo>
                  <a:pt x="0" y="0"/>
                </a:lnTo>
                <a:lnTo>
                  <a:pt x="0" y="749806"/>
                </a:lnTo>
                <a:lnTo>
                  <a:pt x="7754111" y="749806"/>
                </a:lnTo>
                <a:lnTo>
                  <a:pt x="7367651" y="0"/>
                </a:lnTo>
                <a:close/>
              </a:path>
            </a:pathLst>
          </a:custGeom>
          <a:solidFill>
            <a:srgbClr val="FFFFFF">
              <a:alpha val="1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28700" y="4166615"/>
            <a:ext cx="8115300" cy="227329"/>
          </a:xfrm>
          <a:custGeom>
            <a:avLst/>
            <a:gdLst/>
            <a:ahLst/>
            <a:cxnLst/>
            <a:rect l="l" t="t" r="r" b="b"/>
            <a:pathLst>
              <a:path w="8115300" h="227329">
                <a:moveTo>
                  <a:pt x="8115300" y="0"/>
                </a:moveTo>
                <a:lnTo>
                  <a:pt x="0" y="0"/>
                </a:lnTo>
                <a:lnTo>
                  <a:pt x="117043" y="227076"/>
                </a:lnTo>
                <a:lnTo>
                  <a:pt x="8115300" y="227076"/>
                </a:lnTo>
                <a:lnTo>
                  <a:pt x="8115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23-Sep-26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258185" cy="5143500"/>
          </a:xfrm>
          <a:custGeom>
            <a:avLst/>
            <a:gdLst/>
            <a:ahLst/>
            <a:cxnLst/>
            <a:rect l="l" t="t" r="r" b="b"/>
            <a:pathLst>
              <a:path w="3258185" h="5143500">
                <a:moveTo>
                  <a:pt x="591569" y="0"/>
                </a:moveTo>
                <a:lnTo>
                  <a:pt x="0" y="0"/>
                </a:lnTo>
                <a:lnTo>
                  <a:pt x="0" y="5143498"/>
                </a:lnTo>
                <a:lnTo>
                  <a:pt x="3258065" y="5143498"/>
                </a:lnTo>
                <a:lnTo>
                  <a:pt x="591569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55344" cy="731520"/>
          </a:xfrm>
          <a:custGeom>
            <a:avLst/>
            <a:gdLst/>
            <a:ahLst/>
            <a:cxnLst/>
            <a:rect l="l" t="t" r="r" b="b"/>
            <a:pathLst>
              <a:path w="855344" h="731520">
                <a:moveTo>
                  <a:pt x="477928" y="0"/>
                </a:moveTo>
                <a:lnTo>
                  <a:pt x="0" y="0"/>
                </a:lnTo>
                <a:lnTo>
                  <a:pt x="0" y="731520"/>
                </a:lnTo>
                <a:lnTo>
                  <a:pt x="854963" y="731520"/>
                </a:lnTo>
                <a:lnTo>
                  <a:pt x="47792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7189" y="0"/>
            <a:ext cx="513715" cy="739140"/>
          </a:xfrm>
          <a:custGeom>
            <a:avLst/>
            <a:gdLst/>
            <a:ahLst/>
            <a:cxnLst/>
            <a:rect l="l" t="t" r="r" b="b"/>
            <a:pathLst>
              <a:path w="513715" h="739140">
                <a:moveTo>
                  <a:pt x="129489" y="0"/>
                </a:moveTo>
                <a:lnTo>
                  <a:pt x="0" y="0"/>
                </a:lnTo>
                <a:lnTo>
                  <a:pt x="383921" y="739139"/>
                </a:lnTo>
                <a:lnTo>
                  <a:pt x="513410" y="739139"/>
                </a:lnTo>
                <a:lnTo>
                  <a:pt x="129489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43712" y="272795"/>
            <a:ext cx="7505700" cy="749935"/>
          </a:xfrm>
          <a:custGeom>
            <a:avLst/>
            <a:gdLst/>
            <a:ahLst/>
            <a:cxnLst/>
            <a:rect l="l" t="t" r="r" b="b"/>
            <a:pathLst>
              <a:path w="7505700" h="749935">
                <a:moveTo>
                  <a:pt x="7119238" y="0"/>
                </a:moveTo>
                <a:lnTo>
                  <a:pt x="0" y="0"/>
                </a:lnTo>
                <a:lnTo>
                  <a:pt x="386460" y="749807"/>
                </a:lnTo>
                <a:lnTo>
                  <a:pt x="7505700" y="749807"/>
                </a:lnTo>
                <a:lnTo>
                  <a:pt x="711923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272795"/>
            <a:ext cx="8153400" cy="4871085"/>
          </a:xfrm>
          <a:custGeom>
            <a:avLst/>
            <a:gdLst/>
            <a:ahLst/>
            <a:cxnLst/>
            <a:rect l="l" t="t" r="r" b="b"/>
            <a:pathLst>
              <a:path w="8153400" h="4871085">
                <a:moveTo>
                  <a:pt x="8153400" y="4652772"/>
                </a:moveTo>
                <a:lnTo>
                  <a:pt x="0" y="4652772"/>
                </a:lnTo>
                <a:lnTo>
                  <a:pt x="112318" y="4870704"/>
                </a:lnTo>
                <a:lnTo>
                  <a:pt x="8153400" y="4870704"/>
                </a:lnTo>
                <a:lnTo>
                  <a:pt x="8153400" y="4652772"/>
                </a:lnTo>
                <a:close/>
              </a:path>
              <a:path w="8153400" h="4871085">
                <a:moveTo>
                  <a:pt x="8153400" y="0"/>
                </a:moveTo>
                <a:lnTo>
                  <a:pt x="6871716" y="0"/>
                </a:lnTo>
                <a:lnTo>
                  <a:pt x="7258177" y="749808"/>
                </a:lnTo>
                <a:lnTo>
                  <a:pt x="8153400" y="749808"/>
                </a:lnTo>
                <a:lnTo>
                  <a:pt x="8153400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951" y="1676110"/>
            <a:ext cx="3813175" cy="21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0711" y="4972094"/>
            <a:ext cx="3164840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361950"/>
            <a:ext cx="49530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70" dirty="0">
                <a:solidFill>
                  <a:srgbClr val="FFFFFF"/>
                </a:solidFill>
                <a:latin typeface="Trebuchet MS"/>
                <a:cs typeface="Trebuchet MS"/>
              </a:rPr>
              <a:t>Database </a:t>
            </a:r>
            <a:r>
              <a:rPr sz="3600" spc="-254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3600" spc="-4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581150"/>
            <a:ext cx="7983220" cy="56874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US" sz="3200" spc="-229" dirty="0">
                <a:solidFill>
                  <a:srgbClr val="FF6600"/>
                </a:solidFill>
                <a:latin typeface="Trebuchet MS"/>
                <a:cs typeface="Trebuchet MS"/>
              </a:rPr>
              <a:t>Relational Model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DD79F8-DBBA-4867-DD54-F9436BCA925A}"/>
              </a:ext>
            </a:extLst>
          </p:cNvPr>
          <p:cNvSpPr txBox="1"/>
          <p:nvPr/>
        </p:nvSpPr>
        <p:spPr>
          <a:xfrm>
            <a:off x="152400" y="4400550"/>
            <a:ext cx="4953000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 err="1">
                <a:solidFill>
                  <a:schemeClr val="bg1"/>
                </a:solidFill>
                <a:latin typeface="Trebuchet MS"/>
                <a:cs typeface="Trebuchet MS"/>
              </a:rPr>
              <a:t>Antu</a:t>
            </a:r>
            <a:r>
              <a:rPr lang="en-US" sz="1400" dirty="0">
                <a:solidFill>
                  <a:schemeClr val="bg1"/>
                </a:solidFill>
                <a:latin typeface="Trebuchet MS"/>
                <a:cs typeface="Trebuchet MS"/>
              </a:rPr>
              <a:t> Chowdhury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1"/>
                </a:solidFill>
                <a:latin typeface="Trebuchet MS"/>
                <a:cs typeface="Trebuchet MS"/>
              </a:rPr>
              <a:t>Lecturer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1"/>
                </a:solidFill>
                <a:latin typeface="Trebuchet MS"/>
                <a:cs typeface="Trebuchet MS"/>
              </a:rPr>
              <a:t>Dept. of CSE, EWU</a:t>
            </a: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424751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Relational Model Concepts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29E6DB-516D-859B-A34D-77927D65350E}"/>
              </a:ext>
            </a:extLst>
          </p:cNvPr>
          <p:cNvSpPr txBox="1"/>
          <p:nvPr/>
        </p:nvSpPr>
        <p:spPr>
          <a:xfrm>
            <a:off x="838200" y="1276350"/>
            <a:ext cx="7696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relational model</a:t>
            </a:r>
            <a:r>
              <a:rPr lang="en-US" dirty="0"/>
              <a:t> stores a database as a </a:t>
            </a:r>
            <a:r>
              <a:rPr lang="en-US" b="1" dirty="0"/>
              <a:t>collection of tables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table</a:t>
            </a:r>
            <a:r>
              <a:rPr lang="en-US" dirty="0"/>
              <a:t> is called a </a:t>
            </a:r>
            <a:r>
              <a:rPr lang="en-US" b="1" dirty="0"/>
              <a:t>relation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row</a:t>
            </a:r>
            <a:r>
              <a:rPr lang="en-US" dirty="0"/>
              <a:t> in a table represents </a:t>
            </a:r>
            <a:r>
              <a:rPr lang="en-US" b="1" dirty="0"/>
              <a:t>one real-world object or event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column</a:t>
            </a:r>
            <a:r>
              <a:rPr lang="en-US" dirty="0"/>
              <a:t> represents a </a:t>
            </a:r>
            <a:r>
              <a:rPr lang="en-US" b="1" dirty="0"/>
              <a:t>type of information</a:t>
            </a:r>
            <a:r>
              <a:rPr lang="en-US" dirty="0"/>
              <a:t> about that object.</a:t>
            </a:r>
          </a:p>
          <a:p>
            <a:r>
              <a:rPr lang="en-US" b="1" dirty="0"/>
              <a:t>Student</a:t>
            </a:r>
            <a:r>
              <a:rPr lang="en-US" dirty="0"/>
              <a:t>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788630"/>
              </p:ext>
            </p:extLst>
          </p:nvPr>
        </p:nvGraphicFramePr>
        <p:xfrm>
          <a:off x="1579563" y="2753678"/>
          <a:ext cx="6213474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71158">
                  <a:extLst>
                    <a:ext uri="{9D8B030D-6E8A-4147-A177-3AD203B41FA5}">
                      <a16:colId xmlns:a16="http://schemas.microsoft.com/office/drawing/2014/main" val="3478989720"/>
                    </a:ext>
                  </a:extLst>
                </a:gridCol>
                <a:gridCol w="2071158">
                  <a:extLst>
                    <a:ext uri="{9D8B030D-6E8A-4147-A177-3AD203B41FA5}">
                      <a16:colId xmlns:a16="http://schemas.microsoft.com/office/drawing/2014/main" val="4216760084"/>
                    </a:ext>
                  </a:extLst>
                </a:gridCol>
                <a:gridCol w="2071158">
                  <a:extLst>
                    <a:ext uri="{9D8B030D-6E8A-4147-A177-3AD203B41FA5}">
                      <a16:colId xmlns:a16="http://schemas.microsoft.com/office/drawing/2014/main" val="2013530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Department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334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Rahim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0057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Karim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454111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55496" y="3850958"/>
            <a:ext cx="785535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table 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Student tells us what the data is about.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represents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one 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(a real-world entity).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column 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explains what kind of value is stored (ID, name, department).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1B0F-BC65-8098-D80E-30379863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56538D-21FD-B425-2BB3-3E884B5E4F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424751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Relational Model Concepts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031C77D-0103-FF6F-04FA-D7701ABA299E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5784B-096B-204A-72AC-1A33CAC0B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95" y="2930560"/>
            <a:ext cx="7405188" cy="2201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1FFB7-3973-82C7-C0F2-73E319FF96C1}"/>
              </a:ext>
            </a:extLst>
          </p:cNvPr>
          <p:cNvSpPr txBox="1"/>
          <p:nvPr/>
        </p:nvSpPr>
        <p:spPr>
          <a:xfrm>
            <a:off x="1022195" y="1131540"/>
            <a:ext cx="7696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formal relational model terminology,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 row is called a tuple,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 column header is called an attribute,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table is called a relation. </a:t>
            </a:r>
          </a:p>
          <a:p>
            <a:r>
              <a:rPr lang="en-US" dirty="0"/>
              <a:t>The data type describing the types of values that can appear in each column is represented by a </a:t>
            </a:r>
            <a:r>
              <a:rPr lang="en-US" b="1" dirty="0"/>
              <a:t>domain</a:t>
            </a:r>
            <a:r>
              <a:rPr lang="en-US" dirty="0"/>
              <a:t> of possible values.</a:t>
            </a:r>
          </a:p>
        </p:txBody>
      </p:sp>
    </p:spTree>
    <p:extLst>
      <p:ext uri="{BB962C8B-B14F-4D97-AF65-F5344CB8AC3E}">
        <p14:creationId xmlns:p14="http://schemas.microsoft.com/office/powerpoint/2010/main" val="59901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5EFC-6028-D814-FDD7-2A4E7A38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2917365-7A72-F289-B4F9-59076B448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Domains, Attributes, Tuples, and Relations 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45D457C-F567-66FB-CB12-24F398D830C0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941ED-4F66-B60E-29E9-51BE63CD3295}"/>
              </a:ext>
            </a:extLst>
          </p:cNvPr>
          <p:cNvSpPr txBox="1"/>
          <p:nvPr/>
        </p:nvSpPr>
        <p:spPr>
          <a:xfrm>
            <a:off x="990600" y="1047750"/>
            <a:ext cx="7696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/>
              <a:t>The set of allowed values for each attribute is called the </a:t>
            </a:r>
            <a:r>
              <a:rPr lang="en-US" altLang="en-US" sz="1800" b="1" dirty="0">
                <a:solidFill>
                  <a:srgbClr val="002060"/>
                </a:solidFill>
              </a:rPr>
              <a:t>domain</a:t>
            </a:r>
            <a:r>
              <a:rPr lang="en-US" altLang="en-US" sz="1800" dirty="0">
                <a:solidFill>
                  <a:srgbClr val="002060"/>
                </a:solidFill>
              </a:rPr>
              <a:t> </a:t>
            </a:r>
            <a:r>
              <a:rPr lang="en-US" altLang="en-US" sz="1800" dirty="0"/>
              <a:t>of the attribute.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/>
              <a:t>      Some examples of domains follow: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dirty="0" err="1"/>
              <a:t>BD_phone_numbers</a:t>
            </a:r>
            <a:r>
              <a:rPr lang="en-US" altLang="en-US" dirty="0"/>
              <a:t>: The set </a:t>
            </a:r>
            <a:r>
              <a:rPr lang="en-US" altLang="en-US"/>
              <a:t>of 11-digit </a:t>
            </a:r>
            <a:r>
              <a:rPr lang="en-US" altLang="en-US" dirty="0"/>
              <a:t>phone numbers valid in BD.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dirty="0" err="1"/>
              <a:t>Employee_ages</a:t>
            </a:r>
            <a:r>
              <a:rPr lang="en-US" altLang="en-US" dirty="0"/>
              <a:t>: Possible ages of employees in a company; each must be an integer value between 15 and 80.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/>
              <a:t>Attribute values are (normally) required to be </a:t>
            </a:r>
            <a:r>
              <a:rPr lang="en-US" altLang="en-US" sz="1800" b="1" dirty="0">
                <a:solidFill>
                  <a:srgbClr val="002060"/>
                </a:solidFill>
              </a:rPr>
              <a:t>atomic</a:t>
            </a:r>
            <a:r>
              <a:rPr lang="en-US" altLang="en-US" sz="1800" dirty="0"/>
              <a:t>; that is, single and indivisible.</a:t>
            </a:r>
            <a:r>
              <a:rPr lang="en-US" altLang="en-US" dirty="0"/>
              <a:t> E.g.</a:t>
            </a:r>
            <a:r>
              <a:rPr lang="en-US" dirty="0">
                <a:solidFill>
                  <a:schemeClr val="tx2"/>
                </a:solidFill>
              </a:rPr>
              <a:t> the value of an attribute can be an account number but cannot be a set  of account numbers.  Full name attribute can be split into first name , last name to ensure    atomicity.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/>
              <a:t>The special value</a:t>
            </a:r>
            <a:r>
              <a:rPr lang="en-US" altLang="en-US" sz="1800" b="1" dirty="0">
                <a:solidFill>
                  <a:schemeClr val="tx2"/>
                </a:solidFill>
              </a:rPr>
              <a:t> </a:t>
            </a:r>
            <a:r>
              <a:rPr lang="en-US" altLang="en-US" sz="1800" b="1" i="1" dirty="0">
                <a:solidFill>
                  <a:srgbClr val="000000"/>
                </a:solidFill>
              </a:rPr>
              <a:t>null</a:t>
            </a:r>
            <a:r>
              <a:rPr lang="en-US" altLang="en-US" sz="1800" dirty="0"/>
              <a:t>  is a member of every domain. Indicated that the value is “unknown”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6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A49E-DAE8-2FA5-B77C-E59DB66B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798936-8F51-5F2D-CD14-585F69FE72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Relations are Unordered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16D8AA-142A-6B48-217E-F6CAAF0FC074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C5FDB-3CD5-6B5E-3C2D-73E703106F15}"/>
              </a:ext>
            </a:extLst>
          </p:cNvPr>
          <p:cNvSpPr txBox="1"/>
          <p:nvPr/>
        </p:nvSpPr>
        <p:spPr>
          <a:xfrm>
            <a:off x="1174650" y="1200150"/>
            <a:ext cx="3321149" cy="194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kumimoji="1" lang="en-US" sz="1800" dirty="0">
                <a:solidFill>
                  <a:schemeClr val="tx2"/>
                </a:solidFill>
              </a:rPr>
              <a:t>Order of tuples is irrelevant (tuples may be stored in an arbitrary order)</a:t>
            </a:r>
          </a:p>
          <a:p>
            <a:pPr marL="285750" indent="-285750" algn="just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kumimoji="1" lang="en-US" sz="1800" dirty="0">
                <a:solidFill>
                  <a:schemeClr val="tx2"/>
                </a:solidFill>
              </a:rPr>
              <a:t>Example: instructor  relation with unordered tuples</a:t>
            </a:r>
          </a:p>
          <a:p>
            <a:pPr algn="just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5353538-94AE-8D78-255E-EB8DC51EAD7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" b="12197"/>
          <a:stretch/>
        </p:blipFill>
        <p:spPr>
          <a:xfrm>
            <a:off x="4336923" y="1179241"/>
            <a:ext cx="4121597" cy="325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B19B-945F-08DB-E82C-49135A09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7E8F21-D84E-5976-38CC-9C7113EE0B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 Schema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F5DBA93-A124-3DC6-9EB7-09566B68765F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6FF64-22D2-B2F8-5582-C1D0910DF4B2}"/>
              </a:ext>
            </a:extLst>
          </p:cNvPr>
          <p:cNvSpPr txBox="1"/>
          <p:nvPr/>
        </p:nvSpPr>
        <p:spPr>
          <a:xfrm>
            <a:off x="762000" y="971550"/>
            <a:ext cx="8153400" cy="575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A relation schema R,</a:t>
            </a:r>
          </a:p>
          <a:p>
            <a:pPr marL="742950" lvl="1" indent="-285750" algn="just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) is a </a:t>
            </a:r>
            <a:r>
              <a:rPr lang="en-US" altLang="en-US" i="1" dirty="0">
                <a:ea typeface="ＭＳ Ｐゴシック" panose="020B0600070205080204" pitchFamily="34" charset="-128"/>
              </a:rPr>
              <a:t>relation schema where 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are </a:t>
            </a:r>
            <a:r>
              <a:rPr lang="en-US" altLang="en-US" i="1" dirty="0">
                <a:ea typeface="ＭＳ Ｐゴシック" panose="020B0600070205080204" pitchFamily="34" charset="-128"/>
              </a:rPr>
              <a:t>attributes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ea typeface="ＭＳ Ｐゴシック" panose="020B0600070205080204" pitchFamily="34" charset="-128"/>
              </a:rPr>
              <a:t>Example: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i="1" dirty="0">
                <a:ea typeface="ＭＳ Ｐゴシック" panose="020B0600070205080204" pitchFamily="34" charset="-128"/>
              </a:rPr>
              <a:t> instructor 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ID,  name,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en-US" i="1" dirty="0">
                <a:ea typeface="ＭＳ Ｐゴシック" panose="020B0600070205080204" pitchFamily="34" charset="-128"/>
              </a:rPr>
              <a:t>, salary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i="1" dirty="0" err="1"/>
              <a:t>Customer_schema</a:t>
            </a:r>
            <a:r>
              <a:rPr lang="en-US" dirty="0"/>
              <a:t> = (</a:t>
            </a:r>
            <a:r>
              <a:rPr lang="en-US" i="1" dirty="0" err="1"/>
              <a:t>customer_name</a:t>
            </a:r>
            <a:r>
              <a:rPr lang="en-US" i="1" dirty="0"/>
              <a:t>, </a:t>
            </a:r>
            <a:r>
              <a:rPr lang="en-US" i="1" dirty="0" err="1"/>
              <a:t>customer_street</a:t>
            </a:r>
            <a:r>
              <a:rPr lang="en-US" i="1" dirty="0"/>
              <a:t>, </a:t>
            </a:r>
            <a:r>
              <a:rPr lang="en-US" i="1" err="1"/>
              <a:t>customer_city</a:t>
            </a:r>
            <a:r>
              <a:rPr lang="en-US"/>
              <a:t>)</a:t>
            </a:r>
          </a:p>
          <a:p>
            <a:pPr lvl="1">
              <a:lnSpc>
                <a:spcPct val="120000"/>
              </a:lnSpc>
            </a:pPr>
            <a:endParaRPr lang="en-US" altLang="en-US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/>
              <a:t>A </a:t>
            </a:r>
            <a:r>
              <a:rPr lang="en-US" b="1" dirty="0"/>
              <a:t>relation instance</a:t>
            </a:r>
            <a:r>
              <a:rPr lang="en-US" dirty="0"/>
              <a:t> is the </a:t>
            </a:r>
            <a:r>
              <a:rPr lang="en-US" b="1" dirty="0"/>
              <a:t>actual data stored in the table at a particular time</a:t>
            </a:r>
            <a:r>
              <a:rPr lang="en-US" dirty="0"/>
              <a:t>. Denoted as: r(R)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This means a relation r that follows the schema R.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Example: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i="1" dirty="0">
                <a:solidFill>
                  <a:schemeClr val="tx2"/>
                </a:solidFill>
              </a:rPr>
              <a:t>customer (</a:t>
            </a:r>
            <a:r>
              <a:rPr lang="en-US" i="1" dirty="0" err="1">
                <a:solidFill>
                  <a:schemeClr val="tx2"/>
                </a:solidFill>
              </a:rPr>
              <a:t>Customer_schema</a:t>
            </a:r>
            <a:r>
              <a:rPr lang="en-US" i="1" dirty="0">
                <a:solidFill>
                  <a:schemeClr val="tx2"/>
                </a:solidFill>
              </a:rPr>
              <a:t>)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A </a:t>
            </a:r>
            <a:r>
              <a:rPr lang="en-US" b="1" dirty="0"/>
              <a:t>tuple</a:t>
            </a:r>
            <a:r>
              <a:rPr lang="en-US" dirty="0"/>
              <a:t> is a </a:t>
            </a:r>
            <a:r>
              <a:rPr lang="en-US" b="1" dirty="0"/>
              <a:t>single row in a relation instance</a:t>
            </a:r>
            <a:r>
              <a:rPr lang="en-US" dirty="0"/>
              <a:t>.</a:t>
            </a: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algn="just"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algn="just"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3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8728-D97D-4576-4A9C-4D57C145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96F368-B264-0D8D-E49F-185DA343D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CA3F4DA-0D38-3229-6BB1-6C5C5C8B5BA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49EB2-5931-403F-3615-67C2E8DED9BD}"/>
              </a:ext>
            </a:extLst>
          </p:cNvPr>
          <p:cNvSpPr txBox="1"/>
          <p:nvPr/>
        </p:nvSpPr>
        <p:spPr>
          <a:xfrm>
            <a:off x="605875" y="1123950"/>
            <a:ext cx="8534400" cy="5369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A database consists of multiple relations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Information about an enterprise is broken up into parts, with  each relation storing one part of the information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	account:      stores information about accounts</a:t>
            </a:r>
            <a:br>
              <a:rPr lang="en-US" dirty="0"/>
            </a:br>
            <a:r>
              <a:rPr lang="en-US" dirty="0"/>
              <a:t>           depositor :   stores information about which customer owns which account </a:t>
            </a:r>
            <a:br>
              <a:rPr lang="en-US" dirty="0"/>
            </a:br>
            <a:r>
              <a:rPr lang="en-US" dirty="0"/>
              <a:t>           customer :   stores information about customers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Storing all information as a single relation such as </a:t>
            </a:r>
            <a:br>
              <a:rPr lang="en-US" dirty="0"/>
            </a:br>
            <a:r>
              <a:rPr lang="en-US" b="1" dirty="0"/>
              <a:t>   bank(</a:t>
            </a:r>
            <a:r>
              <a:rPr lang="en-US" b="1" dirty="0" err="1"/>
              <a:t>account_number</a:t>
            </a:r>
            <a:r>
              <a:rPr lang="en-US" b="1" dirty="0"/>
              <a:t>, balance, </a:t>
            </a:r>
            <a:r>
              <a:rPr lang="en-US" b="1" dirty="0" err="1"/>
              <a:t>customer_name</a:t>
            </a:r>
            <a:r>
              <a:rPr lang="en-US" b="1" dirty="0"/>
              <a:t>, ..) </a:t>
            </a:r>
            <a:r>
              <a:rPr lang="en-US" dirty="0"/>
              <a:t>results in repetition of information  </a:t>
            </a:r>
            <a:r>
              <a:rPr lang="en-US" dirty="0" err="1"/>
              <a:t>e.g.,if</a:t>
            </a:r>
            <a:r>
              <a:rPr lang="en-US" dirty="0"/>
              <a:t> one customer owns several accounts (What gets repeated?) 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the need for null values  e.g., to represent a customer without an account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b="1" dirty="0"/>
              <a:t>Normalization theory</a:t>
            </a:r>
            <a:r>
              <a:rPr lang="en-US" dirty="0"/>
              <a:t> explains </a:t>
            </a:r>
            <a:r>
              <a:rPr lang="en-US" b="1" dirty="0"/>
              <a:t>how to design tables properly</a:t>
            </a:r>
            <a:r>
              <a:rPr lang="en-US" dirty="0"/>
              <a:t> to avoid these problems.</a:t>
            </a: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16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81B32-A31A-B43F-F751-7B3AF9E9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F3E77C-D48F-5E7A-B8A6-CBF2E7A9AB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420221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spc="-165">
                <a:latin typeface="Arial" panose="020B0604020202020204" pitchFamily="34" charset="0"/>
                <a:cs typeface="Arial" panose="020B0604020202020204" pitchFamily="34" charset="0"/>
              </a:rPr>
              <a:t>Constraints and Constraints on NULL Values</a:t>
            </a:r>
            <a:endParaRPr lang="en-US"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0558504-46E9-88E6-FABB-D359702A6062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4F250-58AF-DAE5-E27C-A9CC62966ACE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DED1D-DB42-CA37-7D6A-DB6A6E401EA4}"/>
              </a:ext>
            </a:extLst>
          </p:cNvPr>
          <p:cNvSpPr txBox="1"/>
          <p:nvPr/>
        </p:nvSpPr>
        <p:spPr>
          <a:xfrm>
            <a:off x="771293" y="1123950"/>
            <a:ext cx="82203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key is a set of one or more attributes that can uniquely identify each row in a table. A key not only identifies the rows of a table but also relates two or more tables.</a:t>
            </a:r>
          </a:p>
          <a:p>
            <a:endParaRPr lang="en-US" dirty="0"/>
          </a:p>
          <a:p>
            <a:r>
              <a:rPr lang="en-US" dirty="0"/>
              <a:t>Different Types of Keys:</a:t>
            </a:r>
          </a:p>
          <a:p>
            <a:r>
              <a:rPr lang="en-US" dirty="0"/>
              <a:t>1) Super Key</a:t>
            </a:r>
          </a:p>
          <a:p>
            <a:r>
              <a:rPr lang="en-US" dirty="0"/>
              <a:t>2) Candidate Key</a:t>
            </a:r>
          </a:p>
          <a:p>
            <a:r>
              <a:rPr lang="en-US" dirty="0"/>
              <a:t>3) Primary Key</a:t>
            </a:r>
          </a:p>
          <a:p>
            <a:r>
              <a:rPr lang="en-US" dirty="0"/>
              <a:t>4) Foreign Key</a:t>
            </a:r>
          </a:p>
          <a:p>
            <a:r>
              <a:rPr lang="en-US" dirty="0"/>
              <a:t>5) Secondary Key/Alternate Key</a:t>
            </a:r>
          </a:p>
          <a:p>
            <a:r>
              <a:rPr lang="en-US" dirty="0"/>
              <a:t>6) Unique Key</a:t>
            </a:r>
          </a:p>
          <a:p>
            <a:r>
              <a:rPr lang="en-US" dirty="0"/>
              <a:t>7) Composite Key</a:t>
            </a:r>
          </a:p>
        </p:txBody>
      </p:sp>
    </p:spTree>
    <p:extLst>
      <p:ext uri="{BB962C8B-B14F-4D97-AF65-F5344CB8AC3E}">
        <p14:creationId xmlns:p14="http://schemas.microsoft.com/office/powerpoint/2010/main" val="1621113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7CEF-6209-4537-1FD2-72A2C4A8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C1CE48-4071-DBC0-F8F3-491929261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Super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267897-DE52-1A45-8B99-2AD3344CE061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6F76C-7946-F7BE-A2C6-E4B255AD6289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4A375-8852-3EC7-5AE1-A5C56DC12506}"/>
              </a:ext>
            </a:extLst>
          </p:cNvPr>
          <p:cNvSpPr txBox="1"/>
          <p:nvPr/>
        </p:nvSpPr>
        <p:spPr>
          <a:xfrm>
            <a:off x="771293" y="1123950"/>
            <a:ext cx="8220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i="1" dirty="0">
                <a:sym typeface="Symbol" panose="05050102010706020507" pitchFamily="18" charset="2"/>
              </a:rPr>
              <a:t>K </a:t>
            </a:r>
            <a:r>
              <a:rPr lang="en-US" altLang="en-US" sz="1800" dirty="0">
                <a:sym typeface="Symbol" panose="05050102010706020507" pitchFamily="18" charset="2"/>
              </a:rPr>
              <a:t>is a </a:t>
            </a:r>
            <a:r>
              <a:rPr lang="en-US" altLang="en-US" sz="18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8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of </a:t>
            </a:r>
            <a:r>
              <a:rPr lang="en-US" altLang="en-US" sz="1800" i="1" dirty="0">
                <a:sym typeface="Symbol" panose="05050102010706020507" pitchFamily="18" charset="2"/>
              </a:rPr>
              <a:t>R</a:t>
            </a:r>
            <a:r>
              <a:rPr lang="en-US" altLang="en-US" sz="1800" dirty="0">
                <a:sym typeface="Symbol" panose="05050102010706020507" pitchFamily="18" charset="2"/>
              </a:rPr>
              <a:t> if values for 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800" i="1" dirty="0">
                <a:sym typeface="Symbol" panose="05050102010706020507" pitchFamily="18" charset="2"/>
              </a:rPr>
              <a:t>r(R)</a:t>
            </a:r>
            <a:r>
              <a:rPr lang="en-US" altLang="en-US" sz="1800" dirty="0">
                <a:sym typeface="Symbol" panose="05050102010706020507" pitchFamily="18" charset="2"/>
              </a:rPr>
              <a:t> 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DF29B-1B07-703C-EF29-B02E0A5F1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173196"/>
            <a:ext cx="5612425" cy="230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53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0E68-E2D1-9747-3530-283E85DC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8CC66B-C47E-37BC-A64C-C27FBF9D3F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Super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DFC3E52-C555-B09A-2F20-BED5AA39E4E2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01C39-276D-331F-AF6D-F95A5DD1745A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C873A-7287-DE0E-76E3-D4AEF3611815}"/>
              </a:ext>
            </a:extLst>
          </p:cNvPr>
          <p:cNvSpPr txBox="1"/>
          <p:nvPr/>
        </p:nvSpPr>
        <p:spPr>
          <a:xfrm>
            <a:off x="771293" y="1123950"/>
            <a:ext cx="8220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i="1" dirty="0">
                <a:sym typeface="Symbol" panose="05050102010706020507" pitchFamily="18" charset="2"/>
              </a:rPr>
              <a:t>K </a:t>
            </a:r>
            <a:r>
              <a:rPr lang="en-US" altLang="en-US" sz="1800" dirty="0">
                <a:sym typeface="Symbol" panose="05050102010706020507" pitchFamily="18" charset="2"/>
              </a:rPr>
              <a:t>is a </a:t>
            </a:r>
            <a:r>
              <a:rPr lang="en-US" altLang="en-US" sz="18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8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of </a:t>
            </a:r>
            <a:r>
              <a:rPr lang="en-US" altLang="en-US" sz="1800" i="1" dirty="0">
                <a:sym typeface="Symbol" panose="05050102010706020507" pitchFamily="18" charset="2"/>
              </a:rPr>
              <a:t>R</a:t>
            </a:r>
            <a:r>
              <a:rPr lang="en-US" altLang="en-US" sz="1800" dirty="0">
                <a:sym typeface="Symbol" panose="05050102010706020507" pitchFamily="18" charset="2"/>
              </a:rPr>
              <a:t> if values for 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800" i="1" dirty="0">
                <a:sym typeface="Symbol" panose="05050102010706020507" pitchFamily="18" charset="2"/>
              </a:rPr>
              <a:t>r(R)</a:t>
            </a:r>
            <a:r>
              <a:rPr lang="en-US" altLang="en-US" sz="1800" dirty="0">
                <a:sym typeface="Symbol" panose="05050102010706020507" pitchFamily="18" charset="2"/>
              </a:rPr>
              <a:t> 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1C0FB4-7279-8459-5449-4A974EC35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44" y="1837083"/>
            <a:ext cx="7509897" cy="280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846E-F78A-9ACE-65FA-50CC2693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0814F5-FABE-D826-3BE8-D836F811F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Candidate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DB8ABC4-9039-23FC-BA3A-8E27492C07D3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D7D1E-50C1-8EC1-8E66-FCDE7F3BB3AF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3D0B1-B3A4-75FB-D71B-273D55B87E56}"/>
              </a:ext>
            </a:extLst>
          </p:cNvPr>
          <p:cNvSpPr txBox="1"/>
          <p:nvPr/>
        </p:nvSpPr>
        <p:spPr>
          <a:xfrm>
            <a:off x="1143000" y="1209848"/>
            <a:ext cx="8220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 err="1">
                <a:sym typeface="Symbol" panose="05050102010706020507" pitchFamily="18" charset="2"/>
              </a:rPr>
              <a:t>Superkey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 is a </a:t>
            </a:r>
            <a:r>
              <a:rPr lang="en-US" altLang="en-US" sz="18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1800" dirty="0">
                <a:sym typeface="Symbol" panose="05050102010706020507" pitchFamily="18" charset="2"/>
              </a:rPr>
              <a:t> if 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 is minimal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3947E3-7660-236A-2B9F-D8D8A4C5D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188595"/>
            <a:ext cx="2320953" cy="137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2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272D-9EF3-3590-EEE4-190B0D0C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E541B2-2C29-1767-8244-DDCCBF5D71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Primary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728C11C-9A20-8985-08CF-7605A8D5DAFE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0BE18-FBF4-00B8-0214-FC5EB4EF57DC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33531-EDD3-9931-1AEA-73BDF3CC3A37}"/>
              </a:ext>
            </a:extLst>
          </p:cNvPr>
          <p:cNvSpPr txBox="1"/>
          <p:nvPr/>
        </p:nvSpPr>
        <p:spPr>
          <a:xfrm>
            <a:off x="1066800" y="1210741"/>
            <a:ext cx="7391400" cy="315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sz="17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sym typeface="Symbol" panose="05050102010706020507" pitchFamily="18" charset="2"/>
              </a:rPr>
              <a:t>W</a:t>
            </a:r>
            <a:r>
              <a:rPr lang="en-US" altLang="en-US" sz="1700" dirty="0">
                <a:sym typeface="Symbol" panose="05050102010706020507" pitchFamily="18" charset="2"/>
              </a:rPr>
              <a:t>hich one?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sz="1700" dirty="0">
                <a:sym typeface="Symbol" panose="05050102010706020507" pitchFamily="18" charset="2"/>
              </a:rPr>
              <a:t>Should choose an attribute whose value never, or very rarely, changes.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sz="1700" dirty="0">
                <a:sym typeface="Symbol" panose="05050102010706020507" pitchFamily="18" charset="2"/>
              </a:rPr>
              <a:t>E.g. email address is unique, but may change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altLang="en-US" sz="1700" dirty="0">
              <a:sym typeface="Symbol" panose="05050102010706020507" pitchFamily="18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The main difference between the primary key and the candidate key in that is primary key does not contain NULL values. </a:t>
            </a:r>
          </a:p>
          <a:p>
            <a:pPr>
              <a:lnSpc>
                <a:spcPct val="120000"/>
              </a:lnSpc>
            </a:pP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600" dirty="0"/>
              <a:t>✓ Primary Key must be UNIQUE and NOT NULL.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70981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3D86C-1014-BF12-B9B3-1D9E7A0D3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8B7787-EF20-40E2-AACC-B63403DA7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Foreign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986A76-C9E7-46E5-054D-A95270CAFEE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F3403-7EEA-4EFB-7DCF-BFD89B62DF3E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DDFB8-5401-DAE3-A554-AA7C207A35F2}"/>
              </a:ext>
            </a:extLst>
          </p:cNvPr>
          <p:cNvSpPr txBox="1"/>
          <p:nvPr/>
        </p:nvSpPr>
        <p:spPr>
          <a:xfrm>
            <a:off x="1066800" y="1210741"/>
            <a:ext cx="7391400" cy="1881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A foreign key is a set of attributes in a table that refers to the primary key of another table.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altLang="en-US" sz="1700" dirty="0">
              <a:sym typeface="Symbol" panose="05050102010706020507" pitchFamily="18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Only values occurring in the primary key attribute of the referenced relation may occur in the foreign key attribute of the referencing relation.</a:t>
            </a:r>
          </a:p>
          <a:p>
            <a:pPr lvl="1">
              <a:lnSpc>
                <a:spcPct val="120000"/>
              </a:lnSpc>
            </a:pPr>
            <a:endParaRPr lang="en-US" altLang="en-US" sz="1700" dirty="0">
              <a:sym typeface="Symbol" panose="05050102010706020507" pitchFamily="18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36ECF3-23CA-F8ED-C8A1-5E061FFA1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52750"/>
            <a:ext cx="6552199" cy="152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57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22B0E-A7EC-072E-8698-B3BBDA8C9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1455FE-46B7-A835-5752-5BD298AF82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Secondary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BF66D59-A3B2-CD13-ED92-90D64FA13F2E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D7BBD-7EF4-BB64-B543-51B7DCFEFE81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97506-EC0E-DD38-BF45-C2125E3C0F5E}"/>
              </a:ext>
            </a:extLst>
          </p:cNvPr>
          <p:cNvSpPr txBox="1"/>
          <p:nvPr/>
        </p:nvSpPr>
        <p:spPr>
          <a:xfrm>
            <a:off x="1066800" y="1091485"/>
            <a:ext cx="7391400" cy="215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A primary key is the field in a database that is the primary key used to uniquely identify a record in a database. A secondary key is an additional key, or alternate key, which can be use in addition to the primary key to locate specific data.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Secondary Key is the key that has not been selected to be the primary key. However, it is considered a candidate key for the primary key.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 Note: Secondary Key is not a Foreign Key.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endParaRPr lang="en-US" altLang="en-US" sz="1700" dirty="0">
              <a:sym typeface="Symbol" panose="05050102010706020507" pitchFamily="18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5C084-8C04-81F8-109B-F98D73BE0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235" y="3004143"/>
            <a:ext cx="5875529" cy="10287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B7BCE-63FC-BD7C-FBC7-4E440BB51C9F}"/>
              </a:ext>
            </a:extLst>
          </p:cNvPr>
          <p:cNvSpPr txBox="1"/>
          <p:nvPr/>
        </p:nvSpPr>
        <p:spPr>
          <a:xfrm>
            <a:off x="972972" y="4171950"/>
            <a:ext cx="81710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err="1"/>
              <a:t>Student_ID</a:t>
            </a:r>
            <a:r>
              <a:rPr lang="en-US" sz="1600" dirty="0"/>
              <a:t>, </a:t>
            </a:r>
            <a:r>
              <a:rPr lang="en-US" sz="1600" dirty="0" err="1"/>
              <a:t>Student_Enroll</a:t>
            </a:r>
            <a:r>
              <a:rPr lang="en-US" sz="1600" dirty="0"/>
              <a:t> and </a:t>
            </a:r>
            <a:r>
              <a:rPr lang="en-US" sz="1600" dirty="0" err="1"/>
              <a:t>Student_Email</a:t>
            </a:r>
            <a:r>
              <a:rPr lang="en-US" sz="1600" dirty="0"/>
              <a:t> are the candidate keys. Select any one of the candidate key as the primary key. Rest of the two keys would be Secondary Key. </a:t>
            </a:r>
          </a:p>
        </p:txBody>
      </p:sp>
    </p:spTree>
    <p:extLst>
      <p:ext uri="{BB962C8B-B14F-4D97-AF65-F5344CB8AC3E}">
        <p14:creationId xmlns:p14="http://schemas.microsoft.com/office/powerpoint/2010/main" val="2894341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21BF4-F244-A18D-3B6C-341E108F0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1FE8DB-693D-32F0-544E-B5521EFFE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Unique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E40BE48-0E5F-5098-75AA-3A6A5861E99C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DAAE6-FAC5-F790-650A-F295973C4998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7E417-9A08-654F-06F4-5EDBF8636F2A}"/>
              </a:ext>
            </a:extLst>
          </p:cNvPr>
          <p:cNvSpPr txBox="1"/>
          <p:nvPr/>
        </p:nvSpPr>
        <p:spPr>
          <a:xfrm>
            <a:off x="1066800" y="1091485"/>
            <a:ext cx="7391400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A Unique Key is used to prevent duplicate values in a column.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A primary key cannot accept NULL values; this makes Primary Key different from unique Key, since Unique Key allows one value as NULL value.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A table can only have a single Primary Key, whereas a Unique Key can be more than one if you need it in the table.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Unique Key ensures that data is not duplicated in two rows in the database. A row in the database can have null in case of Unique Key.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You cannot modify a Primary Key, but a Unique Key can be modified.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80907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D837-B9C1-6BDD-F280-45C512EE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02B9EB-92DF-A1D9-99CC-25EED3027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Composite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BDCD603-A6E5-2631-6DA7-0E337AD5E94A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49125-54F8-C21E-B5E3-B95C80411D1D}"/>
              </a:ext>
            </a:extLst>
          </p:cNvPr>
          <p:cNvSpPr txBox="1"/>
          <p:nvPr/>
        </p:nvSpPr>
        <p:spPr>
          <a:xfrm>
            <a:off x="1066800" y="1091485"/>
            <a:ext cx="7391400" cy="66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A primary key having two or more attributes is called composite key. It is a combination of two or more columns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E0D36-3842-31C9-F6F4-1145F9A5C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642" y="2401331"/>
            <a:ext cx="6147758" cy="23566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08844A-8E73-DBA0-4831-793A068FC042}"/>
              </a:ext>
            </a:extLst>
          </p:cNvPr>
          <p:cNvSpPr txBox="1"/>
          <p:nvPr/>
        </p:nvSpPr>
        <p:spPr>
          <a:xfrm>
            <a:off x="1089102" y="1755000"/>
            <a:ext cx="6759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1: Here our composite key is </a:t>
            </a:r>
            <a:r>
              <a:rPr lang="en-US" dirty="0" err="1"/>
              <a:t>OrderID</a:t>
            </a:r>
            <a:r>
              <a:rPr lang="en-US" dirty="0"/>
              <a:t> and </a:t>
            </a:r>
            <a:r>
              <a:rPr lang="en-US" dirty="0" err="1"/>
              <a:t>ProductID</a:t>
            </a:r>
            <a:r>
              <a:rPr lang="en-US" dirty="0"/>
              <a:t> −</a:t>
            </a:r>
          </a:p>
          <a:p>
            <a:r>
              <a:rPr lang="en-US" dirty="0"/>
              <a:t>{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979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40968-EEB9-A421-5945-F81CE00C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58E3A8-E4DF-8AB0-F025-3537C1362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Integrity, Referential Integrity, and Foreign Keys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49C8154-F89F-B129-0AB6-C31E07E6A9F9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798A45-DABC-EBEC-F5A6-4B636B313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505" y="1962150"/>
            <a:ext cx="6940152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36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C1224-0531-40F1-2BCB-8A1786ED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3E8DBE-88FF-983D-CD0C-5AAEE00103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Integrity, Domain Constraints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E6796B-B318-2587-5F2F-386EEE8AE779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1E6AA-2E5A-2823-190E-F773F8572D70}"/>
              </a:ext>
            </a:extLst>
          </p:cNvPr>
          <p:cNvSpPr txBox="1"/>
          <p:nvPr/>
        </p:nvSpPr>
        <p:spPr>
          <a:xfrm>
            <a:off x="685800" y="1200150"/>
            <a:ext cx="8458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Domain Constraints:</a:t>
            </a:r>
          </a:p>
          <a:p>
            <a:r>
              <a:rPr lang="en-US" dirty="0"/>
              <a:t>✓ Domain constraints can be defined as the definition of a valid set of values for an</a:t>
            </a:r>
          </a:p>
          <a:p>
            <a:r>
              <a:rPr lang="en-US" dirty="0"/>
              <a:t>attribute.</a:t>
            </a:r>
          </a:p>
          <a:p>
            <a:r>
              <a:rPr lang="en-US" dirty="0"/>
              <a:t>✓ The data type of domain includes string, character, integer, time, date, currency, etc. The value of the attribute must be available in the corresponding domain.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498B5E-534D-6699-1BBC-B110D6BD3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269684"/>
            <a:ext cx="4822212" cy="132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51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862D-9DF0-B57D-96A5-6065CA04F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265012-8EA0-1BFB-2355-3EA1580E4E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Integrity, Entity Integrity Constraints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355C2B0-18B7-D068-7589-1182871256C5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83605-4FAB-2B6D-71E4-1436E6F11779}"/>
              </a:ext>
            </a:extLst>
          </p:cNvPr>
          <p:cNvSpPr txBox="1"/>
          <p:nvPr/>
        </p:nvSpPr>
        <p:spPr>
          <a:xfrm>
            <a:off x="685800" y="1123950"/>
            <a:ext cx="85696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Entity integrity constraints</a:t>
            </a:r>
          </a:p>
          <a:p>
            <a:r>
              <a:rPr lang="en-US" sz="1600" dirty="0"/>
              <a:t>✓ </a:t>
            </a:r>
            <a:r>
              <a:rPr lang="en-US" dirty="0"/>
              <a:t>The entity integrity constraint states that primary key value can't be null.</a:t>
            </a:r>
          </a:p>
          <a:p>
            <a:r>
              <a:rPr lang="en-US" dirty="0"/>
              <a:t>✓ This is because the primary key value is used to identify individual rows in relation and if</a:t>
            </a:r>
          </a:p>
          <a:p>
            <a:r>
              <a:rPr lang="en-US" dirty="0"/>
              <a:t>the primary key has a null value, then we can't identify those rows.</a:t>
            </a:r>
          </a:p>
          <a:p>
            <a:r>
              <a:rPr lang="en-US" dirty="0"/>
              <a:t>✓ A table can contain a null value other than the primary key field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85A39-675E-EF2A-5BD3-C9A0226EF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95" y="3105151"/>
            <a:ext cx="4841405" cy="170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59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5ABA-56F0-84F8-23A0-A5EAF76E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5733CC-ED3E-C28F-8D1E-3BC06EE9B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Integrity, Referential Integrity Constraints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BA1344F-361F-2166-F07C-920FA8420536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2C027-A376-9D4B-7B10-381086C0E055}"/>
              </a:ext>
            </a:extLst>
          </p:cNvPr>
          <p:cNvSpPr txBox="1"/>
          <p:nvPr/>
        </p:nvSpPr>
        <p:spPr>
          <a:xfrm>
            <a:off x="237844" y="1581150"/>
            <a:ext cx="372660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 Referential Integrity Constraints</a:t>
            </a:r>
          </a:p>
          <a:p>
            <a:r>
              <a:rPr lang="en-US" dirty="0"/>
              <a:t>✓ A referential integrity constraint is specified between two tables.</a:t>
            </a:r>
          </a:p>
          <a:p>
            <a:r>
              <a:rPr lang="en-US" dirty="0"/>
              <a:t>✓ In the Referential integrity constraints, if a foreign key in Table 1 refers to the</a:t>
            </a:r>
          </a:p>
          <a:p>
            <a:r>
              <a:rPr lang="en-US" dirty="0"/>
              <a:t>Primary Key of Table 2, then every value of the Foreign Key in Table 1 must be null or be available in Table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717E3-4A84-F64C-F338-E61E9D7AA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448" y="1202641"/>
            <a:ext cx="4926467" cy="365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43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1212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slide1</Template>
  <TotalTime>2453</TotalTime>
  <Words>1386</Words>
  <Application>Microsoft Office PowerPoint</Application>
  <PresentationFormat>On-screen Show (16:9)</PresentationFormat>
  <Paragraphs>180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ＭＳ Ｐゴシック</vt:lpstr>
      <vt:lpstr>Aptos</vt:lpstr>
      <vt:lpstr>Arial</vt:lpstr>
      <vt:lpstr>Calibri</vt:lpstr>
      <vt:lpstr>Monotype Sorts</vt:lpstr>
      <vt:lpstr>Symbol</vt:lpstr>
      <vt:lpstr>Trebuchet MS</vt:lpstr>
      <vt:lpstr>Wingdings</vt:lpstr>
      <vt:lpstr>Office Theme</vt:lpstr>
      <vt:lpstr>PowerPoint Presentation</vt:lpstr>
      <vt:lpstr>Relational Model Concepts</vt:lpstr>
      <vt:lpstr>Relational Model Concepts</vt:lpstr>
      <vt:lpstr>Domains, Attributes, Tuples, and Relations </vt:lpstr>
      <vt:lpstr>Relations are Unordered</vt:lpstr>
      <vt:lpstr>Relation Schema</vt:lpstr>
      <vt:lpstr>Database</vt:lpstr>
      <vt:lpstr>Key Constraints and Constraints on NULL Values</vt:lpstr>
      <vt:lpstr>Key Constraints – Super Key</vt:lpstr>
      <vt:lpstr>Key Constraints – Super Key</vt:lpstr>
      <vt:lpstr>Key Constraints – Candidate Key</vt:lpstr>
      <vt:lpstr>Key Constraints – Primary Key</vt:lpstr>
      <vt:lpstr>Key Constraints – Foreign Key</vt:lpstr>
      <vt:lpstr>Key Constraints – Secondary Key</vt:lpstr>
      <vt:lpstr>Key Constraints – Unique Key</vt:lpstr>
      <vt:lpstr>Key Constraints – Composite Key</vt:lpstr>
      <vt:lpstr> Integrity, Referential Integrity, and Foreign Keys</vt:lpstr>
      <vt:lpstr> Integrity, Domain Constraints</vt:lpstr>
      <vt:lpstr> Integrity, Entity Integrity Constraints</vt:lpstr>
      <vt:lpstr> Integrity, Referential Integrity Constraints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social</dc:creator>
  <cp:lastModifiedBy>Antu Chowdhury</cp:lastModifiedBy>
  <cp:revision>37</cp:revision>
  <dcterms:created xsi:type="dcterms:W3CDTF">2024-11-07T07:22:09Z</dcterms:created>
  <dcterms:modified xsi:type="dcterms:W3CDTF">2026-09-23T08:51:58Z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2023-02-14T00:00:00Z</vt:filetime>
  </property>
</Properties>
</file>