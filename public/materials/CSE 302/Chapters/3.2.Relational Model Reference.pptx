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355" r:id="rId3"/>
    <p:sldId id="359" r:id="rId4"/>
    <p:sldId id="361" r:id="rId5"/>
    <p:sldId id="362" r:id="rId6"/>
    <p:sldId id="363" r:id="rId7"/>
    <p:sldId id="356" r:id="rId8"/>
    <p:sldId id="357" r:id="rId9"/>
    <p:sldId id="358" r:id="rId10"/>
    <p:sldId id="360" r:id="rId11"/>
    <p:sldId id="368" r:id="rId12"/>
    <p:sldId id="369" r:id="rId13"/>
    <p:sldId id="370" r:id="rId14"/>
    <p:sldId id="371" r:id="rId15"/>
    <p:sldId id="372" r:id="rId16"/>
    <p:sldId id="365" r:id="rId17"/>
    <p:sldId id="366" r:id="rId18"/>
    <p:sldId id="373" r:id="rId19"/>
    <p:sldId id="379" r:id="rId20"/>
    <p:sldId id="380" r:id="rId21"/>
    <p:sldId id="377" r:id="rId22"/>
    <p:sldId id="285"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1386" autoAdjust="0"/>
  </p:normalViewPr>
  <p:slideViewPr>
    <p:cSldViewPr snapToGrid="0">
      <p:cViewPr varScale="1">
        <p:scale>
          <a:sx n="79" d="100"/>
          <a:sy n="79" d="100"/>
        </p:scale>
        <p:origin x="1008" y="84"/>
      </p:cViewPr>
      <p:guideLst/>
    </p:cSldViewPr>
  </p:slideViewPr>
  <p:notesTextViewPr>
    <p:cViewPr>
      <p:scale>
        <a:sx n="1" d="1"/>
        <a:sy n="1" d="1"/>
      </p:scale>
      <p:origin x="0" y="0"/>
    </p:cViewPr>
  </p:notesTextViewPr>
  <p:sorterViewPr>
    <p:cViewPr>
      <p:scale>
        <a:sx n="200" d="100"/>
        <a:sy n="2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127847-B304-4C28-94C8-2A911D79743A}" type="datetimeFigureOut">
              <a:rPr lang="en-US" smtClean="0"/>
              <a:t>23-Sep-26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525345-0DF8-4354-B001-4182F2735B65}" type="slidenum">
              <a:rPr lang="en-US" smtClean="0"/>
              <a:t>‹#›</a:t>
            </a:fld>
            <a:endParaRPr lang="en-US"/>
          </a:p>
        </p:txBody>
      </p:sp>
    </p:spTree>
    <p:extLst>
      <p:ext uri="{BB962C8B-B14F-4D97-AF65-F5344CB8AC3E}">
        <p14:creationId xmlns:p14="http://schemas.microsoft.com/office/powerpoint/2010/main" val="18738781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B74E0-7E1A-9044-1963-AB990756772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8D231D7-8739-2D7B-B801-587FF4A1F8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3623538-811C-7B56-74FF-4819B18A9AC1}"/>
              </a:ext>
            </a:extLst>
          </p:cNvPr>
          <p:cNvSpPr>
            <a:spLocks noGrp="1"/>
          </p:cNvSpPr>
          <p:nvPr>
            <p:ph type="dt" sz="half" idx="10"/>
          </p:nvPr>
        </p:nvSpPr>
        <p:spPr/>
        <p:txBody>
          <a:bodyPr/>
          <a:lstStyle/>
          <a:p>
            <a:fld id="{CE41289E-E45A-4C80-BB84-7EC5952FE76B}" type="datetimeFigureOut">
              <a:rPr lang="en-US" smtClean="0"/>
              <a:t>23-Sep-26</a:t>
            </a:fld>
            <a:endParaRPr lang="en-US"/>
          </a:p>
        </p:txBody>
      </p:sp>
      <p:sp>
        <p:nvSpPr>
          <p:cNvPr id="5" name="Footer Placeholder 4">
            <a:extLst>
              <a:ext uri="{FF2B5EF4-FFF2-40B4-BE49-F238E27FC236}">
                <a16:creationId xmlns:a16="http://schemas.microsoft.com/office/drawing/2014/main" id="{0F240D5B-B05F-8235-7AC7-6550B1C257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94FB47-F9D1-1062-2BAF-E7075967E2A2}"/>
              </a:ext>
            </a:extLst>
          </p:cNvPr>
          <p:cNvSpPr>
            <a:spLocks noGrp="1"/>
          </p:cNvSpPr>
          <p:nvPr>
            <p:ph type="sldNum" sz="quarter" idx="12"/>
          </p:nvPr>
        </p:nvSpPr>
        <p:spPr/>
        <p:txBody>
          <a:bodyPr/>
          <a:lstStyle/>
          <a:p>
            <a:fld id="{E199BF8C-199A-420E-AD47-765295E635DE}" type="slidenum">
              <a:rPr lang="en-US" smtClean="0"/>
              <a:t>‹#›</a:t>
            </a:fld>
            <a:endParaRPr lang="en-US"/>
          </a:p>
        </p:txBody>
      </p:sp>
    </p:spTree>
    <p:extLst>
      <p:ext uri="{BB962C8B-B14F-4D97-AF65-F5344CB8AC3E}">
        <p14:creationId xmlns:p14="http://schemas.microsoft.com/office/powerpoint/2010/main" val="37484211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7DE4D-7B28-724D-1D27-C64326D0A7E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44BD403-3D21-D435-D62B-41549ED7C35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4FC2FD-29D7-E211-7716-A749CFFFA226}"/>
              </a:ext>
            </a:extLst>
          </p:cNvPr>
          <p:cNvSpPr>
            <a:spLocks noGrp="1"/>
          </p:cNvSpPr>
          <p:nvPr>
            <p:ph type="dt" sz="half" idx="10"/>
          </p:nvPr>
        </p:nvSpPr>
        <p:spPr/>
        <p:txBody>
          <a:bodyPr/>
          <a:lstStyle/>
          <a:p>
            <a:fld id="{CE41289E-E45A-4C80-BB84-7EC5952FE76B}" type="datetimeFigureOut">
              <a:rPr lang="en-US" smtClean="0"/>
              <a:t>23-Sep-26</a:t>
            </a:fld>
            <a:endParaRPr lang="en-US"/>
          </a:p>
        </p:txBody>
      </p:sp>
      <p:sp>
        <p:nvSpPr>
          <p:cNvPr id="5" name="Footer Placeholder 4">
            <a:extLst>
              <a:ext uri="{FF2B5EF4-FFF2-40B4-BE49-F238E27FC236}">
                <a16:creationId xmlns:a16="http://schemas.microsoft.com/office/drawing/2014/main" id="{289E0F15-AD87-9094-6FEE-6EBDB68506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625AC8-82FF-4F34-9D39-E7A6A15EBD5F}"/>
              </a:ext>
            </a:extLst>
          </p:cNvPr>
          <p:cNvSpPr>
            <a:spLocks noGrp="1"/>
          </p:cNvSpPr>
          <p:nvPr>
            <p:ph type="sldNum" sz="quarter" idx="12"/>
          </p:nvPr>
        </p:nvSpPr>
        <p:spPr/>
        <p:txBody>
          <a:bodyPr/>
          <a:lstStyle/>
          <a:p>
            <a:fld id="{E199BF8C-199A-420E-AD47-765295E635DE}" type="slidenum">
              <a:rPr lang="en-US" smtClean="0"/>
              <a:t>‹#›</a:t>
            </a:fld>
            <a:endParaRPr lang="en-US"/>
          </a:p>
        </p:txBody>
      </p:sp>
    </p:spTree>
    <p:extLst>
      <p:ext uri="{BB962C8B-B14F-4D97-AF65-F5344CB8AC3E}">
        <p14:creationId xmlns:p14="http://schemas.microsoft.com/office/powerpoint/2010/main" val="8233379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36C4-3658-4C0A-2832-105793512A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B39FA9E-AAF0-A626-E993-015A4B44A55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0B25676-E101-6FA9-27D6-5D114BB2730C}"/>
              </a:ext>
            </a:extLst>
          </p:cNvPr>
          <p:cNvSpPr>
            <a:spLocks noGrp="1"/>
          </p:cNvSpPr>
          <p:nvPr>
            <p:ph type="dt" sz="half" idx="10"/>
          </p:nvPr>
        </p:nvSpPr>
        <p:spPr/>
        <p:txBody>
          <a:bodyPr/>
          <a:lstStyle/>
          <a:p>
            <a:fld id="{CE41289E-E45A-4C80-BB84-7EC5952FE76B}" type="datetimeFigureOut">
              <a:rPr lang="en-US" smtClean="0"/>
              <a:t>23-Sep-26</a:t>
            </a:fld>
            <a:endParaRPr lang="en-US"/>
          </a:p>
        </p:txBody>
      </p:sp>
      <p:sp>
        <p:nvSpPr>
          <p:cNvPr id="5" name="Footer Placeholder 4">
            <a:extLst>
              <a:ext uri="{FF2B5EF4-FFF2-40B4-BE49-F238E27FC236}">
                <a16:creationId xmlns:a16="http://schemas.microsoft.com/office/drawing/2014/main" id="{9EEF2E8C-C3C3-D0D3-EB0F-35C49BBFC6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C4CE9E-3406-D835-B3DD-0C19A71FDD0A}"/>
              </a:ext>
            </a:extLst>
          </p:cNvPr>
          <p:cNvSpPr>
            <a:spLocks noGrp="1"/>
          </p:cNvSpPr>
          <p:nvPr>
            <p:ph type="sldNum" sz="quarter" idx="12"/>
          </p:nvPr>
        </p:nvSpPr>
        <p:spPr/>
        <p:txBody>
          <a:bodyPr/>
          <a:lstStyle/>
          <a:p>
            <a:fld id="{E199BF8C-199A-420E-AD47-765295E635DE}" type="slidenum">
              <a:rPr lang="en-US" smtClean="0"/>
              <a:t>‹#›</a:t>
            </a:fld>
            <a:endParaRPr lang="en-US"/>
          </a:p>
        </p:txBody>
      </p:sp>
    </p:spTree>
    <p:extLst>
      <p:ext uri="{BB962C8B-B14F-4D97-AF65-F5344CB8AC3E}">
        <p14:creationId xmlns:p14="http://schemas.microsoft.com/office/powerpoint/2010/main" val="164699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6208A-5FD0-BB4A-DC5A-691B07E46A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24F1ED5-CC10-79D0-11BA-7955A9493F5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9C115F3-CD11-F477-F88B-0E47115BFD4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C1D8F12-2476-E230-645E-35CC988EB7CE}"/>
              </a:ext>
            </a:extLst>
          </p:cNvPr>
          <p:cNvSpPr>
            <a:spLocks noGrp="1"/>
          </p:cNvSpPr>
          <p:nvPr>
            <p:ph type="dt" sz="half" idx="10"/>
          </p:nvPr>
        </p:nvSpPr>
        <p:spPr/>
        <p:txBody>
          <a:bodyPr/>
          <a:lstStyle/>
          <a:p>
            <a:fld id="{CE41289E-E45A-4C80-BB84-7EC5952FE76B}" type="datetimeFigureOut">
              <a:rPr lang="en-US" smtClean="0"/>
              <a:t>23-Sep-26</a:t>
            </a:fld>
            <a:endParaRPr lang="en-US"/>
          </a:p>
        </p:txBody>
      </p:sp>
      <p:sp>
        <p:nvSpPr>
          <p:cNvPr id="6" name="Footer Placeholder 5">
            <a:extLst>
              <a:ext uri="{FF2B5EF4-FFF2-40B4-BE49-F238E27FC236}">
                <a16:creationId xmlns:a16="http://schemas.microsoft.com/office/drawing/2014/main" id="{AA69849E-D08D-5B15-C650-B85A83D282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AED30C-F894-DDB6-4C9E-8ECBDBC2D739}"/>
              </a:ext>
            </a:extLst>
          </p:cNvPr>
          <p:cNvSpPr>
            <a:spLocks noGrp="1"/>
          </p:cNvSpPr>
          <p:nvPr>
            <p:ph type="sldNum" sz="quarter" idx="12"/>
          </p:nvPr>
        </p:nvSpPr>
        <p:spPr/>
        <p:txBody>
          <a:bodyPr/>
          <a:lstStyle/>
          <a:p>
            <a:fld id="{E199BF8C-199A-420E-AD47-765295E635DE}" type="slidenum">
              <a:rPr lang="en-US" smtClean="0"/>
              <a:t>‹#›</a:t>
            </a:fld>
            <a:endParaRPr lang="en-US"/>
          </a:p>
        </p:txBody>
      </p:sp>
    </p:spTree>
    <p:extLst>
      <p:ext uri="{BB962C8B-B14F-4D97-AF65-F5344CB8AC3E}">
        <p14:creationId xmlns:p14="http://schemas.microsoft.com/office/powerpoint/2010/main" val="26869460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36B7F-08E0-0409-6A63-8DF21E68F73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A575D18-A8C9-7A1C-F960-5A33FCAA2B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62646F-9BF5-5304-4CFF-34CE9D4CE7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C0B9820-848D-5454-C1FE-6C28278BB98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88DA15-2CDA-E791-2AB7-113AA732E54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EAA4CD3-FED2-3D32-EC65-B005DB1119BB}"/>
              </a:ext>
            </a:extLst>
          </p:cNvPr>
          <p:cNvSpPr>
            <a:spLocks noGrp="1"/>
          </p:cNvSpPr>
          <p:nvPr>
            <p:ph type="dt" sz="half" idx="10"/>
          </p:nvPr>
        </p:nvSpPr>
        <p:spPr/>
        <p:txBody>
          <a:bodyPr/>
          <a:lstStyle/>
          <a:p>
            <a:fld id="{CE41289E-E45A-4C80-BB84-7EC5952FE76B}" type="datetimeFigureOut">
              <a:rPr lang="en-US" smtClean="0"/>
              <a:t>23-Sep-26</a:t>
            </a:fld>
            <a:endParaRPr lang="en-US"/>
          </a:p>
        </p:txBody>
      </p:sp>
      <p:sp>
        <p:nvSpPr>
          <p:cNvPr id="8" name="Footer Placeholder 7">
            <a:extLst>
              <a:ext uri="{FF2B5EF4-FFF2-40B4-BE49-F238E27FC236}">
                <a16:creationId xmlns:a16="http://schemas.microsoft.com/office/drawing/2014/main" id="{7CB64417-37F5-B517-EE87-A44AC23B9F3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D8B59D2-15E3-523A-74EA-F54EAE2860A1}"/>
              </a:ext>
            </a:extLst>
          </p:cNvPr>
          <p:cNvSpPr>
            <a:spLocks noGrp="1"/>
          </p:cNvSpPr>
          <p:nvPr>
            <p:ph type="sldNum" sz="quarter" idx="12"/>
          </p:nvPr>
        </p:nvSpPr>
        <p:spPr/>
        <p:txBody>
          <a:bodyPr/>
          <a:lstStyle/>
          <a:p>
            <a:fld id="{E199BF8C-199A-420E-AD47-765295E635DE}" type="slidenum">
              <a:rPr lang="en-US" smtClean="0"/>
              <a:t>‹#›</a:t>
            </a:fld>
            <a:endParaRPr lang="en-US"/>
          </a:p>
        </p:txBody>
      </p:sp>
    </p:spTree>
    <p:extLst>
      <p:ext uri="{BB962C8B-B14F-4D97-AF65-F5344CB8AC3E}">
        <p14:creationId xmlns:p14="http://schemas.microsoft.com/office/powerpoint/2010/main" val="20057050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5AE88-DC90-6B68-F0BB-F8691F4A404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772919-0B81-729A-4324-E22C2C67BC95}"/>
              </a:ext>
            </a:extLst>
          </p:cNvPr>
          <p:cNvSpPr>
            <a:spLocks noGrp="1"/>
          </p:cNvSpPr>
          <p:nvPr>
            <p:ph type="dt" sz="half" idx="10"/>
          </p:nvPr>
        </p:nvSpPr>
        <p:spPr/>
        <p:txBody>
          <a:bodyPr/>
          <a:lstStyle/>
          <a:p>
            <a:fld id="{CE41289E-E45A-4C80-BB84-7EC5952FE76B}" type="datetimeFigureOut">
              <a:rPr lang="en-US" smtClean="0"/>
              <a:t>23-Sep-26</a:t>
            </a:fld>
            <a:endParaRPr lang="en-US"/>
          </a:p>
        </p:txBody>
      </p:sp>
      <p:sp>
        <p:nvSpPr>
          <p:cNvPr id="4" name="Footer Placeholder 3">
            <a:extLst>
              <a:ext uri="{FF2B5EF4-FFF2-40B4-BE49-F238E27FC236}">
                <a16:creationId xmlns:a16="http://schemas.microsoft.com/office/drawing/2014/main" id="{3D937C64-A502-192A-8E32-135AA36CA41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6DE2735-5BBD-DFB2-0FE7-AF81DB292A31}"/>
              </a:ext>
            </a:extLst>
          </p:cNvPr>
          <p:cNvSpPr>
            <a:spLocks noGrp="1"/>
          </p:cNvSpPr>
          <p:nvPr>
            <p:ph type="sldNum" sz="quarter" idx="12"/>
          </p:nvPr>
        </p:nvSpPr>
        <p:spPr/>
        <p:txBody>
          <a:bodyPr/>
          <a:lstStyle/>
          <a:p>
            <a:fld id="{E199BF8C-199A-420E-AD47-765295E635DE}" type="slidenum">
              <a:rPr lang="en-US" smtClean="0"/>
              <a:t>‹#›</a:t>
            </a:fld>
            <a:endParaRPr lang="en-US"/>
          </a:p>
        </p:txBody>
      </p:sp>
    </p:spTree>
    <p:extLst>
      <p:ext uri="{BB962C8B-B14F-4D97-AF65-F5344CB8AC3E}">
        <p14:creationId xmlns:p14="http://schemas.microsoft.com/office/powerpoint/2010/main" val="1909315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9FFA1D-3F39-9D0E-3470-7CE62557597E}"/>
              </a:ext>
            </a:extLst>
          </p:cNvPr>
          <p:cNvSpPr>
            <a:spLocks noGrp="1"/>
          </p:cNvSpPr>
          <p:nvPr>
            <p:ph type="dt" sz="half" idx="10"/>
          </p:nvPr>
        </p:nvSpPr>
        <p:spPr/>
        <p:txBody>
          <a:bodyPr/>
          <a:lstStyle/>
          <a:p>
            <a:fld id="{CE41289E-E45A-4C80-BB84-7EC5952FE76B}" type="datetimeFigureOut">
              <a:rPr lang="en-US" smtClean="0"/>
              <a:t>23-Sep-26</a:t>
            </a:fld>
            <a:endParaRPr lang="en-US"/>
          </a:p>
        </p:txBody>
      </p:sp>
      <p:sp>
        <p:nvSpPr>
          <p:cNvPr id="3" name="Footer Placeholder 2">
            <a:extLst>
              <a:ext uri="{FF2B5EF4-FFF2-40B4-BE49-F238E27FC236}">
                <a16:creationId xmlns:a16="http://schemas.microsoft.com/office/drawing/2014/main" id="{326A6BC9-C1E2-5FF2-E463-F819DB612DC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7FD7480-FE9E-F04F-9FFD-EC9A4B574336}"/>
              </a:ext>
            </a:extLst>
          </p:cNvPr>
          <p:cNvSpPr>
            <a:spLocks noGrp="1"/>
          </p:cNvSpPr>
          <p:nvPr>
            <p:ph type="sldNum" sz="quarter" idx="12"/>
          </p:nvPr>
        </p:nvSpPr>
        <p:spPr/>
        <p:txBody>
          <a:bodyPr/>
          <a:lstStyle/>
          <a:p>
            <a:fld id="{E199BF8C-199A-420E-AD47-765295E635DE}" type="slidenum">
              <a:rPr lang="en-US" smtClean="0"/>
              <a:t>‹#›</a:t>
            </a:fld>
            <a:endParaRPr lang="en-US"/>
          </a:p>
        </p:txBody>
      </p:sp>
    </p:spTree>
    <p:extLst>
      <p:ext uri="{BB962C8B-B14F-4D97-AF65-F5344CB8AC3E}">
        <p14:creationId xmlns:p14="http://schemas.microsoft.com/office/powerpoint/2010/main" val="1925326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7CFDD-EB61-C133-23C2-E12DC64448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983CB9A-198E-5DC7-D016-60399DA296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1075C1B-F211-0F21-EEF5-30C3715969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6B3AA3-DFA9-2128-4B54-64CFB85C3FD5}"/>
              </a:ext>
            </a:extLst>
          </p:cNvPr>
          <p:cNvSpPr>
            <a:spLocks noGrp="1"/>
          </p:cNvSpPr>
          <p:nvPr>
            <p:ph type="dt" sz="half" idx="10"/>
          </p:nvPr>
        </p:nvSpPr>
        <p:spPr/>
        <p:txBody>
          <a:bodyPr/>
          <a:lstStyle/>
          <a:p>
            <a:fld id="{CE41289E-E45A-4C80-BB84-7EC5952FE76B}" type="datetimeFigureOut">
              <a:rPr lang="en-US" smtClean="0"/>
              <a:t>23-Sep-26</a:t>
            </a:fld>
            <a:endParaRPr lang="en-US"/>
          </a:p>
        </p:txBody>
      </p:sp>
      <p:sp>
        <p:nvSpPr>
          <p:cNvPr id="6" name="Footer Placeholder 5">
            <a:extLst>
              <a:ext uri="{FF2B5EF4-FFF2-40B4-BE49-F238E27FC236}">
                <a16:creationId xmlns:a16="http://schemas.microsoft.com/office/drawing/2014/main" id="{D07A3595-E790-FF9F-B02A-C0F257C17E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DFD15B-AB07-AB44-07E4-CA9705B3147B}"/>
              </a:ext>
            </a:extLst>
          </p:cNvPr>
          <p:cNvSpPr>
            <a:spLocks noGrp="1"/>
          </p:cNvSpPr>
          <p:nvPr>
            <p:ph type="sldNum" sz="quarter" idx="12"/>
          </p:nvPr>
        </p:nvSpPr>
        <p:spPr/>
        <p:txBody>
          <a:bodyPr/>
          <a:lstStyle/>
          <a:p>
            <a:fld id="{E199BF8C-199A-420E-AD47-765295E635DE}" type="slidenum">
              <a:rPr lang="en-US" smtClean="0"/>
              <a:t>‹#›</a:t>
            </a:fld>
            <a:endParaRPr lang="en-US"/>
          </a:p>
        </p:txBody>
      </p:sp>
    </p:spTree>
    <p:extLst>
      <p:ext uri="{BB962C8B-B14F-4D97-AF65-F5344CB8AC3E}">
        <p14:creationId xmlns:p14="http://schemas.microsoft.com/office/powerpoint/2010/main" val="26082422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7DDE3-CC70-7D66-9A21-4E955999EA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DFBDBB4-11E1-36DA-EC21-A807FC9BD7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5E6F971-1021-7FA6-22A4-B7B1FF527B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51FE62-7809-C9EE-DC17-1225FFE45209}"/>
              </a:ext>
            </a:extLst>
          </p:cNvPr>
          <p:cNvSpPr>
            <a:spLocks noGrp="1"/>
          </p:cNvSpPr>
          <p:nvPr>
            <p:ph type="dt" sz="half" idx="10"/>
          </p:nvPr>
        </p:nvSpPr>
        <p:spPr/>
        <p:txBody>
          <a:bodyPr/>
          <a:lstStyle/>
          <a:p>
            <a:fld id="{CE41289E-E45A-4C80-BB84-7EC5952FE76B}" type="datetimeFigureOut">
              <a:rPr lang="en-US" smtClean="0"/>
              <a:t>23-Sep-26</a:t>
            </a:fld>
            <a:endParaRPr lang="en-US"/>
          </a:p>
        </p:txBody>
      </p:sp>
      <p:sp>
        <p:nvSpPr>
          <p:cNvPr id="6" name="Footer Placeholder 5">
            <a:extLst>
              <a:ext uri="{FF2B5EF4-FFF2-40B4-BE49-F238E27FC236}">
                <a16:creationId xmlns:a16="http://schemas.microsoft.com/office/drawing/2014/main" id="{8B263811-35EA-D69D-9703-A149FF7ED6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0BDA5B4-EF99-39F6-BF6F-FC963C149440}"/>
              </a:ext>
            </a:extLst>
          </p:cNvPr>
          <p:cNvSpPr>
            <a:spLocks noGrp="1"/>
          </p:cNvSpPr>
          <p:nvPr>
            <p:ph type="sldNum" sz="quarter" idx="12"/>
          </p:nvPr>
        </p:nvSpPr>
        <p:spPr/>
        <p:txBody>
          <a:bodyPr/>
          <a:lstStyle/>
          <a:p>
            <a:fld id="{E199BF8C-199A-420E-AD47-765295E635DE}" type="slidenum">
              <a:rPr lang="en-US" smtClean="0"/>
              <a:t>‹#›</a:t>
            </a:fld>
            <a:endParaRPr lang="en-US"/>
          </a:p>
        </p:txBody>
      </p:sp>
    </p:spTree>
    <p:extLst>
      <p:ext uri="{BB962C8B-B14F-4D97-AF65-F5344CB8AC3E}">
        <p14:creationId xmlns:p14="http://schemas.microsoft.com/office/powerpoint/2010/main" val="12574273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C8389-99EE-F1B2-C7F4-9A676335873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BEAAFD6-F006-27A1-A117-7461E3CD871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4253E5-C2EE-46E0-14A1-0730661E29FE}"/>
              </a:ext>
            </a:extLst>
          </p:cNvPr>
          <p:cNvSpPr>
            <a:spLocks noGrp="1"/>
          </p:cNvSpPr>
          <p:nvPr>
            <p:ph type="dt" sz="half" idx="10"/>
          </p:nvPr>
        </p:nvSpPr>
        <p:spPr/>
        <p:txBody>
          <a:bodyPr/>
          <a:lstStyle/>
          <a:p>
            <a:fld id="{CE41289E-E45A-4C80-BB84-7EC5952FE76B}" type="datetimeFigureOut">
              <a:rPr lang="en-US" smtClean="0"/>
              <a:t>23-Sep-26</a:t>
            </a:fld>
            <a:endParaRPr lang="en-US"/>
          </a:p>
        </p:txBody>
      </p:sp>
      <p:sp>
        <p:nvSpPr>
          <p:cNvPr id="5" name="Footer Placeholder 4">
            <a:extLst>
              <a:ext uri="{FF2B5EF4-FFF2-40B4-BE49-F238E27FC236}">
                <a16:creationId xmlns:a16="http://schemas.microsoft.com/office/drawing/2014/main" id="{76097061-F268-74D2-0CF4-A6D479E621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405A30-A027-27C9-9A6E-25839C8650F6}"/>
              </a:ext>
            </a:extLst>
          </p:cNvPr>
          <p:cNvSpPr>
            <a:spLocks noGrp="1"/>
          </p:cNvSpPr>
          <p:nvPr>
            <p:ph type="sldNum" sz="quarter" idx="12"/>
          </p:nvPr>
        </p:nvSpPr>
        <p:spPr/>
        <p:txBody>
          <a:bodyPr/>
          <a:lstStyle/>
          <a:p>
            <a:fld id="{E199BF8C-199A-420E-AD47-765295E635DE}" type="slidenum">
              <a:rPr lang="en-US" smtClean="0"/>
              <a:t>‹#›</a:t>
            </a:fld>
            <a:endParaRPr lang="en-US"/>
          </a:p>
        </p:txBody>
      </p:sp>
    </p:spTree>
    <p:extLst>
      <p:ext uri="{BB962C8B-B14F-4D97-AF65-F5344CB8AC3E}">
        <p14:creationId xmlns:p14="http://schemas.microsoft.com/office/powerpoint/2010/main" val="16726041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221C61-421D-FC1F-7244-54E9A10E256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5D8FDF-A85A-9B98-6464-CB3590E44A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305F2D-A0E2-999F-A12C-75E1CB432800}"/>
              </a:ext>
            </a:extLst>
          </p:cNvPr>
          <p:cNvSpPr>
            <a:spLocks noGrp="1"/>
          </p:cNvSpPr>
          <p:nvPr>
            <p:ph type="dt" sz="half" idx="10"/>
          </p:nvPr>
        </p:nvSpPr>
        <p:spPr/>
        <p:txBody>
          <a:bodyPr/>
          <a:lstStyle/>
          <a:p>
            <a:fld id="{CE41289E-E45A-4C80-BB84-7EC5952FE76B}" type="datetimeFigureOut">
              <a:rPr lang="en-US" smtClean="0"/>
              <a:t>23-Sep-26</a:t>
            </a:fld>
            <a:endParaRPr lang="en-US"/>
          </a:p>
        </p:txBody>
      </p:sp>
      <p:sp>
        <p:nvSpPr>
          <p:cNvPr id="5" name="Footer Placeholder 4">
            <a:extLst>
              <a:ext uri="{FF2B5EF4-FFF2-40B4-BE49-F238E27FC236}">
                <a16:creationId xmlns:a16="http://schemas.microsoft.com/office/drawing/2014/main" id="{C75823BD-87D1-B842-C576-99256AB353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E1F7BA-1B23-7AA4-79CF-1300842904AA}"/>
              </a:ext>
            </a:extLst>
          </p:cNvPr>
          <p:cNvSpPr>
            <a:spLocks noGrp="1"/>
          </p:cNvSpPr>
          <p:nvPr>
            <p:ph type="sldNum" sz="quarter" idx="12"/>
          </p:nvPr>
        </p:nvSpPr>
        <p:spPr/>
        <p:txBody>
          <a:bodyPr/>
          <a:lstStyle/>
          <a:p>
            <a:fld id="{E199BF8C-199A-420E-AD47-765295E635DE}" type="slidenum">
              <a:rPr lang="en-US" smtClean="0"/>
              <a:t>‹#›</a:t>
            </a:fld>
            <a:endParaRPr lang="en-US"/>
          </a:p>
        </p:txBody>
      </p:sp>
    </p:spTree>
    <p:extLst>
      <p:ext uri="{BB962C8B-B14F-4D97-AF65-F5344CB8AC3E}">
        <p14:creationId xmlns:p14="http://schemas.microsoft.com/office/powerpoint/2010/main" val="1672141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4975EF-4F41-E50C-3FFA-89BC80AF02A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5967CEA-1F24-33C9-A26A-1CC5907307B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57147C-47D9-7370-DBCA-13A9C37F27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41289E-E45A-4C80-BB84-7EC5952FE76B}" type="datetimeFigureOut">
              <a:rPr lang="en-US" smtClean="0"/>
              <a:t>23-Sep-26</a:t>
            </a:fld>
            <a:endParaRPr lang="en-US"/>
          </a:p>
        </p:txBody>
      </p:sp>
      <p:sp>
        <p:nvSpPr>
          <p:cNvPr id="5" name="Footer Placeholder 4">
            <a:extLst>
              <a:ext uri="{FF2B5EF4-FFF2-40B4-BE49-F238E27FC236}">
                <a16:creationId xmlns:a16="http://schemas.microsoft.com/office/drawing/2014/main" id="{E7B52AD8-897D-31D1-337B-B548640664B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F8121EA-D5F4-9A2F-D492-32AB4FC226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199BF8C-199A-420E-AD47-765295E635DE}" type="slidenum">
              <a:rPr lang="en-US" smtClean="0"/>
              <a:t>‹#›</a:t>
            </a:fld>
            <a:endParaRPr lang="en-US"/>
          </a:p>
        </p:txBody>
      </p:sp>
    </p:spTree>
    <p:extLst>
      <p:ext uri="{BB962C8B-B14F-4D97-AF65-F5344CB8AC3E}">
        <p14:creationId xmlns:p14="http://schemas.microsoft.com/office/powerpoint/2010/main" val="24641611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06BA711-228E-B45C-8179-D76B6A5490E1}"/>
              </a:ext>
            </a:extLst>
          </p:cNvPr>
          <p:cNvSpPr>
            <a:spLocks noGrp="1"/>
          </p:cNvSpPr>
          <p:nvPr>
            <p:ph type="dt" sz="half" idx="10"/>
          </p:nvPr>
        </p:nvSpPr>
        <p:spPr/>
        <p:txBody>
          <a:bodyPr/>
          <a:lstStyle/>
          <a:p>
            <a:fld id="{C1CDDB05-7545-485D-BAE6-2CE87714CF19}" type="datetime1">
              <a:rPr lang="en-US" smtClean="0"/>
              <a:t>23-Sep-26</a:t>
            </a:fld>
            <a:endParaRPr lang="en-US"/>
          </a:p>
        </p:txBody>
      </p:sp>
      <p:sp>
        <p:nvSpPr>
          <p:cNvPr id="5" name="Slide Number Placeholder 4">
            <a:extLst>
              <a:ext uri="{FF2B5EF4-FFF2-40B4-BE49-F238E27FC236}">
                <a16:creationId xmlns:a16="http://schemas.microsoft.com/office/drawing/2014/main" id="{2C96A1E9-DA17-11CA-721D-75EA6BD1D733}"/>
              </a:ext>
            </a:extLst>
          </p:cNvPr>
          <p:cNvSpPr>
            <a:spLocks noGrp="1"/>
          </p:cNvSpPr>
          <p:nvPr>
            <p:ph type="sldNum" sz="quarter" idx="12"/>
          </p:nvPr>
        </p:nvSpPr>
        <p:spPr/>
        <p:txBody>
          <a:bodyPr/>
          <a:lstStyle/>
          <a:p>
            <a:fld id="{E199BF8C-199A-420E-AD47-765295E635DE}" type="slidenum">
              <a:rPr lang="en-US" smtClean="0"/>
              <a:t>1</a:t>
            </a:fld>
            <a:endParaRPr lang="en-US"/>
          </a:p>
        </p:txBody>
      </p:sp>
      <p:sp>
        <p:nvSpPr>
          <p:cNvPr id="6" name="Rectangle 5">
            <a:extLst>
              <a:ext uri="{FF2B5EF4-FFF2-40B4-BE49-F238E27FC236}">
                <a16:creationId xmlns:a16="http://schemas.microsoft.com/office/drawing/2014/main" id="{31B29D6B-8476-9005-EFFF-DDC8C87BB079}"/>
              </a:ext>
            </a:extLst>
          </p:cNvPr>
          <p:cNvSpPr/>
          <p:nvPr/>
        </p:nvSpPr>
        <p:spPr>
          <a:xfrm>
            <a:off x="0" y="0"/>
            <a:ext cx="12192000" cy="3917617"/>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6F9CDF43-DD5E-2948-4D8D-276BFA133A56}"/>
              </a:ext>
            </a:extLst>
          </p:cNvPr>
          <p:cNvSpPr txBox="1"/>
          <p:nvPr/>
        </p:nvSpPr>
        <p:spPr>
          <a:xfrm>
            <a:off x="1747934" y="2303997"/>
            <a:ext cx="8696131" cy="707886"/>
          </a:xfrm>
          <a:prstGeom prst="rect">
            <a:avLst/>
          </a:prstGeom>
          <a:noFill/>
        </p:spPr>
        <p:txBody>
          <a:bodyPr wrap="square" rtlCol="0">
            <a:spAutoFit/>
          </a:bodyPr>
          <a:lstStyle/>
          <a:p>
            <a:pPr algn="ctr"/>
            <a:r>
              <a:rPr lang="en-US" sz="4000" dirty="0"/>
              <a:t>CSE302||Database Systems (Reference)</a:t>
            </a:r>
          </a:p>
        </p:txBody>
      </p:sp>
      <p:sp>
        <p:nvSpPr>
          <p:cNvPr id="8" name="TextBox 7">
            <a:extLst>
              <a:ext uri="{FF2B5EF4-FFF2-40B4-BE49-F238E27FC236}">
                <a16:creationId xmlns:a16="http://schemas.microsoft.com/office/drawing/2014/main" id="{8C42BC90-E106-42E6-E851-4B940F35A807}"/>
              </a:ext>
            </a:extLst>
          </p:cNvPr>
          <p:cNvSpPr txBox="1"/>
          <p:nvPr/>
        </p:nvSpPr>
        <p:spPr>
          <a:xfrm>
            <a:off x="5612904" y="4048998"/>
            <a:ext cx="6395441" cy="1569660"/>
          </a:xfrm>
          <a:prstGeom prst="rect">
            <a:avLst/>
          </a:prstGeom>
          <a:noFill/>
        </p:spPr>
        <p:txBody>
          <a:bodyPr wrap="square" rtlCol="0">
            <a:spAutoFit/>
          </a:bodyPr>
          <a:lstStyle/>
          <a:p>
            <a:pPr algn="r"/>
            <a:r>
              <a:rPr lang="en-US" sz="2400" dirty="0" err="1"/>
              <a:t>Antu</a:t>
            </a:r>
            <a:r>
              <a:rPr lang="en-US" sz="2400" dirty="0"/>
              <a:t> Chowdhury</a:t>
            </a:r>
          </a:p>
          <a:p>
            <a:pPr algn="r"/>
            <a:r>
              <a:rPr lang="en-US" sz="2400" dirty="0"/>
              <a:t>Lecturer, </a:t>
            </a:r>
          </a:p>
          <a:p>
            <a:pPr algn="r"/>
            <a:r>
              <a:rPr lang="en-US" sz="2400" dirty="0"/>
              <a:t>Dept. of CSE</a:t>
            </a:r>
          </a:p>
          <a:p>
            <a:pPr algn="r"/>
            <a:r>
              <a:rPr lang="en-US" sz="2400" dirty="0"/>
              <a:t>East West University</a:t>
            </a:r>
          </a:p>
        </p:txBody>
      </p:sp>
    </p:spTree>
    <p:extLst>
      <p:ext uri="{BB962C8B-B14F-4D97-AF65-F5344CB8AC3E}">
        <p14:creationId xmlns:p14="http://schemas.microsoft.com/office/powerpoint/2010/main" val="8699364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15298-A5D8-44AA-C715-31BD2337E996}"/>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FD936E33-D1A4-4D1D-397C-A6FBD0336876}"/>
              </a:ext>
            </a:extLst>
          </p:cNvPr>
          <p:cNvSpPr>
            <a:spLocks noGrp="1"/>
          </p:cNvSpPr>
          <p:nvPr>
            <p:ph type="dt" sz="half" idx="10"/>
          </p:nvPr>
        </p:nvSpPr>
        <p:spPr/>
        <p:txBody>
          <a:bodyPr/>
          <a:lstStyle/>
          <a:p>
            <a:fld id="{C1CDDB05-7545-485D-BAE6-2CE87714CF19}" type="datetime1">
              <a:rPr lang="en-US" smtClean="0"/>
              <a:t>23-Sep-26</a:t>
            </a:fld>
            <a:endParaRPr lang="en-US"/>
          </a:p>
        </p:txBody>
      </p:sp>
      <p:sp>
        <p:nvSpPr>
          <p:cNvPr id="5" name="Slide Number Placeholder 4">
            <a:extLst>
              <a:ext uri="{FF2B5EF4-FFF2-40B4-BE49-F238E27FC236}">
                <a16:creationId xmlns:a16="http://schemas.microsoft.com/office/drawing/2014/main" id="{7B38B727-039E-99D2-07CF-2995C7135BD6}"/>
              </a:ext>
            </a:extLst>
          </p:cNvPr>
          <p:cNvSpPr>
            <a:spLocks noGrp="1"/>
          </p:cNvSpPr>
          <p:nvPr>
            <p:ph type="sldNum" sz="quarter" idx="12"/>
          </p:nvPr>
        </p:nvSpPr>
        <p:spPr/>
        <p:txBody>
          <a:bodyPr/>
          <a:lstStyle/>
          <a:p>
            <a:fld id="{E199BF8C-199A-420E-AD47-765295E635DE}" type="slidenum">
              <a:rPr lang="en-US" smtClean="0"/>
              <a:t>2</a:t>
            </a:fld>
            <a:endParaRPr lang="en-US"/>
          </a:p>
        </p:txBody>
      </p:sp>
      <p:sp>
        <p:nvSpPr>
          <p:cNvPr id="6" name="Rectangle 5">
            <a:extLst>
              <a:ext uri="{FF2B5EF4-FFF2-40B4-BE49-F238E27FC236}">
                <a16:creationId xmlns:a16="http://schemas.microsoft.com/office/drawing/2014/main" id="{19A4974C-2451-ACE7-5CED-BF5792BB3A19}"/>
              </a:ext>
            </a:extLst>
          </p:cNvPr>
          <p:cNvSpPr/>
          <p:nvPr/>
        </p:nvSpPr>
        <p:spPr>
          <a:xfrm>
            <a:off x="0" y="0"/>
            <a:ext cx="12192000" cy="920621"/>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069FCE4-5D61-32BA-3073-935D827690F1}"/>
              </a:ext>
            </a:extLst>
          </p:cNvPr>
          <p:cNvSpPr txBox="1"/>
          <p:nvPr/>
        </p:nvSpPr>
        <p:spPr>
          <a:xfrm>
            <a:off x="708529" y="121919"/>
            <a:ext cx="11402191" cy="707886"/>
          </a:xfrm>
          <a:prstGeom prst="rect">
            <a:avLst/>
          </a:prstGeom>
          <a:noFill/>
        </p:spPr>
        <p:txBody>
          <a:bodyPr wrap="square" rtlCol="0">
            <a:spAutoFit/>
          </a:bodyPr>
          <a:lstStyle/>
          <a:p>
            <a:pPr algn="l"/>
            <a:r>
              <a:rPr lang="en-US" sz="4000" b="0" i="0" dirty="0">
                <a:solidFill>
                  <a:srgbClr val="232323"/>
                </a:solidFill>
                <a:effectLst/>
                <a:latin typeface="gellix-semibold"/>
              </a:rPr>
              <a:t>Key Constraints</a:t>
            </a:r>
          </a:p>
        </p:txBody>
      </p:sp>
      <p:sp>
        <p:nvSpPr>
          <p:cNvPr id="2" name="TextBox 1">
            <a:extLst>
              <a:ext uri="{FF2B5EF4-FFF2-40B4-BE49-F238E27FC236}">
                <a16:creationId xmlns:a16="http://schemas.microsoft.com/office/drawing/2014/main" id="{F96CAB2A-1C73-0B19-CA8C-4B4B6F510D89}"/>
              </a:ext>
            </a:extLst>
          </p:cNvPr>
          <p:cNvSpPr txBox="1"/>
          <p:nvPr/>
        </p:nvSpPr>
        <p:spPr>
          <a:xfrm>
            <a:off x="838201" y="1229518"/>
            <a:ext cx="10766898" cy="2308324"/>
          </a:xfrm>
          <a:prstGeom prst="rect">
            <a:avLst/>
          </a:prstGeom>
          <a:noFill/>
        </p:spPr>
        <p:txBody>
          <a:bodyPr wrap="square">
            <a:spAutoFit/>
          </a:bodyPr>
          <a:lstStyle/>
          <a:p>
            <a:pPr marL="342900" indent="-342900" algn="just">
              <a:buFont typeface="Arial" panose="020B0604020202020204" pitchFamily="34" charset="0"/>
              <a:buChar char="•"/>
            </a:pPr>
            <a:r>
              <a:rPr lang="en-US" sz="2400" b="0" i="0" dirty="0">
                <a:solidFill>
                  <a:srgbClr val="232323"/>
                </a:solidFill>
                <a:effectLst/>
                <a:latin typeface="gellix-medium"/>
              </a:rPr>
              <a:t>Keys are entity sets used to identify entities within their respective sets uniquely.</a:t>
            </a:r>
          </a:p>
          <a:p>
            <a:pPr algn="just"/>
            <a:endParaRPr lang="en-US" sz="2400" dirty="0">
              <a:solidFill>
                <a:srgbClr val="232323"/>
              </a:solidFill>
              <a:latin typeface="gellix-medium"/>
            </a:endParaRPr>
          </a:p>
          <a:p>
            <a:pPr marL="342900" indent="-342900" algn="just">
              <a:buFont typeface="Arial" panose="020B0604020202020204" pitchFamily="34" charset="0"/>
              <a:buChar char="•"/>
            </a:pPr>
            <a:r>
              <a:rPr lang="en-US" sz="2400" b="0" i="0" dirty="0">
                <a:solidFill>
                  <a:srgbClr val="232323"/>
                </a:solidFill>
                <a:effectLst/>
                <a:latin typeface="gellix-medium"/>
              </a:rPr>
              <a:t>Key constraints play a vital role in ensuring the uniqueness of data within a table.</a:t>
            </a:r>
          </a:p>
          <a:p>
            <a:pPr marL="342900" indent="-342900" algn="just">
              <a:buFont typeface="Arial" panose="020B0604020202020204" pitchFamily="34" charset="0"/>
              <a:buChar char="•"/>
            </a:pPr>
            <a:endParaRPr lang="en-US" sz="2400" u="none" strike="noStrike" dirty="0">
              <a:solidFill>
                <a:srgbClr val="232323"/>
              </a:solidFill>
              <a:latin typeface="gellix-medium"/>
            </a:endParaRPr>
          </a:p>
        </p:txBody>
      </p:sp>
    </p:spTree>
    <p:extLst>
      <p:ext uri="{BB962C8B-B14F-4D97-AF65-F5344CB8AC3E}">
        <p14:creationId xmlns:p14="http://schemas.microsoft.com/office/powerpoint/2010/main" val="845561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643BB-3CA6-2CC3-005B-EF4322B13676}"/>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965C5C25-BEBB-F9A8-EED7-88F14E55EF0B}"/>
              </a:ext>
            </a:extLst>
          </p:cNvPr>
          <p:cNvSpPr>
            <a:spLocks noGrp="1"/>
          </p:cNvSpPr>
          <p:nvPr>
            <p:ph type="dt" sz="half" idx="10"/>
          </p:nvPr>
        </p:nvSpPr>
        <p:spPr/>
        <p:txBody>
          <a:bodyPr/>
          <a:lstStyle/>
          <a:p>
            <a:fld id="{C1CDDB05-7545-485D-BAE6-2CE87714CF19}" type="datetime1">
              <a:rPr lang="en-US" smtClean="0"/>
              <a:t>23-Sep-26</a:t>
            </a:fld>
            <a:endParaRPr lang="en-US"/>
          </a:p>
        </p:txBody>
      </p:sp>
      <p:sp>
        <p:nvSpPr>
          <p:cNvPr id="5" name="Slide Number Placeholder 4">
            <a:extLst>
              <a:ext uri="{FF2B5EF4-FFF2-40B4-BE49-F238E27FC236}">
                <a16:creationId xmlns:a16="http://schemas.microsoft.com/office/drawing/2014/main" id="{EE8A3B47-1E93-9A73-2F54-EEC9CFDEB2C5}"/>
              </a:ext>
            </a:extLst>
          </p:cNvPr>
          <p:cNvSpPr>
            <a:spLocks noGrp="1"/>
          </p:cNvSpPr>
          <p:nvPr>
            <p:ph type="sldNum" sz="quarter" idx="12"/>
          </p:nvPr>
        </p:nvSpPr>
        <p:spPr/>
        <p:txBody>
          <a:bodyPr/>
          <a:lstStyle/>
          <a:p>
            <a:fld id="{E199BF8C-199A-420E-AD47-765295E635DE}" type="slidenum">
              <a:rPr lang="en-US" smtClean="0"/>
              <a:t>3</a:t>
            </a:fld>
            <a:endParaRPr lang="en-US"/>
          </a:p>
        </p:txBody>
      </p:sp>
      <p:sp>
        <p:nvSpPr>
          <p:cNvPr id="6" name="Rectangle 5">
            <a:extLst>
              <a:ext uri="{FF2B5EF4-FFF2-40B4-BE49-F238E27FC236}">
                <a16:creationId xmlns:a16="http://schemas.microsoft.com/office/drawing/2014/main" id="{58132A6C-18C7-B79B-E4BF-F9E0A045D0AB}"/>
              </a:ext>
            </a:extLst>
          </p:cNvPr>
          <p:cNvSpPr/>
          <p:nvPr/>
        </p:nvSpPr>
        <p:spPr>
          <a:xfrm>
            <a:off x="0" y="0"/>
            <a:ext cx="12192000" cy="920621"/>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3509193-0CCB-D5B5-AEEC-1B169490D934}"/>
              </a:ext>
            </a:extLst>
          </p:cNvPr>
          <p:cNvSpPr txBox="1"/>
          <p:nvPr/>
        </p:nvSpPr>
        <p:spPr>
          <a:xfrm>
            <a:off x="708529" y="121919"/>
            <a:ext cx="11402191" cy="707886"/>
          </a:xfrm>
          <a:prstGeom prst="rect">
            <a:avLst/>
          </a:prstGeom>
          <a:noFill/>
        </p:spPr>
        <p:txBody>
          <a:bodyPr wrap="square" rtlCol="0">
            <a:spAutoFit/>
          </a:bodyPr>
          <a:lstStyle/>
          <a:p>
            <a:pPr algn="l"/>
            <a:r>
              <a:rPr lang="en-US" sz="4000" i="0" dirty="0">
                <a:solidFill>
                  <a:srgbClr val="232323"/>
                </a:solidFill>
                <a:effectLst/>
                <a:latin typeface="gellix-medium"/>
              </a:rPr>
              <a:t>Key</a:t>
            </a:r>
            <a:endParaRPr lang="en-US" sz="4000" i="0" dirty="0">
              <a:solidFill>
                <a:srgbClr val="232323"/>
              </a:solidFill>
              <a:effectLst/>
              <a:latin typeface="gellix-semibold"/>
            </a:endParaRPr>
          </a:p>
        </p:txBody>
      </p:sp>
      <p:sp>
        <p:nvSpPr>
          <p:cNvPr id="2" name="TextBox 1">
            <a:extLst>
              <a:ext uri="{FF2B5EF4-FFF2-40B4-BE49-F238E27FC236}">
                <a16:creationId xmlns:a16="http://schemas.microsoft.com/office/drawing/2014/main" id="{D3F349F4-9E04-DE17-BF1D-806EF588058F}"/>
              </a:ext>
            </a:extLst>
          </p:cNvPr>
          <p:cNvSpPr txBox="1"/>
          <p:nvPr/>
        </p:nvSpPr>
        <p:spPr>
          <a:xfrm>
            <a:off x="838201" y="1042540"/>
            <a:ext cx="10766898" cy="4893647"/>
          </a:xfrm>
          <a:prstGeom prst="rect">
            <a:avLst/>
          </a:prstGeom>
          <a:noFill/>
        </p:spPr>
        <p:txBody>
          <a:bodyPr wrap="square">
            <a:spAutoFit/>
          </a:bodyPr>
          <a:lstStyle/>
          <a:p>
            <a:pPr marL="342900" indent="-342900" algn="just">
              <a:buFont typeface="Arial" panose="020B0604020202020204" pitchFamily="34" charset="0"/>
              <a:buChar char="•"/>
            </a:pPr>
            <a:r>
              <a:rPr lang="en-US" sz="2400" b="0" i="0" dirty="0">
                <a:solidFill>
                  <a:srgbClr val="232323"/>
                </a:solidFill>
                <a:effectLst/>
                <a:latin typeface="gellix-medium"/>
              </a:rPr>
              <a:t>A key in DBMS is an attribute or a set of attributes that help to uniquely identify a tuple (or row) in a relation (or table).</a:t>
            </a:r>
          </a:p>
          <a:p>
            <a:pPr marL="342900" indent="-342900" algn="just">
              <a:buFont typeface="Arial" panose="020B0604020202020204" pitchFamily="34" charset="0"/>
              <a:buChar char="•"/>
            </a:pPr>
            <a:endParaRPr lang="en-US" sz="2400" dirty="0">
              <a:solidFill>
                <a:srgbClr val="232323"/>
              </a:solidFill>
              <a:latin typeface="gellix-medium"/>
            </a:endParaRPr>
          </a:p>
          <a:p>
            <a:pPr marL="342900" indent="-342900" algn="just">
              <a:buFont typeface="Arial" panose="020B0604020202020204" pitchFamily="34" charset="0"/>
              <a:buChar char="•"/>
            </a:pPr>
            <a:r>
              <a:rPr lang="en-US" sz="2400" b="0" i="0" dirty="0">
                <a:solidFill>
                  <a:srgbClr val="231F20"/>
                </a:solidFill>
                <a:effectLst/>
                <a:latin typeface="circular-xx"/>
              </a:rPr>
              <a:t>There are broadly seven types of keys in DBMS.</a:t>
            </a:r>
            <a:endParaRPr lang="en-US" sz="2400" b="0" i="0" dirty="0">
              <a:solidFill>
                <a:srgbClr val="232323"/>
              </a:solidFill>
              <a:effectLst/>
              <a:latin typeface="gellix-medium"/>
            </a:endParaRPr>
          </a:p>
          <a:p>
            <a:pPr marL="342900" indent="-342900" algn="just">
              <a:buFont typeface="Arial" panose="020B0604020202020204" pitchFamily="34" charset="0"/>
              <a:buChar char="•"/>
            </a:pPr>
            <a:endParaRPr lang="en-US" sz="2400" dirty="0">
              <a:solidFill>
                <a:srgbClr val="232323"/>
              </a:solidFill>
              <a:latin typeface="gellix-medium"/>
            </a:endParaRPr>
          </a:p>
          <a:p>
            <a:pPr algn="l">
              <a:buFont typeface="+mj-lt"/>
              <a:buAutoNum type="arabicPeriod"/>
            </a:pPr>
            <a:r>
              <a:rPr lang="en-US" sz="2400" b="0" i="0" dirty="0">
                <a:solidFill>
                  <a:srgbClr val="000000"/>
                </a:solidFill>
                <a:effectLst/>
                <a:latin typeface="unset"/>
              </a:rPr>
              <a:t> Primary Key</a:t>
            </a:r>
          </a:p>
          <a:p>
            <a:pPr algn="l">
              <a:buFont typeface="+mj-lt"/>
              <a:buAutoNum type="arabicPeriod"/>
            </a:pPr>
            <a:r>
              <a:rPr lang="en-US" sz="2400" b="0" i="0" dirty="0">
                <a:solidFill>
                  <a:srgbClr val="000000"/>
                </a:solidFill>
                <a:effectLst/>
                <a:latin typeface="unset"/>
              </a:rPr>
              <a:t> Candidate Key</a:t>
            </a:r>
          </a:p>
          <a:p>
            <a:pPr algn="l">
              <a:buFont typeface="+mj-lt"/>
              <a:buAutoNum type="arabicPeriod"/>
            </a:pPr>
            <a:r>
              <a:rPr lang="en-US" sz="2400" b="0" i="0" dirty="0">
                <a:solidFill>
                  <a:srgbClr val="000000"/>
                </a:solidFill>
                <a:effectLst/>
                <a:latin typeface="unset"/>
              </a:rPr>
              <a:t> Super Key</a:t>
            </a:r>
          </a:p>
          <a:p>
            <a:pPr algn="l">
              <a:buFont typeface="+mj-lt"/>
              <a:buAutoNum type="arabicPeriod"/>
            </a:pPr>
            <a:r>
              <a:rPr lang="en-US" sz="2400" b="0" i="0" dirty="0">
                <a:solidFill>
                  <a:srgbClr val="000000"/>
                </a:solidFill>
                <a:effectLst/>
                <a:latin typeface="unset"/>
              </a:rPr>
              <a:t> Foreign Key</a:t>
            </a:r>
          </a:p>
          <a:p>
            <a:pPr algn="l">
              <a:buFont typeface="+mj-lt"/>
              <a:buAutoNum type="arabicPeriod"/>
            </a:pPr>
            <a:r>
              <a:rPr lang="en-US" sz="2400" b="0" i="0" dirty="0">
                <a:solidFill>
                  <a:srgbClr val="000000"/>
                </a:solidFill>
                <a:effectLst/>
                <a:latin typeface="unset"/>
              </a:rPr>
              <a:t> Composite Key</a:t>
            </a:r>
          </a:p>
          <a:p>
            <a:pPr algn="l">
              <a:buFont typeface="+mj-lt"/>
              <a:buAutoNum type="arabicPeriod"/>
            </a:pPr>
            <a:r>
              <a:rPr lang="en-US" sz="2400" b="0" i="0" dirty="0">
                <a:solidFill>
                  <a:srgbClr val="000000"/>
                </a:solidFill>
                <a:effectLst/>
                <a:latin typeface="unset"/>
              </a:rPr>
              <a:t> Alternate Key</a:t>
            </a:r>
          </a:p>
          <a:p>
            <a:pPr algn="l">
              <a:buFont typeface="+mj-lt"/>
              <a:buAutoNum type="arabicPeriod"/>
            </a:pPr>
            <a:r>
              <a:rPr lang="en-US" sz="2400" b="0" i="0" dirty="0">
                <a:solidFill>
                  <a:srgbClr val="000000"/>
                </a:solidFill>
                <a:effectLst/>
                <a:latin typeface="unset"/>
              </a:rPr>
              <a:t> Unique Key</a:t>
            </a:r>
          </a:p>
          <a:p>
            <a:pPr marL="342900" indent="-342900" algn="just">
              <a:buFont typeface="Arial" panose="020B0604020202020204" pitchFamily="34" charset="0"/>
              <a:buChar char="•"/>
            </a:pPr>
            <a:endParaRPr lang="en-US" sz="2400" b="0" i="0" dirty="0">
              <a:solidFill>
                <a:srgbClr val="232323"/>
              </a:solidFill>
              <a:effectLst/>
              <a:latin typeface="gellix-medium"/>
            </a:endParaRPr>
          </a:p>
        </p:txBody>
      </p:sp>
    </p:spTree>
    <p:extLst>
      <p:ext uri="{BB962C8B-B14F-4D97-AF65-F5344CB8AC3E}">
        <p14:creationId xmlns:p14="http://schemas.microsoft.com/office/powerpoint/2010/main" val="20515902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C052A-B71C-9645-E6DA-1B9D2639AA1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FE827AFC-9212-6559-88EC-22C7377A7293}"/>
              </a:ext>
            </a:extLst>
          </p:cNvPr>
          <p:cNvSpPr>
            <a:spLocks noGrp="1"/>
          </p:cNvSpPr>
          <p:nvPr>
            <p:ph type="dt" sz="half" idx="10"/>
          </p:nvPr>
        </p:nvSpPr>
        <p:spPr/>
        <p:txBody>
          <a:bodyPr/>
          <a:lstStyle/>
          <a:p>
            <a:fld id="{C1CDDB05-7545-485D-BAE6-2CE87714CF19}" type="datetime1">
              <a:rPr lang="en-US" smtClean="0"/>
              <a:t>23-Sep-26</a:t>
            </a:fld>
            <a:endParaRPr lang="en-US"/>
          </a:p>
        </p:txBody>
      </p:sp>
      <p:sp>
        <p:nvSpPr>
          <p:cNvPr id="5" name="Slide Number Placeholder 4">
            <a:extLst>
              <a:ext uri="{FF2B5EF4-FFF2-40B4-BE49-F238E27FC236}">
                <a16:creationId xmlns:a16="http://schemas.microsoft.com/office/drawing/2014/main" id="{305ADD0B-D123-615D-FF86-A91CB98D5D88}"/>
              </a:ext>
            </a:extLst>
          </p:cNvPr>
          <p:cNvSpPr>
            <a:spLocks noGrp="1"/>
          </p:cNvSpPr>
          <p:nvPr>
            <p:ph type="sldNum" sz="quarter" idx="12"/>
          </p:nvPr>
        </p:nvSpPr>
        <p:spPr/>
        <p:txBody>
          <a:bodyPr/>
          <a:lstStyle/>
          <a:p>
            <a:fld id="{E199BF8C-199A-420E-AD47-765295E635DE}" type="slidenum">
              <a:rPr lang="en-US" smtClean="0"/>
              <a:t>4</a:t>
            </a:fld>
            <a:endParaRPr lang="en-US"/>
          </a:p>
        </p:txBody>
      </p:sp>
      <p:sp>
        <p:nvSpPr>
          <p:cNvPr id="6" name="Rectangle 5">
            <a:extLst>
              <a:ext uri="{FF2B5EF4-FFF2-40B4-BE49-F238E27FC236}">
                <a16:creationId xmlns:a16="http://schemas.microsoft.com/office/drawing/2014/main" id="{C006A84D-10E3-9DAE-13D0-0D0601A86397}"/>
              </a:ext>
            </a:extLst>
          </p:cNvPr>
          <p:cNvSpPr/>
          <p:nvPr/>
        </p:nvSpPr>
        <p:spPr>
          <a:xfrm>
            <a:off x="0" y="0"/>
            <a:ext cx="12192000" cy="920621"/>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1F5CAFA-C72D-9286-5C8B-E03D5222F743}"/>
              </a:ext>
            </a:extLst>
          </p:cNvPr>
          <p:cNvSpPr txBox="1"/>
          <p:nvPr/>
        </p:nvSpPr>
        <p:spPr>
          <a:xfrm>
            <a:off x="708529" y="121919"/>
            <a:ext cx="11402191" cy="707886"/>
          </a:xfrm>
          <a:prstGeom prst="rect">
            <a:avLst/>
          </a:prstGeom>
          <a:noFill/>
        </p:spPr>
        <p:txBody>
          <a:bodyPr wrap="square" rtlCol="0">
            <a:spAutoFit/>
          </a:bodyPr>
          <a:lstStyle/>
          <a:p>
            <a:pPr algn="l"/>
            <a:r>
              <a:rPr lang="en-US" sz="4000" i="0" dirty="0">
                <a:solidFill>
                  <a:srgbClr val="232323"/>
                </a:solidFill>
                <a:effectLst/>
                <a:latin typeface="gellix-medium"/>
              </a:rPr>
              <a:t>An example</a:t>
            </a:r>
            <a:endParaRPr lang="en-US" sz="4000" i="0" dirty="0">
              <a:solidFill>
                <a:srgbClr val="232323"/>
              </a:solidFill>
              <a:effectLst/>
              <a:latin typeface="gellix-semibold"/>
            </a:endParaRPr>
          </a:p>
        </p:txBody>
      </p:sp>
      <p:sp>
        <p:nvSpPr>
          <p:cNvPr id="2" name="TextBox 1">
            <a:extLst>
              <a:ext uri="{FF2B5EF4-FFF2-40B4-BE49-F238E27FC236}">
                <a16:creationId xmlns:a16="http://schemas.microsoft.com/office/drawing/2014/main" id="{FE19C032-4D45-A7AC-84FA-98C4318B8B31}"/>
              </a:ext>
            </a:extLst>
          </p:cNvPr>
          <p:cNvSpPr txBox="1"/>
          <p:nvPr/>
        </p:nvSpPr>
        <p:spPr>
          <a:xfrm>
            <a:off x="838201" y="1265592"/>
            <a:ext cx="10766898" cy="4154984"/>
          </a:xfrm>
          <a:prstGeom prst="rect">
            <a:avLst/>
          </a:prstGeom>
          <a:noFill/>
        </p:spPr>
        <p:txBody>
          <a:bodyPr wrap="square">
            <a:spAutoFit/>
          </a:bodyPr>
          <a:lstStyle/>
          <a:p>
            <a:pPr marL="342900" indent="-342900" algn="just">
              <a:buFont typeface="Arial" panose="020B0604020202020204" pitchFamily="34" charset="0"/>
              <a:buChar char="•"/>
            </a:pPr>
            <a:r>
              <a:rPr lang="en-US" sz="2400" b="0" i="0" dirty="0">
                <a:solidFill>
                  <a:srgbClr val="232323"/>
                </a:solidFill>
                <a:effectLst/>
                <a:latin typeface="gellix-medium"/>
              </a:rPr>
              <a:t>Consider a table named ‘Student’</a:t>
            </a:r>
          </a:p>
          <a:p>
            <a:pPr marL="342900" indent="-342900" algn="just">
              <a:buFont typeface="Arial" panose="020B0604020202020204" pitchFamily="34" charset="0"/>
              <a:buChar char="•"/>
            </a:pPr>
            <a:endParaRPr lang="en-US" sz="2400" dirty="0">
              <a:solidFill>
                <a:srgbClr val="232323"/>
              </a:solidFill>
              <a:latin typeface="gellix-medium"/>
            </a:endParaRPr>
          </a:p>
          <a:p>
            <a:pPr marL="342900" indent="-342900" algn="just">
              <a:buFont typeface="Arial" panose="020B0604020202020204" pitchFamily="34" charset="0"/>
              <a:buChar char="•"/>
            </a:pPr>
            <a:endParaRPr lang="en-US" sz="2400" b="0" i="0" dirty="0">
              <a:solidFill>
                <a:srgbClr val="232323"/>
              </a:solidFill>
              <a:effectLst/>
              <a:latin typeface="gellix-medium"/>
            </a:endParaRPr>
          </a:p>
          <a:p>
            <a:pPr marL="342900" indent="-342900" algn="just">
              <a:buFont typeface="Arial" panose="020B0604020202020204" pitchFamily="34" charset="0"/>
              <a:buChar char="•"/>
            </a:pPr>
            <a:endParaRPr lang="en-US" sz="2400" dirty="0">
              <a:solidFill>
                <a:srgbClr val="232323"/>
              </a:solidFill>
              <a:latin typeface="gellix-medium"/>
            </a:endParaRPr>
          </a:p>
          <a:p>
            <a:pPr marL="342900" indent="-342900" algn="just">
              <a:buFont typeface="Arial" panose="020B0604020202020204" pitchFamily="34" charset="0"/>
              <a:buChar char="•"/>
            </a:pPr>
            <a:endParaRPr lang="en-US" sz="2400" b="0" i="0" dirty="0">
              <a:solidFill>
                <a:srgbClr val="232323"/>
              </a:solidFill>
              <a:effectLst/>
              <a:latin typeface="gellix-medium"/>
            </a:endParaRPr>
          </a:p>
          <a:p>
            <a:pPr marL="342900" indent="-342900" algn="just">
              <a:buFont typeface="Arial" panose="020B0604020202020204" pitchFamily="34" charset="0"/>
              <a:buChar char="•"/>
            </a:pPr>
            <a:endParaRPr lang="en-US" sz="2400" dirty="0">
              <a:solidFill>
                <a:srgbClr val="232323"/>
              </a:solidFill>
              <a:latin typeface="gellix-medium"/>
            </a:endParaRPr>
          </a:p>
          <a:p>
            <a:pPr marL="342900" indent="-342900" algn="just">
              <a:buFont typeface="Arial" panose="020B0604020202020204" pitchFamily="34" charset="0"/>
              <a:buChar char="•"/>
            </a:pPr>
            <a:endParaRPr lang="en-US" sz="2400" b="0" i="0" dirty="0">
              <a:solidFill>
                <a:srgbClr val="232323"/>
              </a:solidFill>
              <a:effectLst/>
              <a:latin typeface="gellix-medium"/>
            </a:endParaRPr>
          </a:p>
          <a:p>
            <a:pPr marL="342900" indent="-342900" algn="just">
              <a:buFont typeface="Arial" panose="020B0604020202020204" pitchFamily="34" charset="0"/>
              <a:buChar char="•"/>
            </a:pPr>
            <a:endParaRPr lang="en-US" sz="2400" dirty="0">
              <a:solidFill>
                <a:srgbClr val="232323"/>
              </a:solidFill>
              <a:latin typeface="gellix-medium"/>
            </a:endParaRPr>
          </a:p>
          <a:p>
            <a:pPr marL="342900" indent="-342900" algn="just">
              <a:buFont typeface="Arial" panose="020B0604020202020204" pitchFamily="34" charset="0"/>
              <a:buChar char="•"/>
            </a:pPr>
            <a:r>
              <a:rPr lang="en-US" sz="2400" dirty="0">
                <a:solidFill>
                  <a:srgbClr val="232323"/>
                </a:solidFill>
                <a:latin typeface="gellix-medium"/>
              </a:rPr>
              <a:t>How can we uniquely identify two rows in this table?</a:t>
            </a:r>
          </a:p>
          <a:p>
            <a:pPr marL="342900" indent="-342900" algn="just">
              <a:buFont typeface="Arial" panose="020B0604020202020204" pitchFamily="34" charset="0"/>
              <a:buChar char="•"/>
            </a:pPr>
            <a:endParaRPr lang="en-US" sz="2400" b="0" i="0" dirty="0">
              <a:solidFill>
                <a:srgbClr val="232323"/>
              </a:solidFill>
              <a:effectLst/>
              <a:latin typeface="gellix-medium"/>
            </a:endParaRPr>
          </a:p>
          <a:p>
            <a:pPr marL="342900" indent="-342900" algn="just">
              <a:buFont typeface="Arial" panose="020B0604020202020204" pitchFamily="34" charset="0"/>
              <a:buChar char="•"/>
            </a:pPr>
            <a:endParaRPr lang="en-US" sz="2400" b="0" i="0" dirty="0">
              <a:solidFill>
                <a:srgbClr val="232323"/>
              </a:solidFill>
              <a:effectLst/>
              <a:latin typeface="gellix-medium"/>
            </a:endParaRPr>
          </a:p>
        </p:txBody>
      </p:sp>
      <p:graphicFrame>
        <p:nvGraphicFramePr>
          <p:cNvPr id="7" name="Table 6">
            <a:extLst>
              <a:ext uri="{FF2B5EF4-FFF2-40B4-BE49-F238E27FC236}">
                <a16:creationId xmlns:a16="http://schemas.microsoft.com/office/drawing/2014/main" id="{9808387F-5B8F-98A8-E3BC-AD9A0ACB4AB2}"/>
              </a:ext>
            </a:extLst>
          </p:cNvPr>
          <p:cNvGraphicFramePr>
            <a:graphicFrameLocks noGrp="1"/>
          </p:cNvGraphicFramePr>
          <p:nvPr>
            <p:extLst>
              <p:ext uri="{D42A27DB-BD31-4B8C-83A1-F6EECF244321}">
                <p14:modId xmlns:p14="http://schemas.microsoft.com/office/powerpoint/2010/main" val="2413184402"/>
              </p:ext>
            </p:extLst>
          </p:nvPr>
        </p:nvGraphicFramePr>
        <p:xfrm>
          <a:off x="2966937" y="2227719"/>
          <a:ext cx="6099243" cy="1828800"/>
        </p:xfrm>
        <a:graphic>
          <a:graphicData uri="http://schemas.openxmlformats.org/drawingml/2006/table">
            <a:tbl>
              <a:tblPr firstRow="1" bandRow="1">
                <a:tableStyleId>{5C22544A-7EE6-4342-B048-85BDC9FD1C3A}</a:tableStyleId>
              </a:tblPr>
              <a:tblGrid>
                <a:gridCol w="2033081">
                  <a:extLst>
                    <a:ext uri="{9D8B030D-6E8A-4147-A177-3AD203B41FA5}">
                      <a16:colId xmlns:a16="http://schemas.microsoft.com/office/drawing/2014/main" val="3678744137"/>
                    </a:ext>
                  </a:extLst>
                </a:gridCol>
                <a:gridCol w="2033081">
                  <a:extLst>
                    <a:ext uri="{9D8B030D-6E8A-4147-A177-3AD203B41FA5}">
                      <a16:colId xmlns:a16="http://schemas.microsoft.com/office/drawing/2014/main" val="2255329637"/>
                    </a:ext>
                  </a:extLst>
                </a:gridCol>
                <a:gridCol w="2033081">
                  <a:extLst>
                    <a:ext uri="{9D8B030D-6E8A-4147-A177-3AD203B41FA5}">
                      <a16:colId xmlns:a16="http://schemas.microsoft.com/office/drawing/2014/main" val="122116245"/>
                    </a:ext>
                  </a:extLst>
                </a:gridCol>
              </a:tblGrid>
              <a:tr h="370840">
                <a:tc>
                  <a:txBody>
                    <a:bodyPr/>
                    <a:lstStyle/>
                    <a:p>
                      <a:r>
                        <a:rPr lang="en-US" sz="2400" dirty="0"/>
                        <a:t>Name</a:t>
                      </a:r>
                    </a:p>
                  </a:txBody>
                  <a:tcPr/>
                </a:tc>
                <a:tc>
                  <a:txBody>
                    <a:bodyPr/>
                    <a:lstStyle/>
                    <a:p>
                      <a:r>
                        <a:rPr lang="en-US" sz="2400" dirty="0"/>
                        <a:t>Address</a:t>
                      </a:r>
                    </a:p>
                  </a:txBody>
                  <a:tcPr/>
                </a:tc>
                <a:tc>
                  <a:txBody>
                    <a:bodyPr/>
                    <a:lstStyle/>
                    <a:p>
                      <a:r>
                        <a:rPr lang="en-US" sz="2400" dirty="0"/>
                        <a:t>Age</a:t>
                      </a:r>
                    </a:p>
                  </a:txBody>
                  <a:tcPr/>
                </a:tc>
                <a:extLst>
                  <a:ext uri="{0D108BD9-81ED-4DB2-BD59-A6C34878D82A}">
                    <a16:rowId xmlns:a16="http://schemas.microsoft.com/office/drawing/2014/main" val="3153325996"/>
                  </a:ext>
                </a:extLst>
              </a:tr>
              <a:tr h="370840">
                <a:tc>
                  <a:txBody>
                    <a:bodyPr/>
                    <a:lstStyle/>
                    <a:p>
                      <a:r>
                        <a:rPr lang="en-US" sz="2400" dirty="0" err="1"/>
                        <a:t>Raaj</a:t>
                      </a:r>
                      <a:endParaRPr lang="en-US" sz="2400" dirty="0"/>
                    </a:p>
                  </a:txBody>
                  <a:tcPr/>
                </a:tc>
                <a:tc>
                  <a:txBody>
                    <a:bodyPr/>
                    <a:lstStyle/>
                    <a:p>
                      <a:r>
                        <a:rPr lang="en-US" sz="2400" dirty="0"/>
                        <a:t>Dhaka</a:t>
                      </a:r>
                    </a:p>
                  </a:txBody>
                  <a:tcPr/>
                </a:tc>
                <a:tc>
                  <a:txBody>
                    <a:bodyPr/>
                    <a:lstStyle/>
                    <a:p>
                      <a:r>
                        <a:rPr lang="en-US" sz="2400" dirty="0"/>
                        <a:t>21</a:t>
                      </a:r>
                    </a:p>
                  </a:txBody>
                  <a:tcPr/>
                </a:tc>
                <a:extLst>
                  <a:ext uri="{0D108BD9-81ED-4DB2-BD59-A6C34878D82A}">
                    <a16:rowId xmlns:a16="http://schemas.microsoft.com/office/drawing/2014/main" val="1160238472"/>
                  </a:ext>
                </a:extLst>
              </a:tr>
              <a:tr h="370840">
                <a:tc>
                  <a:txBody>
                    <a:bodyPr/>
                    <a:lstStyle/>
                    <a:p>
                      <a:r>
                        <a:rPr lang="en-US" sz="2400" dirty="0" err="1"/>
                        <a:t>Nuhash</a:t>
                      </a:r>
                      <a:endParaRPr lang="en-US" sz="2400" dirty="0"/>
                    </a:p>
                  </a:txBody>
                  <a:tcPr/>
                </a:tc>
                <a:tc>
                  <a:txBody>
                    <a:bodyPr/>
                    <a:lstStyle/>
                    <a:p>
                      <a:r>
                        <a:rPr lang="en-US" sz="2400" dirty="0"/>
                        <a:t>Chittagong</a:t>
                      </a:r>
                    </a:p>
                  </a:txBody>
                  <a:tcPr/>
                </a:tc>
                <a:tc>
                  <a:txBody>
                    <a:bodyPr/>
                    <a:lstStyle/>
                    <a:p>
                      <a:r>
                        <a:rPr lang="en-US" sz="2400" dirty="0"/>
                        <a:t>23</a:t>
                      </a:r>
                    </a:p>
                  </a:txBody>
                  <a:tcPr/>
                </a:tc>
                <a:extLst>
                  <a:ext uri="{0D108BD9-81ED-4DB2-BD59-A6C34878D82A}">
                    <a16:rowId xmlns:a16="http://schemas.microsoft.com/office/drawing/2014/main" val="1903782883"/>
                  </a:ext>
                </a:extLst>
              </a:tr>
              <a:tr h="370840">
                <a:tc>
                  <a:txBody>
                    <a:bodyPr/>
                    <a:lstStyle/>
                    <a:p>
                      <a:r>
                        <a:rPr lang="en-US" sz="2400" dirty="0" err="1"/>
                        <a:t>Raaj</a:t>
                      </a:r>
                      <a:endParaRPr lang="en-US" sz="2400" dirty="0"/>
                    </a:p>
                  </a:txBody>
                  <a:tcPr/>
                </a:tc>
                <a:tc>
                  <a:txBody>
                    <a:bodyPr/>
                    <a:lstStyle/>
                    <a:p>
                      <a:r>
                        <a:rPr lang="en-US" sz="2400" dirty="0"/>
                        <a:t>Dhaka</a:t>
                      </a:r>
                    </a:p>
                  </a:txBody>
                  <a:tcPr/>
                </a:tc>
                <a:tc>
                  <a:txBody>
                    <a:bodyPr/>
                    <a:lstStyle/>
                    <a:p>
                      <a:r>
                        <a:rPr lang="en-US" sz="2400" dirty="0"/>
                        <a:t>21</a:t>
                      </a:r>
                    </a:p>
                  </a:txBody>
                  <a:tcPr/>
                </a:tc>
                <a:extLst>
                  <a:ext uri="{0D108BD9-81ED-4DB2-BD59-A6C34878D82A}">
                    <a16:rowId xmlns:a16="http://schemas.microsoft.com/office/drawing/2014/main" val="433943549"/>
                  </a:ext>
                </a:extLst>
              </a:tr>
            </a:tbl>
          </a:graphicData>
        </a:graphic>
      </p:graphicFrame>
      <p:sp>
        <p:nvSpPr>
          <p:cNvPr id="9" name="TextBox 8">
            <a:extLst>
              <a:ext uri="{FF2B5EF4-FFF2-40B4-BE49-F238E27FC236}">
                <a16:creationId xmlns:a16="http://schemas.microsoft.com/office/drawing/2014/main" id="{BDA2B729-C22F-247D-818B-104F6CB96E9E}"/>
              </a:ext>
            </a:extLst>
          </p:cNvPr>
          <p:cNvSpPr txBox="1"/>
          <p:nvPr/>
        </p:nvSpPr>
        <p:spPr>
          <a:xfrm>
            <a:off x="3181485" y="1766054"/>
            <a:ext cx="1876898" cy="461665"/>
          </a:xfrm>
          <a:prstGeom prst="rect">
            <a:avLst/>
          </a:prstGeom>
          <a:noFill/>
        </p:spPr>
        <p:txBody>
          <a:bodyPr wrap="square">
            <a:spAutoFit/>
          </a:bodyPr>
          <a:lstStyle/>
          <a:p>
            <a:r>
              <a:rPr lang="en-US" sz="2400" b="1" i="0" dirty="0">
                <a:solidFill>
                  <a:srgbClr val="232323"/>
                </a:solidFill>
                <a:effectLst/>
                <a:latin typeface="gellix-medium"/>
              </a:rPr>
              <a:t>Student</a:t>
            </a:r>
            <a:endParaRPr lang="en-US" sz="2400" b="1" dirty="0"/>
          </a:p>
        </p:txBody>
      </p:sp>
    </p:spTree>
    <p:extLst>
      <p:ext uri="{BB962C8B-B14F-4D97-AF65-F5344CB8AC3E}">
        <p14:creationId xmlns:p14="http://schemas.microsoft.com/office/powerpoint/2010/main" val="41249437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1D015-C1A2-294C-4FF4-354C02E44128}"/>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77974CC7-F5ED-DB97-E9D3-EA4FA29F0D64}"/>
              </a:ext>
            </a:extLst>
          </p:cNvPr>
          <p:cNvSpPr>
            <a:spLocks noGrp="1"/>
          </p:cNvSpPr>
          <p:nvPr>
            <p:ph type="dt" sz="half" idx="10"/>
          </p:nvPr>
        </p:nvSpPr>
        <p:spPr/>
        <p:txBody>
          <a:bodyPr/>
          <a:lstStyle/>
          <a:p>
            <a:fld id="{C1CDDB05-7545-485D-BAE6-2CE87714CF19}" type="datetime1">
              <a:rPr lang="en-US" smtClean="0"/>
              <a:t>23-Sep-26</a:t>
            </a:fld>
            <a:endParaRPr lang="en-US"/>
          </a:p>
        </p:txBody>
      </p:sp>
      <p:sp>
        <p:nvSpPr>
          <p:cNvPr id="5" name="Slide Number Placeholder 4">
            <a:extLst>
              <a:ext uri="{FF2B5EF4-FFF2-40B4-BE49-F238E27FC236}">
                <a16:creationId xmlns:a16="http://schemas.microsoft.com/office/drawing/2014/main" id="{935142DE-F4BE-54C4-631B-D11FB8C1B8FE}"/>
              </a:ext>
            </a:extLst>
          </p:cNvPr>
          <p:cNvSpPr>
            <a:spLocks noGrp="1"/>
          </p:cNvSpPr>
          <p:nvPr>
            <p:ph type="sldNum" sz="quarter" idx="12"/>
          </p:nvPr>
        </p:nvSpPr>
        <p:spPr/>
        <p:txBody>
          <a:bodyPr/>
          <a:lstStyle/>
          <a:p>
            <a:fld id="{E199BF8C-199A-420E-AD47-765295E635DE}" type="slidenum">
              <a:rPr lang="en-US" smtClean="0"/>
              <a:t>5</a:t>
            </a:fld>
            <a:endParaRPr lang="en-US"/>
          </a:p>
        </p:txBody>
      </p:sp>
      <p:sp>
        <p:nvSpPr>
          <p:cNvPr id="6" name="Rectangle 5">
            <a:extLst>
              <a:ext uri="{FF2B5EF4-FFF2-40B4-BE49-F238E27FC236}">
                <a16:creationId xmlns:a16="http://schemas.microsoft.com/office/drawing/2014/main" id="{898323AB-D323-3970-6180-ACA8FBF4D814}"/>
              </a:ext>
            </a:extLst>
          </p:cNvPr>
          <p:cNvSpPr/>
          <p:nvPr/>
        </p:nvSpPr>
        <p:spPr>
          <a:xfrm>
            <a:off x="0" y="0"/>
            <a:ext cx="12192000" cy="920621"/>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09DC792-C909-9E18-77CF-8F514AF783CA}"/>
              </a:ext>
            </a:extLst>
          </p:cNvPr>
          <p:cNvSpPr txBox="1"/>
          <p:nvPr/>
        </p:nvSpPr>
        <p:spPr>
          <a:xfrm>
            <a:off x="708529" y="121919"/>
            <a:ext cx="11402191" cy="707886"/>
          </a:xfrm>
          <a:prstGeom prst="rect">
            <a:avLst/>
          </a:prstGeom>
          <a:noFill/>
        </p:spPr>
        <p:txBody>
          <a:bodyPr wrap="square" rtlCol="0">
            <a:spAutoFit/>
          </a:bodyPr>
          <a:lstStyle/>
          <a:p>
            <a:pPr algn="l"/>
            <a:r>
              <a:rPr lang="en-US" sz="4000" i="0" dirty="0">
                <a:solidFill>
                  <a:srgbClr val="232323"/>
                </a:solidFill>
                <a:effectLst/>
                <a:latin typeface="gellix-medium"/>
              </a:rPr>
              <a:t>An example</a:t>
            </a:r>
            <a:endParaRPr lang="en-US" sz="4000" i="0" dirty="0">
              <a:solidFill>
                <a:srgbClr val="232323"/>
              </a:solidFill>
              <a:effectLst/>
              <a:latin typeface="gellix-semibold"/>
            </a:endParaRPr>
          </a:p>
        </p:txBody>
      </p:sp>
      <p:sp>
        <p:nvSpPr>
          <p:cNvPr id="2" name="TextBox 1">
            <a:extLst>
              <a:ext uri="{FF2B5EF4-FFF2-40B4-BE49-F238E27FC236}">
                <a16:creationId xmlns:a16="http://schemas.microsoft.com/office/drawing/2014/main" id="{092AAA0C-14BE-433D-9F93-C6178F28E22F}"/>
              </a:ext>
            </a:extLst>
          </p:cNvPr>
          <p:cNvSpPr txBox="1"/>
          <p:nvPr/>
        </p:nvSpPr>
        <p:spPr>
          <a:xfrm>
            <a:off x="838201" y="1265592"/>
            <a:ext cx="10766898" cy="3785652"/>
          </a:xfrm>
          <a:prstGeom prst="rect">
            <a:avLst/>
          </a:prstGeom>
          <a:noFill/>
        </p:spPr>
        <p:txBody>
          <a:bodyPr wrap="square">
            <a:spAutoFit/>
          </a:bodyPr>
          <a:lstStyle/>
          <a:p>
            <a:pPr marL="342900" indent="-342900" algn="just">
              <a:buFont typeface="Arial" panose="020B0604020202020204" pitchFamily="34" charset="0"/>
              <a:buChar char="•"/>
            </a:pPr>
            <a:r>
              <a:rPr lang="en-US" sz="2400" b="0" i="0" dirty="0">
                <a:solidFill>
                  <a:srgbClr val="232323"/>
                </a:solidFill>
                <a:effectLst/>
                <a:latin typeface="gellix-medium"/>
              </a:rPr>
              <a:t>We can add a column named roll</a:t>
            </a:r>
          </a:p>
          <a:p>
            <a:pPr marL="342900" indent="-342900" algn="just">
              <a:buFont typeface="Arial" panose="020B0604020202020204" pitchFamily="34" charset="0"/>
              <a:buChar char="•"/>
            </a:pPr>
            <a:endParaRPr lang="en-US" sz="2400" dirty="0">
              <a:solidFill>
                <a:srgbClr val="232323"/>
              </a:solidFill>
              <a:latin typeface="gellix-medium"/>
            </a:endParaRPr>
          </a:p>
          <a:p>
            <a:pPr marL="342900" indent="-342900" algn="just">
              <a:buFont typeface="Arial" panose="020B0604020202020204" pitchFamily="34" charset="0"/>
              <a:buChar char="•"/>
            </a:pPr>
            <a:endParaRPr lang="en-US" sz="2400" b="0" i="0" dirty="0">
              <a:solidFill>
                <a:srgbClr val="232323"/>
              </a:solidFill>
              <a:effectLst/>
              <a:latin typeface="gellix-medium"/>
            </a:endParaRPr>
          </a:p>
          <a:p>
            <a:pPr marL="342900" indent="-342900" algn="just">
              <a:buFont typeface="Arial" panose="020B0604020202020204" pitchFamily="34" charset="0"/>
              <a:buChar char="•"/>
            </a:pPr>
            <a:endParaRPr lang="en-US" sz="2400" dirty="0">
              <a:solidFill>
                <a:srgbClr val="232323"/>
              </a:solidFill>
              <a:latin typeface="gellix-medium"/>
            </a:endParaRPr>
          </a:p>
          <a:p>
            <a:pPr marL="342900" indent="-342900" algn="just">
              <a:buFont typeface="Arial" panose="020B0604020202020204" pitchFamily="34" charset="0"/>
              <a:buChar char="•"/>
            </a:pPr>
            <a:endParaRPr lang="en-US" sz="2400" b="0" i="0" dirty="0">
              <a:solidFill>
                <a:srgbClr val="232323"/>
              </a:solidFill>
              <a:effectLst/>
              <a:latin typeface="gellix-medium"/>
            </a:endParaRPr>
          </a:p>
          <a:p>
            <a:pPr marL="342900" indent="-342900" algn="just">
              <a:buFont typeface="Arial" panose="020B0604020202020204" pitchFamily="34" charset="0"/>
              <a:buChar char="•"/>
            </a:pPr>
            <a:endParaRPr lang="en-US" sz="2400" dirty="0">
              <a:solidFill>
                <a:srgbClr val="232323"/>
              </a:solidFill>
              <a:latin typeface="gellix-medium"/>
            </a:endParaRPr>
          </a:p>
          <a:p>
            <a:pPr marL="342900" indent="-342900" algn="just">
              <a:buFont typeface="Arial" panose="020B0604020202020204" pitchFamily="34" charset="0"/>
              <a:buChar char="•"/>
            </a:pPr>
            <a:endParaRPr lang="en-US" sz="2400" b="0" i="0" dirty="0">
              <a:solidFill>
                <a:srgbClr val="232323"/>
              </a:solidFill>
              <a:effectLst/>
              <a:latin typeface="gellix-medium"/>
            </a:endParaRPr>
          </a:p>
          <a:p>
            <a:pPr marL="342900" indent="-342900" algn="just">
              <a:buFont typeface="Arial" panose="020B0604020202020204" pitchFamily="34" charset="0"/>
              <a:buChar char="•"/>
            </a:pPr>
            <a:endParaRPr lang="en-US" sz="2400" dirty="0">
              <a:solidFill>
                <a:srgbClr val="232323"/>
              </a:solidFill>
              <a:latin typeface="gellix-medium"/>
            </a:endParaRPr>
          </a:p>
          <a:p>
            <a:pPr marL="342900" indent="-342900" algn="just">
              <a:buFont typeface="Arial" panose="020B0604020202020204" pitchFamily="34" charset="0"/>
              <a:buChar char="•"/>
            </a:pPr>
            <a:endParaRPr lang="en-US" sz="2400" b="0" i="0" dirty="0">
              <a:solidFill>
                <a:srgbClr val="232323"/>
              </a:solidFill>
              <a:effectLst/>
              <a:latin typeface="gellix-medium"/>
            </a:endParaRPr>
          </a:p>
          <a:p>
            <a:pPr marL="342900" indent="-342900" algn="just">
              <a:buFont typeface="Arial" panose="020B0604020202020204" pitchFamily="34" charset="0"/>
              <a:buChar char="•"/>
            </a:pPr>
            <a:r>
              <a:rPr lang="en-US" sz="2400" dirty="0">
                <a:solidFill>
                  <a:srgbClr val="232323"/>
                </a:solidFill>
                <a:latin typeface="gellix-medium"/>
              </a:rPr>
              <a:t>What are the other columns we can use instead of ‘Roll’?</a:t>
            </a:r>
          </a:p>
        </p:txBody>
      </p:sp>
      <p:graphicFrame>
        <p:nvGraphicFramePr>
          <p:cNvPr id="7" name="Table 6">
            <a:extLst>
              <a:ext uri="{FF2B5EF4-FFF2-40B4-BE49-F238E27FC236}">
                <a16:creationId xmlns:a16="http://schemas.microsoft.com/office/drawing/2014/main" id="{E90E03B3-FA96-E1F5-E7D2-1E40ACBB28DE}"/>
              </a:ext>
            </a:extLst>
          </p:cNvPr>
          <p:cNvGraphicFramePr>
            <a:graphicFrameLocks noGrp="1"/>
          </p:cNvGraphicFramePr>
          <p:nvPr>
            <p:extLst>
              <p:ext uri="{D42A27DB-BD31-4B8C-83A1-F6EECF244321}">
                <p14:modId xmlns:p14="http://schemas.microsoft.com/office/powerpoint/2010/main" val="987328053"/>
              </p:ext>
            </p:extLst>
          </p:nvPr>
        </p:nvGraphicFramePr>
        <p:xfrm>
          <a:off x="2966937" y="2227719"/>
          <a:ext cx="6099244" cy="1828800"/>
        </p:xfrm>
        <a:graphic>
          <a:graphicData uri="http://schemas.openxmlformats.org/drawingml/2006/table">
            <a:tbl>
              <a:tblPr firstRow="1" bandRow="1">
                <a:tableStyleId>{5C22544A-7EE6-4342-B048-85BDC9FD1C3A}</a:tableStyleId>
              </a:tblPr>
              <a:tblGrid>
                <a:gridCol w="1524811">
                  <a:extLst>
                    <a:ext uri="{9D8B030D-6E8A-4147-A177-3AD203B41FA5}">
                      <a16:colId xmlns:a16="http://schemas.microsoft.com/office/drawing/2014/main" val="669275853"/>
                    </a:ext>
                  </a:extLst>
                </a:gridCol>
                <a:gridCol w="1524811">
                  <a:extLst>
                    <a:ext uri="{9D8B030D-6E8A-4147-A177-3AD203B41FA5}">
                      <a16:colId xmlns:a16="http://schemas.microsoft.com/office/drawing/2014/main" val="3678744137"/>
                    </a:ext>
                  </a:extLst>
                </a:gridCol>
                <a:gridCol w="1524811">
                  <a:extLst>
                    <a:ext uri="{9D8B030D-6E8A-4147-A177-3AD203B41FA5}">
                      <a16:colId xmlns:a16="http://schemas.microsoft.com/office/drawing/2014/main" val="2255329637"/>
                    </a:ext>
                  </a:extLst>
                </a:gridCol>
                <a:gridCol w="1524811">
                  <a:extLst>
                    <a:ext uri="{9D8B030D-6E8A-4147-A177-3AD203B41FA5}">
                      <a16:colId xmlns:a16="http://schemas.microsoft.com/office/drawing/2014/main" val="122116245"/>
                    </a:ext>
                  </a:extLst>
                </a:gridCol>
              </a:tblGrid>
              <a:tr h="370840">
                <a:tc>
                  <a:txBody>
                    <a:bodyPr/>
                    <a:lstStyle/>
                    <a:p>
                      <a:r>
                        <a:rPr lang="en-US" sz="2400" dirty="0"/>
                        <a:t>Roll</a:t>
                      </a:r>
                    </a:p>
                  </a:txBody>
                  <a:tcPr/>
                </a:tc>
                <a:tc>
                  <a:txBody>
                    <a:bodyPr/>
                    <a:lstStyle/>
                    <a:p>
                      <a:r>
                        <a:rPr lang="en-US" sz="2400" dirty="0"/>
                        <a:t>Name</a:t>
                      </a:r>
                    </a:p>
                  </a:txBody>
                  <a:tcPr/>
                </a:tc>
                <a:tc>
                  <a:txBody>
                    <a:bodyPr/>
                    <a:lstStyle/>
                    <a:p>
                      <a:r>
                        <a:rPr lang="en-US" sz="2400" dirty="0"/>
                        <a:t>Address</a:t>
                      </a:r>
                    </a:p>
                  </a:txBody>
                  <a:tcPr/>
                </a:tc>
                <a:tc>
                  <a:txBody>
                    <a:bodyPr/>
                    <a:lstStyle/>
                    <a:p>
                      <a:r>
                        <a:rPr lang="en-US" sz="2400" dirty="0"/>
                        <a:t>Age</a:t>
                      </a:r>
                    </a:p>
                  </a:txBody>
                  <a:tcPr/>
                </a:tc>
                <a:extLst>
                  <a:ext uri="{0D108BD9-81ED-4DB2-BD59-A6C34878D82A}">
                    <a16:rowId xmlns:a16="http://schemas.microsoft.com/office/drawing/2014/main" val="3153325996"/>
                  </a:ext>
                </a:extLst>
              </a:tr>
              <a:tr h="370840">
                <a:tc>
                  <a:txBody>
                    <a:bodyPr/>
                    <a:lstStyle/>
                    <a:p>
                      <a:r>
                        <a:rPr lang="en-US" sz="2400" dirty="0"/>
                        <a:t>1</a:t>
                      </a:r>
                    </a:p>
                  </a:txBody>
                  <a:tcPr/>
                </a:tc>
                <a:tc>
                  <a:txBody>
                    <a:bodyPr/>
                    <a:lstStyle/>
                    <a:p>
                      <a:r>
                        <a:rPr lang="en-US" sz="2400" dirty="0" err="1"/>
                        <a:t>Raaj</a:t>
                      </a:r>
                      <a:endParaRPr lang="en-US" sz="2400" dirty="0"/>
                    </a:p>
                  </a:txBody>
                  <a:tcPr/>
                </a:tc>
                <a:tc>
                  <a:txBody>
                    <a:bodyPr/>
                    <a:lstStyle/>
                    <a:p>
                      <a:r>
                        <a:rPr lang="en-US" sz="2400" dirty="0"/>
                        <a:t>Dhaka</a:t>
                      </a:r>
                    </a:p>
                  </a:txBody>
                  <a:tcPr/>
                </a:tc>
                <a:tc>
                  <a:txBody>
                    <a:bodyPr/>
                    <a:lstStyle/>
                    <a:p>
                      <a:r>
                        <a:rPr lang="en-US" sz="2400" dirty="0"/>
                        <a:t>21</a:t>
                      </a:r>
                    </a:p>
                  </a:txBody>
                  <a:tcPr/>
                </a:tc>
                <a:extLst>
                  <a:ext uri="{0D108BD9-81ED-4DB2-BD59-A6C34878D82A}">
                    <a16:rowId xmlns:a16="http://schemas.microsoft.com/office/drawing/2014/main" val="1160238472"/>
                  </a:ext>
                </a:extLst>
              </a:tr>
              <a:tr h="370840">
                <a:tc>
                  <a:txBody>
                    <a:bodyPr/>
                    <a:lstStyle/>
                    <a:p>
                      <a:r>
                        <a:rPr lang="en-US" sz="2400" dirty="0"/>
                        <a:t>2</a:t>
                      </a:r>
                    </a:p>
                  </a:txBody>
                  <a:tcPr/>
                </a:tc>
                <a:tc>
                  <a:txBody>
                    <a:bodyPr/>
                    <a:lstStyle/>
                    <a:p>
                      <a:r>
                        <a:rPr lang="en-US" sz="2400" dirty="0" err="1"/>
                        <a:t>Nuhash</a:t>
                      </a:r>
                      <a:endParaRPr lang="en-US" sz="2400" dirty="0"/>
                    </a:p>
                  </a:txBody>
                  <a:tcPr/>
                </a:tc>
                <a:tc>
                  <a:txBody>
                    <a:bodyPr/>
                    <a:lstStyle/>
                    <a:p>
                      <a:r>
                        <a:rPr lang="en-US" sz="2400" dirty="0"/>
                        <a:t>Chittagong</a:t>
                      </a:r>
                    </a:p>
                  </a:txBody>
                  <a:tcPr/>
                </a:tc>
                <a:tc>
                  <a:txBody>
                    <a:bodyPr/>
                    <a:lstStyle/>
                    <a:p>
                      <a:r>
                        <a:rPr lang="en-US" sz="2400" dirty="0"/>
                        <a:t>23</a:t>
                      </a:r>
                    </a:p>
                  </a:txBody>
                  <a:tcPr/>
                </a:tc>
                <a:extLst>
                  <a:ext uri="{0D108BD9-81ED-4DB2-BD59-A6C34878D82A}">
                    <a16:rowId xmlns:a16="http://schemas.microsoft.com/office/drawing/2014/main" val="1903782883"/>
                  </a:ext>
                </a:extLst>
              </a:tr>
              <a:tr h="370840">
                <a:tc>
                  <a:txBody>
                    <a:bodyPr/>
                    <a:lstStyle/>
                    <a:p>
                      <a:r>
                        <a:rPr lang="en-US" sz="2400" dirty="0"/>
                        <a:t>3</a:t>
                      </a:r>
                    </a:p>
                  </a:txBody>
                  <a:tcPr/>
                </a:tc>
                <a:tc>
                  <a:txBody>
                    <a:bodyPr/>
                    <a:lstStyle/>
                    <a:p>
                      <a:r>
                        <a:rPr lang="en-US" sz="2400" dirty="0" err="1"/>
                        <a:t>Raaj</a:t>
                      </a:r>
                      <a:endParaRPr lang="en-US" sz="2400" dirty="0"/>
                    </a:p>
                  </a:txBody>
                  <a:tcPr/>
                </a:tc>
                <a:tc>
                  <a:txBody>
                    <a:bodyPr/>
                    <a:lstStyle/>
                    <a:p>
                      <a:r>
                        <a:rPr lang="en-US" sz="2400" dirty="0"/>
                        <a:t>Dhaka</a:t>
                      </a:r>
                    </a:p>
                  </a:txBody>
                  <a:tcPr/>
                </a:tc>
                <a:tc>
                  <a:txBody>
                    <a:bodyPr/>
                    <a:lstStyle/>
                    <a:p>
                      <a:r>
                        <a:rPr lang="en-US" sz="2400" dirty="0"/>
                        <a:t>21</a:t>
                      </a:r>
                    </a:p>
                  </a:txBody>
                  <a:tcPr/>
                </a:tc>
                <a:extLst>
                  <a:ext uri="{0D108BD9-81ED-4DB2-BD59-A6C34878D82A}">
                    <a16:rowId xmlns:a16="http://schemas.microsoft.com/office/drawing/2014/main" val="433943549"/>
                  </a:ext>
                </a:extLst>
              </a:tr>
            </a:tbl>
          </a:graphicData>
        </a:graphic>
      </p:graphicFrame>
      <p:sp>
        <p:nvSpPr>
          <p:cNvPr id="9" name="TextBox 8">
            <a:extLst>
              <a:ext uri="{FF2B5EF4-FFF2-40B4-BE49-F238E27FC236}">
                <a16:creationId xmlns:a16="http://schemas.microsoft.com/office/drawing/2014/main" id="{C0D6B05C-3A19-B167-421E-31C3218530BE}"/>
              </a:ext>
            </a:extLst>
          </p:cNvPr>
          <p:cNvSpPr txBox="1"/>
          <p:nvPr/>
        </p:nvSpPr>
        <p:spPr>
          <a:xfrm>
            <a:off x="3181485" y="1766054"/>
            <a:ext cx="1876898" cy="461665"/>
          </a:xfrm>
          <a:prstGeom prst="rect">
            <a:avLst/>
          </a:prstGeom>
          <a:noFill/>
        </p:spPr>
        <p:txBody>
          <a:bodyPr wrap="square">
            <a:spAutoFit/>
          </a:bodyPr>
          <a:lstStyle/>
          <a:p>
            <a:r>
              <a:rPr lang="en-US" sz="2400" b="1" i="0" dirty="0">
                <a:solidFill>
                  <a:srgbClr val="232323"/>
                </a:solidFill>
                <a:effectLst/>
                <a:latin typeface="gellix-medium"/>
              </a:rPr>
              <a:t>Student</a:t>
            </a:r>
            <a:endParaRPr lang="en-US" sz="2400" b="1" dirty="0"/>
          </a:p>
        </p:txBody>
      </p:sp>
      <p:sp>
        <p:nvSpPr>
          <p:cNvPr id="10" name="TextBox 9">
            <a:extLst>
              <a:ext uri="{FF2B5EF4-FFF2-40B4-BE49-F238E27FC236}">
                <a16:creationId xmlns:a16="http://schemas.microsoft.com/office/drawing/2014/main" id="{F92B7827-AD3B-E378-4EA8-9DA7AAB863ED}"/>
              </a:ext>
            </a:extLst>
          </p:cNvPr>
          <p:cNvSpPr txBox="1"/>
          <p:nvPr/>
        </p:nvSpPr>
        <p:spPr>
          <a:xfrm>
            <a:off x="2971803" y="5165382"/>
            <a:ext cx="6269474" cy="461665"/>
          </a:xfrm>
          <a:prstGeom prst="rect">
            <a:avLst/>
          </a:prstGeom>
          <a:noFill/>
        </p:spPr>
        <p:txBody>
          <a:bodyPr wrap="square">
            <a:spAutoFit/>
          </a:bodyPr>
          <a:lstStyle/>
          <a:p>
            <a:r>
              <a:rPr lang="en-US" sz="2400" b="1" dirty="0" err="1">
                <a:solidFill>
                  <a:srgbClr val="232323"/>
                </a:solidFill>
                <a:latin typeface="gellix-medium"/>
              </a:rPr>
              <a:t>Registration_no</a:t>
            </a:r>
            <a:r>
              <a:rPr lang="en-US" sz="2400" b="1" dirty="0">
                <a:solidFill>
                  <a:srgbClr val="232323"/>
                </a:solidFill>
                <a:latin typeface="gellix-medium"/>
              </a:rPr>
              <a:t>, </a:t>
            </a:r>
            <a:r>
              <a:rPr lang="en-US" sz="2400" b="1" dirty="0" err="1">
                <a:solidFill>
                  <a:srgbClr val="232323"/>
                </a:solidFill>
                <a:latin typeface="gellix-medium"/>
              </a:rPr>
              <a:t>NID_no</a:t>
            </a:r>
            <a:r>
              <a:rPr lang="en-US" sz="2400" b="1" dirty="0">
                <a:solidFill>
                  <a:srgbClr val="232323"/>
                </a:solidFill>
                <a:latin typeface="gellix-medium"/>
              </a:rPr>
              <a:t>, </a:t>
            </a:r>
            <a:r>
              <a:rPr lang="en-US" sz="2400" b="1" dirty="0" err="1">
                <a:solidFill>
                  <a:srgbClr val="232323"/>
                </a:solidFill>
                <a:latin typeface="gellix-medium"/>
              </a:rPr>
              <a:t>Phone_no</a:t>
            </a:r>
            <a:r>
              <a:rPr lang="en-US" sz="2400" b="1" dirty="0">
                <a:solidFill>
                  <a:srgbClr val="232323"/>
                </a:solidFill>
                <a:latin typeface="gellix-medium"/>
              </a:rPr>
              <a:t> and so on… </a:t>
            </a:r>
            <a:endParaRPr lang="en-US" sz="2400" b="1" dirty="0"/>
          </a:p>
        </p:txBody>
      </p:sp>
    </p:spTree>
    <p:extLst>
      <p:ext uri="{BB962C8B-B14F-4D97-AF65-F5344CB8AC3E}">
        <p14:creationId xmlns:p14="http://schemas.microsoft.com/office/powerpoint/2010/main" val="25999444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318E0-4E21-EEEE-5D80-597785400E22}"/>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B2DD07D-993A-6A4C-4C37-89FED48F3ED1}"/>
              </a:ext>
            </a:extLst>
          </p:cNvPr>
          <p:cNvSpPr>
            <a:spLocks noGrp="1"/>
          </p:cNvSpPr>
          <p:nvPr>
            <p:ph type="dt" sz="half" idx="10"/>
          </p:nvPr>
        </p:nvSpPr>
        <p:spPr/>
        <p:txBody>
          <a:bodyPr/>
          <a:lstStyle/>
          <a:p>
            <a:fld id="{C1CDDB05-7545-485D-BAE6-2CE87714CF19}" type="datetime1">
              <a:rPr lang="en-US" smtClean="0"/>
              <a:t>23-Sep-26</a:t>
            </a:fld>
            <a:endParaRPr lang="en-US"/>
          </a:p>
        </p:txBody>
      </p:sp>
      <p:sp>
        <p:nvSpPr>
          <p:cNvPr id="5" name="Slide Number Placeholder 4">
            <a:extLst>
              <a:ext uri="{FF2B5EF4-FFF2-40B4-BE49-F238E27FC236}">
                <a16:creationId xmlns:a16="http://schemas.microsoft.com/office/drawing/2014/main" id="{E1B2295A-00F7-CAA9-966C-D04F4D073526}"/>
              </a:ext>
            </a:extLst>
          </p:cNvPr>
          <p:cNvSpPr>
            <a:spLocks noGrp="1"/>
          </p:cNvSpPr>
          <p:nvPr>
            <p:ph type="sldNum" sz="quarter" idx="12"/>
          </p:nvPr>
        </p:nvSpPr>
        <p:spPr/>
        <p:txBody>
          <a:bodyPr/>
          <a:lstStyle/>
          <a:p>
            <a:fld id="{E199BF8C-199A-420E-AD47-765295E635DE}" type="slidenum">
              <a:rPr lang="en-US" smtClean="0"/>
              <a:t>6</a:t>
            </a:fld>
            <a:endParaRPr lang="en-US"/>
          </a:p>
        </p:txBody>
      </p:sp>
      <p:sp>
        <p:nvSpPr>
          <p:cNvPr id="6" name="Rectangle 5">
            <a:extLst>
              <a:ext uri="{FF2B5EF4-FFF2-40B4-BE49-F238E27FC236}">
                <a16:creationId xmlns:a16="http://schemas.microsoft.com/office/drawing/2014/main" id="{CC23A71E-2DA3-5722-1483-2135D1B1867C}"/>
              </a:ext>
            </a:extLst>
          </p:cNvPr>
          <p:cNvSpPr/>
          <p:nvPr/>
        </p:nvSpPr>
        <p:spPr>
          <a:xfrm>
            <a:off x="0" y="0"/>
            <a:ext cx="12192000" cy="920621"/>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D2C5BC0-1E76-3A96-1198-33A50495C468}"/>
              </a:ext>
            </a:extLst>
          </p:cNvPr>
          <p:cNvSpPr txBox="1"/>
          <p:nvPr/>
        </p:nvSpPr>
        <p:spPr>
          <a:xfrm>
            <a:off x="708529" y="121919"/>
            <a:ext cx="11402191" cy="707886"/>
          </a:xfrm>
          <a:prstGeom prst="rect">
            <a:avLst/>
          </a:prstGeom>
          <a:noFill/>
        </p:spPr>
        <p:txBody>
          <a:bodyPr wrap="square" rtlCol="0">
            <a:spAutoFit/>
          </a:bodyPr>
          <a:lstStyle/>
          <a:p>
            <a:pPr algn="l"/>
            <a:r>
              <a:rPr lang="en-US" sz="4000" i="0" dirty="0">
                <a:solidFill>
                  <a:srgbClr val="232323"/>
                </a:solidFill>
                <a:effectLst/>
                <a:latin typeface="gellix-medium"/>
              </a:rPr>
              <a:t>Observation</a:t>
            </a:r>
            <a:endParaRPr lang="en-US" sz="4000" i="0" dirty="0">
              <a:solidFill>
                <a:srgbClr val="232323"/>
              </a:solidFill>
              <a:effectLst/>
              <a:latin typeface="gellix-semibold"/>
            </a:endParaRPr>
          </a:p>
        </p:txBody>
      </p:sp>
      <p:sp>
        <p:nvSpPr>
          <p:cNvPr id="10" name="TextBox 9">
            <a:extLst>
              <a:ext uri="{FF2B5EF4-FFF2-40B4-BE49-F238E27FC236}">
                <a16:creationId xmlns:a16="http://schemas.microsoft.com/office/drawing/2014/main" id="{6497A2D6-73C2-BF2E-7D04-8356BDD64FC3}"/>
              </a:ext>
            </a:extLst>
          </p:cNvPr>
          <p:cNvSpPr txBox="1"/>
          <p:nvPr/>
        </p:nvSpPr>
        <p:spPr>
          <a:xfrm>
            <a:off x="1104092" y="1174776"/>
            <a:ext cx="8837576" cy="4524315"/>
          </a:xfrm>
          <a:prstGeom prst="rect">
            <a:avLst/>
          </a:prstGeom>
          <a:noFill/>
        </p:spPr>
        <p:txBody>
          <a:bodyPr wrap="square">
            <a:spAutoFit/>
          </a:bodyPr>
          <a:lstStyle/>
          <a:p>
            <a:pPr marL="342900" indent="-342900">
              <a:buFont typeface="Arial" panose="020B0604020202020204" pitchFamily="34" charset="0"/>
              <a:buChar char="•"/>
            </a:pPr>
            <a:r>
              <a:rPr lang="en-US" sz="2400" b="1" dirty="0">
                <a:solidFill>
                  <a:srgbClr val="232323"/>
                </a:solidFill>
                <a:latin typeface="gellix-medium"/>
              </a:rPr>
              <a:t>{Roll, </a:t>
            </a:r>
            <a:r>
              <a:rPr lang="en-US" sz="2400" b="1" dirty="0" err="1">
                <a:solidFill>
                  <a:srgbClr val="232323"/>
                </a:solidFill>
                <a:latin typeface="gellix-medium"/>
              </a:rPr>
              <a:t>Registration_no</a:t>
            </a:r>
            <a:r>
              <a:rPr lang="en-US" sz="2400" b="1" dirty="0">
                <a:solidFill>
                  <a:srgbClr val="232323"/>
                </a:solidFill>
                <a:latin typeface="gellix-medium"/>
              </a:rPr>
              <a:t>, </a:t>
            </a:r>
            <a:r>
              <a:rPr lang="en-US" sz="2400" b="1" dirty="0" err="1">
                <a:solidFill>
                  <a:srgbClr val="232323"/>
                </a:solidFill>
                <a:latin typeface="gellix-medium"/>
              </a:rPr>
              <a:t>NID_no</a:t>
            </a:r>
            <a:r>
              <a:rPr lang="en-US" sz="2400" b="1" dirty="0">
                <a:solidFill>
                  <a:srgbClr val="232323"/>
                </a:solidFill>
                <a:latin typeface="gellix-medium"/>
              </a:rPr>
              <a:t>, </a:t>
            </a:r>
            <a:r>
              <a:rPr lang="en-US" sz="2400" b="1" dirty="0" err="1">
                <a:solidFill>
                  <a:srgbClr val="232323"/>
                </a:solidFill>
                <a:latin typeface="gellix-medium"/>
              </a:rPr>
              <a:t>Phone_no</a:t>
            </a:r>
            <a:r>
              <a:rPr lang="en-US" sz="2400" b="1" dirty="0">
                <a:solidFill>
                  <a:srgbClr val="232323"/>
                </a:solidFill>
                <a:latin typeface="gellix-medium"/>
              </a:rPr>
              <a:t>, email … }</a:t>
            </a:r>
          </a:p>
          <a:p>
            <a:pPr marL="342900" indent="-342900">
              <a:buFont typeface="Arial" panose="020B0604020202020204" pitchFamily="34" charset="0"/>
              <a:buChar char="•"/>
            </a:pPr>
            <a:endParaRPr lang="en-US" sz="2400" b="1" dirty="0">
              <a:solidFill>
                <a:srgbClr val="232323"/>
              </a:solidFill>
              <a:latin typeface="gellix-medium"/>
            </a:endParaRPr>
          </a:p>
          <a:p>
            <a:pPr marL="342900" indent="-342900">
              <a:buFont typeface="Arial" panose="020B0604020202020204" pitchFamily="34" charset="0"/>
              <a:buChar char="•"/>
            </a:pPr>
            <a:r>
              <a:rPr lang="en-US" sz="2400" dirty="0">
                <a:solidFill>
                  <a:srgbClr val="232323"/>
                </a:solidFill>
                <a:latin typeface="gellix-medium"/>
              </a:rPr>
              <a:t>We call the collection of all the attributes that can uniquely identify any two tuples or rows in a table, </a:t>
            </a:r>
            <a:r>
              <a:rPr lang="en-US" sz="2400" b="1" dirty="0">
                <a:solidFill>
                  <a:srgbClr val="232323"/>
                </a:solidFill>
                <a:latin typeface="gellix-medium"/>
              </a:rPr>
              <a:t>Candidate key</a:t>
            </a:r>
          </a:p>
          <a:p>
            <a:pPr marL="342900" indent="-342900">
              <a:buFont typeface="Arial" panose="020B0604020202020204" pitchFamily="34" charset="0"/>
              <a:buChar char="•"/>
            </a:pPr>
            <a:endParaRPr lang="en-US" sz="2400" dirty="0">
              <a:solidFill>
                <a:srgbClr val="232323"/>
              </a:solidFill>
              <a:latin typeface="gellix-medium"/>
            </a:endParaRPr>
          </a:p>
          <a:p>
            <a:pPr marL="342900" indent="-342900">
              <a:buFont typeface="Arial" panose="020B0604020202020204" pitchFamily="34" charset="0"/>
              <a:buChar char="•"/>
            </a:pPr>
            <a:r>
              <a:rPr lang="en-US" sz="2400" dirty="0">
                <a:solidFill>
                  <a:srgbClr val="232323"/>
                </a:solidFill>
                <a:latin typeface="gellix-medium"/>
              </a:rPr>
              <a:t>There can be more than one candidate keys in a table.</a:t>
            </a:r>
          </a:p>
          <a:p>
            <a:pPr marL="342900" indent="-342900">
              <a:buFont typeface="Arial" panose="020B0604020202020204" pitchFamily="34" charset="0"/>
              <a:buChar char="•"/>
            </a:pPr>
            <a:endParaRPr lang="en-US" sz="2400" dirty="0">
              <a:solidFill>
                <a:srgbClr val="232323"/>
              </a:solidFill>
              <a:latin typeface="gellix-medium"/>
            </a:endParaRPr>
          </a:p>
          <a:p>
            <a:pPr marL="342900" indent="-342900">
              <a:buFont typeface="Arial" panose="020B0604020202020204" pitchFamily="34" charset="0"/>
              <a:buChar char="•"/>
            </a:pPr>
            <a:r>
              <a:rPr lang="en-US" sz="2400" b="1" dirty="0">
                <a:solidFill>
                  <a:srgbClr val="232323"/>
                </a:solidFill>
                <a:latin typeface="gellix-medium"/>
              </a:rPr>
              <a:t>The Primary Key of a table is selected (the most appropriate one) from one of the candidate keys. </a:t>
            </a:r>
          </a:p>
          <a:p>
            <a:pPr marL="342900" indent="-342900">
              <a:buFont typeface="Arial" panose="020B0604020202020204" pitchFamily="34" charset="0"/>
              <a:buChar char="•"/>
            </a:pPr>
            <a:endParaRPr lang="en-US" sz="2400" b="1" dirty="0">
              <a:solidFill>
                <a:srgbClr val="232323"/>
              </a:solidFill>
              <a:latin typeface="gellix-medium"/>
            </a:endParaRPr>
          </a:p>
          <a:p>
            <a:pPr marL="342900" indent="-342900">
              <a:buFont typeface="Arial" panose="020B0604020202020204" pitchFamily="34" charset="0"/>
              <a:buChar char="•"/>
            </a:pPr>
            <a:r>
              <a:rPr lang="en-US" sz="2400" dirty="0">
                <a:solidFill>
                  <a:srgbClr val="232323"/>
                </a:solidFill>
                <a:latin typeface="gellix-medium"/>
              </a:rPr>
              <a:t>The rest of the keys that remain after choosing the primary key are known as </a:t>
            </a:r>
            <a:r>
              <a:rPr lang="en-US" sz="2400" b="1" dirty="0">
                <a:solidFill>
                  <a:srgbClr val="232323"/>
                </a:solidFill>
                <a:latin typeface="gellix-medium"/>
              </a:rPr>
              <a:t>alternate key</a:t>
            </a:r>
          </a:p>
        </p:txBody>
      </p:sp>
    </p:spTree>
    <p:extLst>
      <p:ext uri="{BB962C8B-B14F-4D97-AF65-F5344CB8AC3E}">
        <p14:creationId xmlns:p14="http://schemas.microsoft.com/office/powerpoint/2010/main" val="18319395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89C07-D26C-2CBE-67D9-B17E17E13752}"/>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00E8E82-733D-234D-A491-DF139DF65DC1}"/>
              </a:ext>
            </a:extLst>
          </p:cNvPr>
          <p:cNvSpPr>
            <a:spLocks noGrp="1"/>
          </p:cNvSpPr>
          <p:nvPr>
            <p:ph type="dt" sz="half" idx="10"/>
          </p:nvPr>
        </p:nvSpPr>
        <p:spPr/>
        <p:txBody>
          <a:bodyPr/>
          <a:lstStyle/>
          <a:p>
            <a:fld id="{C1CDDB05-7545-485D-BAE6-2CE87714CF19}" type="datetime1">
              <a:rPr lang="en-US" smtClean="0"/>
              <a:t>23-Sep-26</a:t>
            </a:fld>
            <a:endParaRPr lang="en-US"/>
          </a:p>
        </p:txBody>
      </p:sp>
      <p:sp>
        <p:nvSpPr>
          <p:cNvPr id="5" name="Slide Number Placeholder 4">
            <a:extLst>
              <a:ext uri="{FF2B5EF4-FFF2-40B4-BE49-F238E27FC236}">
                <a16:creationId xmlns:a16="http://schemas.microsoft.com/office/drawing/2014/main" id="{90885F1E-CF40-4148-5B45-D87AFB693660}"/>
              </a:ext>
            </a:extLst>
          </p:cNvPr>
          <p:cNvSpPr>
            <a:spLocks noGrp="1"/>
          </p:cNvSpPr>
          <p:nvPr>
            <p:ph type="sldNum" sz="quarter" idx="12"/>
          </p:nvPr>
        </p:nvSpPr>
        <p:spPr/>
        <p:txBody>
          <a:bodyPr/>
          <a:lstStyle/>
          <a:p>
            <a:fld id="{E199BF8C-199A-420E-AD47-765295E635DE}" type="slidenum">
              <a:rPr lang="en-US" smtClean="0"/>
              <a:t>7</a:t>
            </a:fld>
            <a:endParaRPr lang="en-US"/>
          </a:p>
        </p:txBody>
      </p:sp>
      <p:sp>
        <p:nvSpPr>
          <p:cNvPr id="6" name="Rectangle 5">
            <a:extLst>
              <a:ext uri="{FF2B5EF4-FFF2-40B4-BE49-F238E27FC236}">
                <a16:creationId xmlns:a16="http://schemas.microsoft.com/office/drawing/2014/main" id="{075D4A11-A2C3-7F14-7418-66A28A9D6F50}"/>
              </a:ext>
            </a:extLst>
          </p:cNvPr>
          <p:cNvSpPr/>
          <p:nvPr/>
        </p:nvSpPr>
        <p:spPr>
          <a:xfrm>
            <a:off x="0" y="0"/>
            <a:ext cx="12192000" cy="920621"/>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155E60F-1E94-C8EF-2882-A7044F885303}"/>
              </a:ext>
            </a:extLst>
          </p:cNvPr>
          <p:cNvSpPr txBox="1"/>
          <p:nvPr/>
        </p:nvSpPr>
        <p:spPr>
          <a:xfrm>
            <a:off x="708529" y="121919"/>
            <a:ext cx="11402191" cy="707886"/>
          </a:xfrm>
          <a:prstGeom prst="rect">
            <a:avLst/>
          </a:prstGeom>
          <a:noFill/>
        </p:spPr>
        <p:txBody>
          <a:bodyPr wrap="square" rtlCol="0">
            <a:spAutoFit/>
          </a:bodyPr>
          <a:lstStyle/>
          <a:p>
            <a:pPr algn="l"/>
            <a:r>
              <a:rPr lang="en-US" sz="4000" b="0" i="0" dirty="0">
                <a:solidFill>
                  <a:srgbClr val="232323"/>
                </a:solidFill>
                <a:effectLst/>
                <a:latin typeface="gellix-semibold"/>
              </a:rPr>
              <a:t>Primary Key</a:t>
            </a:r>
          </a:p>
        </p:txBody>
      </p:sp>
      <p:sp>
        <p:nvSpPr>
          <p:cNvPr id="2" name="TextBox 1">
            <a:extLst>
              <a:ext uri="{FF2B5EF4-FFF2-40B4-BE49-F238E27FC236}">
                <a16:creationId xmlns:a16="http://schemas.microsoft.com/office/drawing/2014/main" id="{C80985DE-998E-D97A-2D44-AB2670E1192E}"/>
              </a:ext>
            </a:extLst>
          </p:cNvPr>
          <p:cNvSpPr txBox="1"/>
          <p:nvPr/>
        </p:nvSpPr>
        <p:spPr>
          <a:xfrm>
            <a:off x="838201" y="1229518"/>
            <a:ext cx="10766898" cy="5262979"/>
          </a:xfrm>
          <a:prstGeom prst="rect">
            <a:avLst/>
          </a:prstGeom>
          <a:noFill/>
        </p:spPr>
        <p:txBody>
          <a:bodyPr wrap="square">
            <a:spAutoFit/>
          </a:bodyPr>
          <a:lstStyle/>
          <a:p>
            <a:pPr marL="342900" indent="-342900" algn="just">
              <a:buFont typeface="Arial" panose="020B0604020202020204" pitchFamily="34" charset="0"/>
              <a:buChar char="•"/>
            </a:pPr>
            <a:r>
              <a:rPr lang="en-US" sz="2400" b="0" i="0" dirty="0">
                <a:solidFill>
                  <a:srgbClr val="232323"/>
                </a:solidFill>
                <a:effectLst/>
                <a:latin typeface="gellix-medium"/>
              </a:rPr>
              <a:t>The primary key constraint is used to uniquely identify each record (row) in a database table.</a:t>
            </a:r>
          </a:p>
          <a:p>
            <a:pPr marL="342900" indent="-342900" algn="just">
              <a:buFont typeface="Arial" panose="020B0604020202020204" pitchFamily="34" charset="0"/>
              <a:buChar char="•"/>
            </a:pPr>
            <a:endParaRPr lang="en-US" sz="2400" u="none" strike="noStrike" dirty="0">
              <a:solidFill>
                <a:srgbClr val="232323"/>
              </a:solidFill>
              <a:latin typeface="gellix-medium"/>
            </a:endParaRPr>
          </a:p>
          <a:p>
            <a:pPr marL="342900" indent="-342900" algn="just">
              <a:buFont typeface="Arial" panose="020B0604020202020204" pitchFamily="34" charset="0"/>
              <a:buChar char="•"/>
            </a:pPr>
            <a:r>
              <a:rPr lang="en-US" sz="2400" b="0" i="0" dirty="0">
                <a:solidFill>
                  <a:srgbClr val="232323"/>
                </a:solidFill>
                <a:effectLst/>
                <a:latin typeface="gellix-medium"/>
              </a:rPr>
              <a:t>It enforces the uniqueness of values in the specified column or set of columns and ensures that no two records have the same primary key value.</a:t>
            </a:r>
          </a:p>
          <a:p>
            <a:pPr marL="342900" indent="-342900" algn="just">
              <a:buFont typeface="Arial" panose="020B0604020202020204" pitchFamily="34" charset="0"/>
              <a:buChar char="•"/>
            </a:pPr>
            <a:endParaRPr lang="en-US" sz="2400" u="none" strike="noStrike" dirty="0">
              <a:solidFill>
                <a:srgbClr val="232323"/>
              </a:solidFill>
              <a:latin typeface="gellix-medium"/>
            </a:endParaRPr>
          </a:p>
          <a:p>
            <a:pPr marL="342900" indent="-342900" algn="just">
              <a:buFont typeface="Arial" panose="020B0604020202020204" pitchFamily="34" charset="0"/>
              <a:buChar char="•"/>
            </a:pPr>
            <a:endParaRPr lang="en-US" sz="2400" dirty="0">
              <a:solidFill>
                <a:srgbClr val="232323"/>
              </a:solidFill>
              <a:latin typeface="gellix-medium"/>
            </a:endParaRPr>
          </a:p>
          <a:p>
            <a:pPr marL="342900" indent="-342900" algn="just">
              <a:buFont typeface="Arial" panose="020B0604020202020204" pitchFamily="34" charset="0"/>
              <a:buChar char="•"/>
            </a:pPr>
            <a:endParaRPr lang="en-US" sz="2400" u="none" strike="noStrike" dirty="0">
              <a:solidFill>
                <a:srgbClr val="232323"/>
              </a:solidFill>
              <a:latin typeface="gellix-medium"/>
            </a:endParaRPr>
          </a:p>
          <a:p>
            <a:pPr marL="342900" indent="-342900" algn="just">
              <a:buFont typeface="Arial" panose="020B0604020202020204" pitchFamily="34" charset="0"/>
              <a:buChar char="•"/>
            </a:pPr>
            <a:endParaRPr lang="en-US" sz="2400" dirty="0">
              <a:solidFill>
                <a:srgbClr val="232323"/>
              </a:solidFill>
              <a:latin typeface="gellix-medium"/>
            </a:endParaRPr>
          </a:p>
          <a:p>
            <a:pPr marL="342900" indent="-342900" algn="just">
              <a:buFont typeface="Arial" panose="020B0604020202020204" pitchFamily="34" charset="0"/>
              <a:buChar char="•"/>
            </a:pPr>
            <a:endParaRPr lang="en-US" sz="2400" u="none" strike="noStrike" dirty="0">
              <a:solidFill>
                <a:srgbClr val="232323"/>
              </a:solidFill>
              <a:latin typeface="gellix-medium"/>
            </a:endParaRPr>
          </a:p>
          <a:p>
            <a:pPr marL="342900" indent="-342900" algn="just">
              <a:buFont typeface="Arial" panose="020B0604020202020204" pitchFamily="34" charset="0"/>
              <a:buChar char="•"/>
            </a:pPr>
            <a:endParaRPr lang="en-US" sz="2400" dirty="0">
              <a:solidFill>
                <a:srgbClr val="232323"/>
              </a:solidFill>
              <a:latin typeface="gellix-medium"/>
            </a:endParaRPr>
          </a:p>
          <a:p>
            <a:pPr marL="342900" indent="-342900" algn="just">
              <a:buFont typeface="Arial" panose="020B0604020202020204" pitchFamily="34" charset="0"/>
              <a:buChar char="•"/>
            </a:pPr>
            <a:endParaRPr lang="en-US" sz="2400" u="none" strike="noStrike" dirty="0">
              <a:solidFill>
                <a:srgbClr val="232323"/>
              </a:solidFill>
              <a:latin typeface="gellix-medium"/>
            </a:endParaRPr>
          </a:p>
          <a:p>
            <a:pPr marL="342900" indent="-342900" algn="just">
              <a:buFont typeface="Arial" panose="020B0604020202020204" pitchFamily="34" charset="0"/>
              <a:buChar char="•"/>
            </a:pPr>
            <a:endParaRPr lang="en-US" sz="2400" dirty="0">
              <a:solidFill>
                <a:srgbClr val="232323"/>
              </a:solidFill>
              <a:latin typeface="gellix-medium"/>
            </a:endParaRPr>
          </a:p>
          <a:p>
            <a:pPr marL="342900" indent="-342900" algn="just">
              <a:buFont typeface="Arial" panose="020B0604020202020204" pitchFamily="34" charset="0"/>
              <a:buChar char="•"/>
            </a:pPr>
            <a:r>
              <a:rPr lang="en-US" sz="2400" u="none" strike="noStrike" dirty="0">
                <a:solidFill>
                  <a:srgbClr val="232323"/>
                </a:solidFill>
                <a:latin typeface="gellix-medium"/>
              </a:rPr>
              <a:t>Here ID in the Persons table is defined as primary key</a:t>
            </a:r>
          </a:p>
        </p:txBody>
      </p:sp>
      <p:pic>
        <p:nvPicPr>
          <p:cNvPr id="10" name="Picture 9">
            <a:extLst>
              <a:ext uri="{FF2B5EF4-FFF2-40B4-BE49-F238E27FC236}">
                <a16:creationId xmlns:a16="http://schemas.microsoft.com/office/drawing/2014/main" id="{950D46E2-9556-2FCE-591F-8044CA9E4507}"/>
              </a:ext>
            </a:extLst>
          </p:cNvPr>
          <p:cNvPicPr>
            <a:picLocks noChangeAspect="1"/>
          </p:cNvPicPr>
          <p:nvPr/>
        </p:nvPicPr>
        <p:blipFill>
          <a:blip r:embed="rId2"/>
          <a:stretch>
            <a:fillRect/>
          </a:stretch>
        </p:blipFill>
        <p:spPr>
          <a:xfrm>
            <a:off x="1425683" y="3299128"/>
            <a:ext cx="4553585" cy="2438740"/>
          </a:xfrm>
          <a:prstGeom prst="rect">
            <a:avLst/>
          </a:prstGeom>
          <a:ln>
            <a:noFill/>
          </a:ln>
          <a:effectLst>
            <a:outerShdw blurRad="292100" dist="139700" dir="2700000" algn="tl" rotWithShape="0">
              <a:srgbClr val="333333">
                <a:alpha val="65000"/>
              </a:srgbClr>
            </a:outerShdw>
          </a:effectLst>
        </p:spPr>
      </p:pic>
      <p:pic>
        <p:nvPicPr>
          <p:cNvPr id="13" name="Picture 12">
            <a:extLst>
              <a:ext uri="{FF2B5EF4-FFF2-40B4-BE49-F238E27FC236}">
                <a16:creationId xmlns:a16="http://schemas.microsoft.com/office/drawing/2014/main" id="{94B78991-223C-E55C-C28B-9FD97743EF0D}"/>
              </a:ext>
            </a:extLst>
          </p:cNvPr>
          <p:cNvPicPr>
            <a:picLocks noChangeAspect="1"/>
          </p:cNvPicPr>
          <p:nvPr/>
        </p:nvPicPr>
        <p:blipFill>
          <a:blip r:embed="rId3"/>
          <a:stretch>
            <a:fillRect/>
          </a:stretch>
        </p:blipFill>
        <p:spPr>
          <a:xfrm>
            <a:off x="6481645" y="3473918"/>
            <a:ext cx="4582164" cy="207674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4487159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9D5F7-2F04-C3D4-4285-C1EC6BFB4C0C}"/>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E261F973-3DD4-923E-40B1-25ADC088682F}"/>
              </a:ext>
            </a:extLst>
          </p:cNvPr>
          <p:cNvSpPr>
            <a:spLocks noGrp="1"/>
          </p:cNvSpPr>
          <p:nvPr>
            <p:ph type="dt" sz="half" idx="10"/>
          </p:nvPr>
        </p:nvSpPr>
        <p:spPr/>
        <p:txBody>
          <a:bodyPr/>
          <a:lstStyle/>
          <a:p>
            <a:fld id="{C1CDDB05-7545-485D-BAE6-2CE87714CF19}" type="datetime1">
              <a:rPr lang="en-US" smtClean="0"/>
              <a:t>23-Sep-26</a:t>
            </a:fld>
            <a:endParaRPr lang="en-US"/>
          </a:p>
        </p:txBody>
      </p:sp>
      <p:sp>
        <p:nvSpPr>
          <p:cNvPr id="5" name="Slide Number Placeholder 4">
            <a:extLst>
              <a:ext uri="{FF2B5EF4-FFF2-40B4-BE49-F238E27FC236}">
                <a16:creationId xmlns:a16="http://schemas.microsoft.com/office/drawing/2014/main" id="{6BAD3D63-0D3C-DEF1-E6CD-CFAA779CBF20}"/>
              </a:ext>
            </a:extLst>
          </p:cNvPr>
          <p:cNvSpPr>
            <a:spLocks noGrp="1"/>
          </p:cNvSpPr>
          <p:nvPr>
            <p:ph type="sldNum" sz="quarter" idx="12"/>
          </p:nvPr>
        </p:nvSpPr>
        <p:spPr/>
        <p:txBody>
          <a:bodyPr/>
          <a:lstStyle/>
          <a:p>
            <a:fld id="{E199BF8C-199A-420E-AD47-765295E635DE}" type="slidenum">
              <a:rPr lang="en-US" smtClean="0"/>
              <a:t>8</a:t>
            </a:fld>
            <a:endParaRPr lang="en-US"/>
          </a:p>
        </p:txBody>
      </p:sp>
      <p:sp>
        <p:nvSpPr>
          <p:cNvPr id="6" name="Rectangle 5">
            <a:extLst>
              <a:ext uri="{FF2B5EF4-FFF2-40B4-BE49-F238E27FC236}">
                <a16:creationId xmlns:a16="http://schemas.microsoft.com/office/drawing/2014/main" id="{2DD105CB-92A2-A35E-CB5D-8DE1C61429A6}"/>
              </a:ext>
            </a:extLst>
          </p:cNvPr>
          <p:cNvSpPr/>
          <p:nvPr/>
        </p:nvSpPr>
        <p:spPr>
          <a:xfrm>
            <a:off x="0" y="0"/>
            <a:ext cx="12192000" cy="920621"/>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AFBA2C4-6D51-E5AC-7806-E39A206EAE61}"/>
              </a:ext>
            </a:extLst>
          </p:cNvPr>
          <p:cNvSpPr txBox="1"/>
          <p:nvPr/>
        </p:nvSpPr>
        <p:spPr>
          <a:xfrm>
            <a:off x="708529" y="121919"/>
            <a:ext cx="11402191" cy="707886"/>
          </a:xfrm>
          <a:prstGeom prst="rect">
            <a:avLst/>
          </a:prstGeom>
          <a:noFill/>
        </p:spPr>
        <p:txBody>
          <a:bodyPr wrap="square" rtlCol="0">
            <a:spAutoFit/>
          </a:bodyPr>
          <a:lstStyle/>
          <a:p>
            <a:pPr algn="l"/>
            <a:r>
              <a:rPr lang="en-US" sz="4000" i="0" dirty="0">
                <a:solidFill>
                  <a:srgbClr val="232323"/>
                </a:solidFill>
                <a:effectLst/>
                <a:latin typeface="gellix-medium"/>
              </a:rPr>
              <a:t>Unique Key</a:t>
            </a:r>
            <a:endParaRPr lang="en-US" sz="4000" i="0" dirty="0">
              <a:solidFill>
                <a:srgbClr val="232323"/>
              </a:solidFill>
              <a:effectLst/>
              <a:latin typeface="gellix-semibold"/>
            </a:endParaRPr>
          </a:p>
        </p:txBody>
      </p:sp>
      <p:sp>
        <p:nvSpPr>
          <p:cNvPr id="2" name="TextBox 1">
            <a:extLst>
              <a:ext uri="{FF2B5EF4-FFF2-40B4-BE49-F238E27FC236}">
                <a16:creationId xmlns:a16="http://schemas.microsoft.com/office/drawing/2014/main" id="{3B07CF56-B14D-3E0E-757C-7423EC2037FC}"/>
              </a:ext>
            </a:extLst>
          </p:cNvPr>
          <p:cNvSpPr txBox="1"/>
          <p:nvPr/>
        </p:nvSpPr>
        <p:spPr>
          <a:xfrm>
            <a:off x="838201" y="1229518"/>
            <a:ext cx="10766898" cy="4524315"/>
          </a:xfrm>
          <a:prstGeom prst="rect">
            <a:avLst/>
          </a:prstGeom>
          <a:noFill/>
        </p:spPr>
        <p:txBody>
          <a:bodyPr wrap="square">
            <a:spAutoFit/>
          </a:bodyPr>
          <a:lstStyle/>
          <a:p>
            <a:pPr marL="342900" indent="-342900" algn="just">
              <a:buFont typeface="Arial" panose="020B0604020202020204" pitchFamily="34" charset="0"/>
              <a:buChar char="•"/>
            </a:pPr>
            <a:r>
              <a:rPr lang="en-US" sz="2400" b="0" i="0" dirty="0">
                <a:solidFill>
                  <a:srgbClr val="232323"/>
                </a:solidFill>
                <a:effectLst/>
                <a:latin typeface="gellix-medium"/>
              </a:rPr>
              <a:t>The UNIQUE constraint ensures that all values in a column are different.</a:t>
            </a:r>
          </a:p>
          <a:p>
            <a:pPr marL="342900" indent="-342900" algn="just">
              <a:buFont typeface="Arial" panose="020B0604020202020204" pitchFamily="34" charset="0"/>
              <a:buChar char="•"/>
            </a:pPr>
            <a:endParaRPr lang="en-US" sz="2400" dirty="0">
              <a:solidFill>
                <a:srgbClr val="232323"/>
              </a:solidFill>
              <a:latin typeface="gellix-medium"/>
            </a:endParaRPr>
          </a:p>
          <a:p>
            <a:pPr marL="342900" indent="-342900" algn="just">
              <a:buFont typeface="Arial" panose="020B0604020202020204" pitchFamily="34" charset="0"/>
              <a:buChar char="•"/>
            </a:pPr>
            <a:r>
              <a:rPr lang="en-US" sz="2400" b="0" i="0" dirty="0">
                <a:solidFill>
                  <a:srgbClr val="232323"/>
                </a:solidFill>
                <a:effectLst/>
                <a:latin typeface="gellix-medium"/>
              </a:rPr>
              <a:t>The unique constraint ensures that values in a specified column or columns are unique across all rows in a table, but it doesn't require them to be the primary key.</a:t>
            </a:r>
          </a:p>
          <a:p>
            <a:pPr marL="342900" indent="-342900" algn="just">
              <a:buFont typeface="Arial" panose="020B0604020202020204" pitchFamily="34" charset="0"/>
              <a:buChar char="•"/>
            </a:pPr>
            <a:endParaRPr lang="en-US" sz="2400" dirty="0">
              <a:solidFill>
                <a:srgbClr val="232323"/>
              </a:solidFill>
              <a:latin typeface="gellix-medium"/>
            </a:endParaRPr>
          </a:p>
          <a:p>
            <a:pPr marL="342900" indent="-342900" algn="just">
              <a:buFont typeface="Arial" panose="020B0604020202020204" pitchFamily="34" charset="0"/>
              <a:buChar char="•"/>
            </a:pPr>
            <a:r>
              <a:rPr lang="en-US" sz="2400" b="0" i="0" dirty="0">
                <a:solidFill>
                  <a:srgbClr val="232323"/>
                </a:solidFill>
                <a:effectLst/>
                <a:latin typeface="gellix-medium"/>
              </a:rPr>
              <a:t>Both the </a:t>
            </a:r>
            <a:r>
              <a:rPr lang="en-US" sz="2400" b="1" i="0" dirty="0">
                <a:solidFill>
                  <a:srgbClr val="232323"/>
                </a:solidFill>
                <a:effectLst/>
                <a:latin typeface="gellix-medium"/>
              </a:rPr>
              <a:t>UNIQUE</a:t>
            </a:r>
            <a:r>
              <a:rPr lang="en-US" sz="2400" b="0" i="0" dirty="0">
                <a:solidFill>
                  <a:srgbClr val="232323"/>
                </a:solidFill>
                <a:effectLst/>
                <a:latin typeface="gellix-medium"/>
              </a:rPr>
              <a:t> and </a:t>
            </a:r>
            <a:r>
              <a:rPr lang="en-US" sz="2400" b="1" i="0" dirty="0">
                <a:solidFill>
                  <a:srgbClr val="232323"/>
                </a:solidFill>
                <a:effectLst/>
                <a:latin typeface="gellix-medium"/>
              </a:rPr>
              <a:t>PRIMARY KEY </a:t>
            </a:r>
            <a:r>
              <a:rPr lang="en-US" sz="2400" b="0" i="0" dirty="0">
                <a:solidFill>
                  <a:srgbClr val="232323"/>
                </a:solidFill>
                <a:effectLst/>
                <a:latin typeface="gellix-medium"/>
              </a:rPr>
              <a:t>constraints provide a guarantee for uniqueness for a column or set of columns.</a:t>
            </a:r>
          </a:p>
          <a:p>
            <a:pPr marL="342900" indent="-342900" algn="just">
              <a:buFont typeface="Arial" panose="020B0604020202020204" pitchFamily="34" charset="0"/>
              <a:buChar char="•"/>
            </a:pPr>
            <a:endParaRPr lang="en-US" sz="2400" dirty="0">
              <a:solidFill>
                <a:srgbClr val="232323"/>
              </a:solidFill>
              <a:latin typeface="gellix-medium"/>
            </a:endParaRPr>
          </a:p>
          <a:p>
            <a:pPr marL="342900" indent="-342900" algn="just">
              <a:buFont typeface="Arial" panose="020B0604020202020204" pitchFamily="34" charset="0"/>
              <a:buChar char="•"/>
            </a:pPr>
            <a:r>
              <a:rPr lang="en-US" sz="2400" b="0" i="0" dirty="0">
                <a:solidFill>
                  <a:srgbClr val="232323"/>
                </a:solidFill>
                <a:effectLst/>
                <a:latin typeface="gellix-medium"/>
              </a:rPr>
              <a:t>A PRIMARY KEY constraint automatically has a UNIQUE constraint.</a:t>
            </a:r>
          </a:p>
          <a:p>
            <a:pPr marL="342900" indent="-342900" algn="just">
              <a:buFont typeface="Arial" panose="020B0604020202020204" pitchFamily="34" charset="0"/>
              <a:buChar char="•"/>
            </a:pPr>
            <a:endParaRPr lang="en-US" sz="2400" dirty="0">
              <a:solidFill>
                <a:srgbClr val="232323"/>
              </a:solidFill>
              <a:latin typeface="gellix-medium"/>
            </a:endParaRPr>
          </a:p>
          <a:p>
            <a:pPr marL="342900" indent="-342900" algn="just">
              <a:buFont typeface="Arial" panose="020B0604020202020204" pitchFamily="34" charset="0"/>
              <a:buChar char="•"/>
            </a:pPr>
            <a:r>
              <a:rPr lang="en-US" sz="2400" b="0" i="0" dirty="0">
                <a:solidFill>
                  <a:srgbClr val="232323"/>
                </a:solidFill>
                <a:effectLst/>
                <a:latin typeface="gellix-medium"/>
              </a:rPr>
              <a:t>However, you can have many UNIQUE constraints per table, but only one PRIMARY KEY constraint per table.</a:t>
            </a:r>
          </a:p>
        </p:txBody>
      </p:sp>
    </p:spTree>
    <p:extLst>
      <p:ext uri="{BB962C8B-B14F-4D97-AF65-F5344CB8AC3E}">
        <p14:creationId xmlns:p14="http://schemas.microsoft.com/office/powerpoint/2010/main" val="329001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35B7C-EEB3-DA0E-D5A2-6511DAAC7620}"/>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50AA1D05-65D9-AA96-25CD-4FA49F9B282D}"/>
              </a:ext>
            </a:extLst>
          </p:cNvPr>
          <p:cNvSpPr>
            <a:spLocks noGrp="1"/>
          </p:cNvSpPr>
          <p:nvPr>
            <p:ph type="dt" sz="half" idx="10"/>
          </p:nvPr>
        </p:nvSpPr>
        <p:spPr/>
        <p:txBody>
          <a:bodyPr/>
          <a:lstStyle/>
          <a:p>
            <a:fld id="{C1CDDB05-7545-485D-BAE6-2CE87714CF19}" type="datetime1">
              <a:rPr lang="en-US" smtClean="0"/>
              <a:t>23-Sep-26</a:t>
            </a:fld>
            <a:endParaRPr lang="en-US"/>
          </a:p>
        </p:txBody>
      </p:sp>
      <p:sp>
        <p:nvSpPr>
          <p:cNvPr id="5" name="Slide Number Placeholder 4">
            <a:extLst>
              <a:ext uri="{FF2B5EF4-FFF2-40B4-BE49-F238E27FC236}">
                <a16:creationId xmlns:a16="http://schemas.microsoft.com/office/drawing/2014/main" id="{5B1FAF23-C376-48AD-5D95-BA7CBC079534}"/>
              </a:ext>
            </a:extLst>
          </p:cNvPr>
          <p:cNvSpPr>
            <a:spLocks noGrp="1"/>
          </p:cNvSpPr>
          <p:nvPr>
            <p:ph type="sldNum" sz="quarter" idx="12"/>
          </p:nvPr>
        </p:nvSpPr>
        <p:spPr/>
        <p:txBody>
          <a:bodyPr/>
          <a:lstStyle/>
          <a:p>
            <a:fld id="{E199BF8C-199A-420E-AD47-765295E635DE}" type="slidenum">
              <a:rPr lang="en-US" smtClean="0"/>
              <a:t>9</a:t>
            </a:fld>
            <a:endParaRPr lang="en-US"/>
          </a:p>
        </p:txBody>
      </p:sp>
      <p:sp>
        <p:nvSpPr>
          <p:cNvPr id="6" name="Rectangle 5">
            <a:extLst>
              <a:ext uri="{FF2B5EF4-FFF2-40B4-BE49-F238E27FC236}">
                <a16:creationId xmlns:a16="http://schemas.microsoft.com/office/drawing/2014/main" id="{AF4172C6-1915-7183-0A25-6F1F50BC5413}"/>
              </a:ext>
            </a:extLst>
          </p:cNvPr>
          <p:cNvSpPr/>
          <p:nvPr/>
        </p:nvSpPr>
        <p:spPr>
          <a:xfrm>
            <a:off x="0" y="0"/>
            <a:ext cx="12192000" cy="920621"/>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54785E8-8688-7A68-8463-3AA3B650224B}"/>
              </a:ext>
            </a:extLst>
          </p:cNvPr>
          <p:cNvSpPr txBox="1"/>
          <p:nvPr/>
        </p:nvSpPr>
        <p:spPr>
          <a:xfrm>
            <a:off x="708529" y="121919"/>
            <a:ext cx="11402191" cy="707886"/>
          </a:xfrm>
          <a:prstGeom prst="rect">
            <a:avLst/>
          </a:prstGeom>
          <a:noFill/>
        </p:spPr>
        <p:txBody>
          <a:bodyPr wrap="square" rtlCol="0">
            <a:spAutoFit/>
          </a:bodyPr>
          <a:lstStyle/>
          <a:p>
            <a:pPr algn="l"/>
            <a:r>
              <a:rPr lang="en-US" sz="4000" i="0" dirty="0">
                <a:solidFill>
                  <a:srgbClr val="232323"/>
                </a:solidFill>
                <a:effectLst/>
                <a:latin typeface="gellix-medium"/>
              </a:rPr>
              <a:t>Unique Key </a:t>
            </a:r>
            <a:endParaRPr lang="en-US" sz="4000" i="0" dirty="0">
              <a:solidFill>
                <a:srgbClr val="232323"/>
              </a:solidFill>
              <a:effectLst/>
              <a:latin typeface="gellix-semibold"/>
            </a:endParaRPr>
          </a:p>
        </p:txBody>
      </p:sp>
      <p:sp>
        <p:nvSpPr>
          <p:cNvPr id="2" name="TextBox 1">
            <a:extLst>
              <a:ext uri="{FF2B5EF4-FFF2-40B4-BE49-F238E27FC236}">
                <a16:creationId xmlns:a16="http://schemas.microsoft.com/office/drawing/2014/main" id="{A64904D3-1287-1CAC-F17E-8A91FDEEC76A}"/>
              </a:ext>
            </a:extLst>
          </p:cNvPr>
          <p:cNvSpPr txBox="1"/>
          <p:nvPr/>
        </p:nvSpPr>
        <p:spPr>
          <a:xfrm>
            <a:off x="838201" y="4602179"/>
            <a:ext cx="10766898" cy="830997"/>
          </a:xfrm>
          <a:prstGeom prst="rect">
            <a:avLst/>
          </a:prstGeom>
          <a:noFill/>
        </p:spPr>
        <p:txBody>
          <a:bodyPr wrap="square">
            <a:spAutoFit/>
          </a:bodyPr>
          <a:lstStyle/>
          <a:p>
            <a:pPr marL="342900" indent="-342900" algn="just">
              <a:buFont typeface="Arial" panose="020B0604020202020204" pitchFamily="34" charset="0"/>
              <a:buChar char="•"/>
            </a:pPr>
            <a:r>
              <a:rPr lang="en-US" sz="2400" b="0" i="0" dirty="0">
                <a:solidFill>
                  <a:srgbClr val="232323"/>
                </a:solidFill>
                <a:effectLst/>
                <a:latin typeface="gellix-medium"/>
              </a:rPr>
              <a:t>Here The </a:t>
            </a:r>
            <a:r>
              <a:rPr lang="en-US" sz="2400" b="0" i="0" dirty="0" err="1">
                <a:solidFill>
                  <a:srgbClr val="232323"/>
                </a:solidFill>
                <a:effectLst/>
                <a:latin typeface="gellix-medium"/>
              </a:rPr>
              <a:t>LastName</a:t>
            </a:r>
            <a:r>
              <a:rPr lang="en-US" sz="2400" b="0" i="0" dirty="0">
                <a:solidFill>
                  <a:srgbClr val="232323"/>
                </a:solidFill>
                <a:effectLst/>
                <a:latin typeface="gellix-medium"/>
              </a:rPr>
              <a:t> column is defined as it will contain all unique values but it is not necessarily the primary key</a:t>
            </a:r>
          </a:p>
        </p:txBody>
      </p:sp>
      <p:pic>
        <p:nvPicPr>
          <p:cNvPr id="8" name="Picture 7">
            <a:extLst>
              <a:ext uri="{FF2B5EF4-FFF2-40B4-BE49-F238E27FC236}">
                <a16:creationId xmlns:a16="http://schemas.microsoft.com/office/drawing/2014/main" id="{291F3020-2AC8-2C3D-0F54-599C2068ADC0}"/>
              </a:ext>
            </a:extLst>
          </p:cNvPr>
          <p:cNvPicPr>
            <a:picLocks noChangeAspect="1"/>
          </p:cNvPicPr>
          <p:nvPr/>
        </p:nvPicPr>
        <p:blipFill>
          <a:blip r:embed="rId2"/>
          <a:stretch>
            <a:fillRect/>
          </a:stretch>
        </p:blipFill>
        <p:spPr>
          <a:xfrm>
            <a:off x="1066797" y="1573687"/>
            <a:ext cx="4553585" cy="2105319"/>
          </a:xfrm>
          <a:prstGeom prst="rect">
            <a:avLst/>
          </a:prstGeom>
          <a:ln>
            <a:noFill/>
          </a:ln>
          <a:effectLst>
            <a:outerShdw blurRad="292100" dist="139700" dir="2700000" algn="tl" rotWithShape="0">
              <a:srgbClr val="333333">
                <a:alpha val="65000"/>
              </a:srgbClr>
            </a:outerShdw>
          </a:effectLst>
        </p:spPr>
      </p:pic>
      <p:pic>
        <p:nvPicPr>
          <p:cNvPr id="10" name="Picture 9">
            <a:extLst>
              <a:ext uri="{FF2B5EF4-FFF2-40B4-BE49-F238E27FC236}">
                <a16:creationId xmlns:a16="http://schemas.microsoft.com/office/drawing/2014/main" id="{071C074B-B06D-7FF9-D14C-15DEBC3EB2F5}"/>
              </a:ext>
            </a:extLst>
          </p:cNvPr>
          <p:cNvPicPr>
            <a:picLocks noChangeAspect="1"/>
          </p:cNvPicPr>
          <p:nvPr/>
        </p:nvPicPr>
        <p:blipFill>
          <a:blip r:embed="rId3"/>
          <a:stretch>
            <a:fillRect/>
          </a:stretch>
        </p:blipFill>
        <p:spPr>
          <a:xfrm>
            <a:off x="6096000" y="1402212"/>
            <a:ext cx="4563112" cy="244826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2546813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FDA66-6608-9D3C-E4A4-DE177B68DDF2}"/>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DBE31537-7F67-EC03-0CBB-F6F77F1A736E}"/>
              </a:ext>
            </a:extLst>
          </p:cNvPr>
          <p:cNvSpPr>
            <a:spLocks noGrp="1"/>
          </p:cNvSpPr>
          <p:nvPr>
            <p:ph type="dt" sz="half" idx="10"/>
          </p:nvPr>
        </p:nvSpPr>
        <p:spPr/>
        <p:txBody>
          <a:bodyPr/>
          <a:lstStyle/>
          <a:p>
            <a:fld id="{C1CDDB05-7545-485D-BAE6-2CE87714CF19}" type="datetime1">
              <a:rPr lang="en-US" smtClean="0"/>
              <a:t>23-Sep-26</a:t>
            </a:fld>
            <a:endParaRPr lang="en-US"/>
          </a:p>
        </p:txBody>
      </p:sp>
      <p:sp>
        <p:nvSpPr>
          <p:cNvPr id="5" name="Slide Number Placeholder 4">
            <a:extLst>
              <a:ext uri="{FF2B5EF4-FFF2-40B4-BE49-F238E27FC236}">
                <a16:creationId xmlns:a16="http://schemas.microsoft.com/office/drawing/2014/main" id="{D5FC9C64-3D68-2476-32AC-A383C95CF410}"/>
              </a:ext>
            </a:extLst>
          </p:cNvPr>
          <p:cNvSpPr>
            <a:spLocks noGrp="1"/>
          </p:cNvSpPr>
          <p:nvPr>
            <p:ph type="sldNum" sz="quarter" idx="12"/>
          </p:nvPr>
        </p:nvSpPr>
        <p:spPr/>
        <p:txBody>
          <a:bodyPr/>
          <a:lstStyle/>
          <a:p>
            <a:fld id="{E199BF8C-199A-420E-AD47-765295E635DE}" type="slidenum">
              <a:rPr lang="en-US" smtClean="0"/>
              <a:t>10</a:t>
            </a:fld>
            <a:endParaRPr lang="en-US"/>
          </a:p>
        </p:txBody>
      </p:sp>
      <p:sp>
        <p:nvSpPr>
          <p:cNvPr id="6" name="Rectangle 5">
            <a:extLst>
              <a:ext uri="{FF2B5EF4-FFF2-40B4-BE49-F238E27FC236}">
                <a16:creationId xmlns:a16="http://schemas.microsoft.com/office/drawing/2014/main" id="{D4A64887-2262-AEF2-3D70-B107A9F99D82}"/>
              </a:ext>
            </a:extLst>
          </p:cNvPr>
          <p:cNvSpPr/>
          <p:nvPr/>
        </p:nvSpPr>
        <p:spPr>
          <a:xfrm>
            <a:off x="0" y="0"/>
            <a:ext cx="12192000" cy="920621"/>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FBC2AE2-1B08-A55F-AE0A-EC8817C4BCDB}"/>
              </a:ext>
            </a:extLst>
          </p:cNvPr>
          <p:cNvSpPr txBox="1"/>
          <p:nvPr/>
        </p:nvSpPr>
        <p:spPr>
          <a:xfrm>
            <a:off x="708529" y="121919"/>
            <a:ext cx="11402191" cy="707886"/>
          </a:xfrm>
          <a:prstGeom prst="rect">
            <a:avLst/>
          </a:prstGeom>
          <a:noFill/>
        </p:spPr>
        <p:txBody>
          <a:bodyPr wrap="square" rtlCol="0">
            <a:spAutoFit/>
          </a:bodyPr>
          <a:lstStyle/>
          <a:p>
            <a:pPr algn="l"/>
            <a:r>
              <a:rPr lang="en-US" sz="4000" dirty="0">
                <a:solidFill>
                  <a:srgbClr val="232323"/>
                </a:solidFill>
                <a:latin typeface="gellix-medium"/>
              </a:rPr>
              <a:t>Super </a:t>
            </a:r>
            <a:r>
              <a:rPr lang="en-US" sz="4000" i="0" dirty="0">
                <a:solidFill>
                  <a:srgbClr val="232323"/>
                </a:solidFill>
                <a:effectLst/>
                <a:latin typeface="gellix-medium"/>
              </a:rPr>
              <a:t>Key</a:t>
            </a:r>
            <a:endParaRPr lang="en-US" sz="4000" i="0" dirty="0">
              <a:solidFill>
                <a:srgbClr val="232323"/>
              </a:solidFill>
              <a:effectLst/>
              <a:latin typeface="gellix-semibold"/>
            </a:endParaRPr>
          </a:p>
        </p:txBody>
      </p:sp>
      <p:sp>
        <p:nvSpPr>
          <p:cNvPr id="2" name="TextBox 1">
            <a:extLst>
              <a:ext uri="{FF2B5EF4-FFF2-40B4-BE49-F238E27FC236}">
                <a16:creationId xmlns:a16="http://schemas.microsoft.com/office/drawing/2014/main" id="{F7B1BE6B-5315-09A2-E526-0761C16F9327}"/>
              </a:ext>
            </a:extLst>
          </p:cNvPr>
          <p:cNvSpPr txBox="1"/>
          <p:nvPr/>
        </p:nvSpPr>
        <p:spPr>
          <a:xfrm>
            <a:off x="838201" y="1168315"/>
            <a:ext cx="10766898" cy="1569660"/>
          </a:xfrm>
          <a:prstGeom prst="rect">
            <a:avLst/>
          </a:prstGeom>
          <a:noFill/>
        </p:spPr>
        <p:txBody>
          <a:bodyPr wrap="square">
            <a:spAutoFit/>
          </a:bodyPr>
          <a:lstStyle/>
          <a:p>
            <a:pPr marL="342900" indent="-342900" algn="just">
              <a:buFont typeface="Arial" panose="020B0604020202020204" pitchFamily="34" charset="0"/>
              <a:buChar char="•"/>
            </a:pPr>
            <a:r>
              <a:rPr lang="en-US" sz="2400" b="0" i="0" dirty="0">
                <a:solidFill>
                  <a:srgbClr val="231F20"/>
                </a:solidFill>
                <a:effectLst/>
                <a:latin typeface="circular-xx"/>
              </a:rPr>
              <a:t>Combination of all possible attributes that includes at least one candidate key together which can uniquely identify two tuples in a table is super key</a:t>
            </a:r>
          </a:p>
          <a:p>
            <a:pPr marL="342900" indent="-342900" algn="just">
              <a:buFont typeface="Arial" panose="020B0604020202020204" pitchFamily="34" charset="0"/>
              <a:buChar char="•"/>
            </a:pPr>
            <a:endParaRPr lang="en-US" sz="2400" dirty="0">
              <a:solidFill>
                <a:srgbClr val="231F20"/>
              </a:solidFill>
              <a:latin typeface="circular-xx"/>
            </a:endParaRPr>
          </a:p>
          <a:p>
            <a:pPr marL="342900" indent="-342900" algn="just">
              <a:buFont typeface="Arial" panose="020B0604020202020204" pitchFamily="34" charset="0"/>
              <a:buChar char="•"/>
            </a:pPr>
            <a:endParaRPr lang="en-US" sz="2400" b="0" i="0" dirty="0">
              <a:solidFill>
                <a:srgbClr val="232323"/>
              </a:solidFill>
              <a:effectLst/>
              <a:latin typeface="gellix-medium"/>
            </a:endParaRPr>
          </a:p>
        </p:txBody>
      </p:sp>
      <p:graphicFrame>
        <p:nvGraphicFramePr>
          <p:cNvPr id="7" name="Table 6">
            <a:extLst>
              <a:ext uri="{FF2B5EF4-FFF2-40B4-BE49-F238E27FC236}">
                <a16:creationId xmlns:a16="http://schemas.microsoft.com/office/drawing/2014/main" id="{6DF35ABA-429D-ACBA-EA83-06827A1DA8CA}"/>
              </a:ext>
            </a:extLst>
          </p:cNvPr>
          <p:cNvGraphicFramePr>
            <a:graphicFrameLocks noGrp="1"/>
          </p:cNvGraphicFramePr>
          <p:nvPr>
            <p:extLst>
              <p:ext uri="{D42A27DB-BD31-4B8C-83A1-F6EECF244321}">
                <p14:modId xmlns:p14="http://schemas.microsoft.com/office/powerpoint/2010/main" val="3979976124"/>
              </p:ext>
            </p:extLst>
          </p:nvPr>
        </p:nvGraphicFramePr>
        <p:xfrm>
          <a:off x="1108954" y="3801849"/>
          <a:ext cx="5564220" cy="1828800"/>
        </p:xfrm>
        <a:graphic>
          <a:graphicData uri="http://schemas.openxmlformats.org/drawingml/2006/table">
            <a:tbl>
              <a:tblPr firstRow="1" bandRow="1">
                <a:tableStyleId>{5C22544A-7EE6-4342-B048-85BDC9FD1C3A}</a:tableStyleId>
              </a:tblPr>
              <a:tblGrid>
                <a:gridCol w="1391055">
                  <a:extLst>
                    <a:ext uri="{9D8B030D-6E8A-4147-A177-3AD203B41FA5}">
                      <a16:colId xmlns:a16="http://schemas.microsoft.com/office/drawing/2014/main" val="669275853"/>
                    </a:ext>
                  </a:extLst>
                </a:gridCol>
                <a:gridCol w="1391055">
                  <a:extLst>
                    <a:ext uri="{9D8B030D-6E8A-4147-A177-3AD203B41FA5}">
                      <a16:colId xmlns:a16="http://schemas.microsoft.com/office/drawing/2014/main" val="3678744137"/>
                    </a:ext>
                  </a:extLst>
                </a:gridCol>
                <a:gridCol w="1780162">
                  <a:extLst>
                    <a:ext uri="{9D8B030D-6E8A-4147-A177-3AD203B41FA5}">
                      <a16:colId xmlns:a16="http://schemas.microsoft.com/office/drawing/2014/main" val="2255329637"/>
                    </a:ext>
                  </a:extLst>
                </a:gridCol>
                <a:gridCol w="1001948">
                  <a:extLst>
                    <a:ext uri="{9D8B030D-6E8A-4147-A177-3AD203B41FA5}">
                      <a16:colId xmlns:a16="http://schemas.microsoft.com/office/drawing/2014/main" val="122116245"/>
                    </a:ext>
                  </a:extLst>
                </a:gridCol>
              </a:tblGrid>
              <a:tr h="370840">
                <a:tc>
                  <a:txBody>
                    <a:bodyPr/>
                    <a:lstStyle/>
                    <a:p>
                      <a:r>
                        <a:rPr lang="en-US" sz="2400" dirty="0"/>
                        <a:t>Roll</a:t>
                      </a:r>
                    </a:p>
                  </a:txBody>
                  <a:tcPr/>
                </a:tc>
                <a:tc>
                  <a:txBody>
                    <a:bodyPr/>
                    <a:lstStyle/>
                    <a:p>
                      <a:r>
                        <a:rPr lang="en-US" sz="2400" dirty="0"/>
                        <a:t>Name</a:t>
                      </a:r>
                    </a:p>
                  </a:txBody>
                  <a:tcPr/>
                </a:tc>
                <a:tc>
                  <a:txBody>
                    <a:bodyPr/>
                    <a:lstStyle/>
                    <a:p>
                      <a:r>
                        <a:rPr lang="en-US" sz="2400" dirty="0"/>
                        <a:t>email</a:t>
                      </a:r>
                    </a:p>
                  </a:txBody>
                  <a:tcPr/>
                </a:tc>
                <a:tc>
                  <a:txBody>
                    <a:bodyPr/>
                    <a:lstStyle/>
                    <a:p>
                      <a:r>
                        <a:rPr lang="en-US" sz="2400" dirty="0"/>
                        <a:t>Age</a:t>
                      </a:r>
                    </a:p>
                  </a:txBody>
                  <a:tcPr/>
                </a:tc>
                <a:extLst>
                  <a:ext uri="{0D108BD9-81ED-4DB2-BD59-A6C34878D82A}">
                    <a16:rowId xmlns:a16="http://schemas.microsoft.com/office/drawing/2014/main" val="3153325996"/>
                  </a:ext>
                </a:extLst>
              </a:tr>
              <a:tr h="370840">
                <a:tc>
                  <a:txBody>
                    <a:bodyPr/>
                    <a:lstStyle/>
                    <a:p>
                      <a:r>
                        <a:rPr lang="en-US" sz="2400" dirty="0"/>
                        <a:t>1</a:t>
                      </a:r>
                    </a:p>
                  </a:txBody>
                  <a:tcPr/>
                </a:tc>
                <a:tc>
                  <a:txBody>
                    <a:bodyPr/>
                    <a:lstStyle/>
                    <a:p>
                      <a:r>
                        <a:rPr lang="en-US" sz="2400" dirty="0" err="1"/>
                        <a:t>Raaj</a:t>
                      </a:r>
                      <a:endParaRPr lang="en-US" sz="2400" dirty="0"/>
                    </a:p>
                  </a:txBody>
                  <a:tcPr/>
                </a:tc>
                <a:tc>
                  <a:txBody>
                    <a:bodyPr/>
                    <a:lstStyle/>
                    <a:p>
                      <a:r>
                        <a:rPr lang="en-US" sz="2400" dirty="0"/>
                        <a:t>abc@g.com</a:t>
                      </a:r>
                    </a:p>
                  </a:txBody>
                  <a:tcPr/>
                </a:tc>
                <a:tc>
                  <a:txBody>
                    <a:bodyPr/>
                    <a:lstStyle/>
                    <a:p>
                      <a:r>
                        <a:rPr lang="en-US" sz="2400" dirty="0"/>
                        <a:t>21</a:t>
                      </a:r>
                    </a:p>
                  </a:txBody>
                  <a:tcPr/>
                </a:tc>
                <a:extLst>
                  <a:ext uri="{0D108BD9-81ED-4DB2-BD59-A6C34878D82A}">
                    <a16:rowId xmlns:a16="http://schemas.microsoft.com/office/drawing/2014/main" val="1160238472"/>
                  </a:ext>
                </a:extLst>
              </a:tr>
              <a:tr h="370840">
                <a:tc>
                  <a:txBody>
                    <a:bodyPr/>
                    <a:lstStyle/>
                    <a:p>
                      <a:r>
                        <a:rPr lang="en-US" sz="2400" dirty="0"/>
                        <a:t>2</a:t>
                      </a:r>
                    </a:p>
                  </a:txBody>
                  <a:tcPr/>
                </a:tc>
                <a:tc>
                  <a:txBody>
                    <a:bodyPr/>
                    <a:lstStyle/>
                    <a:p>
                      <a:r>
                        <a:rPr lang="en-US" sz="2400" dirty="0" err="1"/>
                        <a:t>Nuhash</a:t>
                      </a:r>
                      <a:endParaRPr lang="en-US" sz="2400" dirty="0"/>
                    </a:p>
                  </a:txBody>
                  <a:tcPr/>
                </a:tc>
                <a:tc>
                  <a:txBody>
                    <a:bodyPr/>
                    <a:lstStyle/>
                    <a:p>
                      <a:r>
                        <a:rPr lang="en-US" sz="2400" dirty="0"/>
                        <a:t>def@g.com</a:t>
                      </a:r>
                    </a:p>
                  </a:txBody>
                  <a:tcPr/>
                </a:tc>
                <a:tc>
                  <a:txBody>
                    <a:bodyPr/>
                    <a:lstStyle/>
                    <a:p>
                      <a:r>
                        <a:rPr lang="en-US" sz="2400" dirty="0"/>
                        <a:t>23</a:t>
                      </a:r>
                    </a:p>
                  </a:txBody>
                  <a:tcPr/>
                </a:tc>
                <a:extLst>
                  <a:ext uri="{0D108BD9-81ED-4DB2-BD59-A6C34878D82A}">
                    <a16:rowId xmlns:a16="http://schemas.microsoft.com/office/drawing/2014/main" val="1903782883"/>
                  </a:ext>
                </a:extLst>
              </a:tr>
              <a:tr h="370840">
                <a:tc>
                  <a:txBody>
                    <a:bodyPr/>
                    <a:lstStyle/>
                    <a:p>
                      <a:r>
                        <a:rPr lang="en-US" sz="2400" dirty="0"/>
                        <a:t>3</a:t>
                      </a:r>
                    </a:p>
                  </a:txBody>
                  <a:tcPr/>
                </a:tc>
                <a:tc>
                  <a:txBody>
                    <a:bodyPr/>
                    <a:lstStyle/>
                    <a:p>
                      <a:r>
                        <a:rPr lang="en-US" sz="2400" dirty="0" err="1"/>
                        <a:t>Raaj</a:t>
                      </a:r>
                      <a:endParaRPr lang="en-US" sz="2400" dirty="0"/>
                    </a:p>
                  </a:txBody>
                  <a:tcPr/>
                </a:tc>
                <a:tc>
                  <a:txBody>
                    <a:bodyPr/>
                    <a:lstStyle/>
                    <a:p>
                      <a:r>
                        <a:rPr lang="en-US" sz="2400" dirty="0"/>
                        <a:t>gdr@g.com</a:t>
                      </a:r>
                    </a:p>
                  </a:txBody>
                  <a:tcPr/>
                </a:tc>
                <a:tc>
                  <a:txBody>
                    <a:bodyPr/>
                    <a:lstStyle/>
                    <a:p>
                      <a:r>
                        <a:rPr lang="en-US" sz="2400" dirty="0"/>
                        <a:t>21</a:t>
                      </a:r>
                    </a:p>
                  </a:txBody>
                  <a:tcPr/>
                </a:tc>
                <a:extLst>
                  <a:ext uri="{0D108BD9-81ED-4DB2-BD59-A6C34878D82A}">
                    <a16:rowId xmlns:a16="http://schemas.microsoft.com/office/drawing/2014/main" val="433943549"/>
                  </a:ext>
                </a:extLst>
              </a:tr>
            </a:tbl>
          </a:graphicData>
        </a:graphic>
      </p:graphicFrame>
      <p:sp>
        <p:nvSpPr>
          <p:cNvPr id="9" name="TextBox 8">
            <a:extLst>
              <a:ext uri="{FF2B5EF4-FFF2-40B4-BE49-F238E27FC236}">
                <a16:creationId xmlns:a16="http://schemas.microsoft.com/office/drawing/2014/main" id="{6EE4D421-6F98-7EA4-FD34-73C11C0BF1CE}"/>
              </a:ext>
            </a:extLst>
          </p:cNvPr>
          <p:cNvSpPr txBox="1"/>
          <p:nvPr/>
        </p:nvSpPr>
        <p:spPr>
          <a:xfrm>
            <a:off x="1108954" y="3276184"/>
            <a:ext cx="1876898" cy="461665"/>
          </a:xfrm>
          <a:prstGeom prst="rect">
            <a:avLst/>
          </a:prstGeom>
          <a:noFill/>
        </p:spPr>
        <p:txBody>
          <a:bodyPr wrap="square">
            <a:spAutoFit/>
          </a:bodyPr>
          <a:lstStyle/>
          <a:p>
            <a:r>
              <a:rPr lang="en-US" sz="2400" b="1" i="0" dirty="0">
                <a:solidFill>
                  <a:srgbClr val="232323"/>
                </a:solidFill>
                <a:effectLst/>
                <a:latin typeface="gellix-medium"/>
              </a:rPr>
              <a:t>Student</a:t>
            </a:r>
            <a:endParaRPr lang="en-US" sz="2400" b="1" dirty="0"/>
          </a:p>
        </p:txBody>
      </p:sp>
      <p:sp>
        <p:nvSpPr>
          <p:cNvPr id="11" name="Rectangle 10">
            <a:extLst>
              <a:ext uri="{FF2B5EF4-FFF2-40B4-BE49-F238E27FC236}">
                <a16:creationId xmlns:a16="http://schemas.microsoft.com/office/drawing/2014/main" id="{882985E3-C7B8-0834-A482-7785C9C6C767}"/>
              </a:ext>
            </a:extLst>
          </p:cNvPr>
          <p:cNvSpPr/>
          <p:nvPr/>
        </p:nvSpPr>
        <p:spPr>
          <a:xfrm>
            <a:off x="1060315" y="3772665"/>
            <a:ext cx="1517515" cy="50578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E8067E0-5259-53E4-AFD3-115CFB35A89C}"/>
              </a:ext>
            </a:extLst>
          </p:cNvPr>
          <p:cNvSpPr/>
          <p:nvPr/>
        </p:nvSpPr>
        <p:spPr>
          <a:xfrm>
            <a:off x="956552" y="3703034"/>
            <a:ext cx="2743200" cy="684140"/>
          </a:xfrm>
          <a:prstGeom prst="rect">
            <a:avLst/>
          </a:prstGeom>
          <a:no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879764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59F10-98C4-9D4D-5D46-A94219AECFF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6A45872A-38FE-2877-5820-995978E60C2B}"/>
              </a:ext>
            </a:extLst>
          </p:cNvPr>
          <p:cNvSpPr>
            <a:spLocks noGrp="1"/>
          </p:cNvSpPr>
          <p:nvPr>
            <p:ph type="dt" sz="half" idx="10"/>
          </p:nvPr>
        </p:nvSpPr>
        <p:spPr/>
        <p:txBody>
          <a:bodyPr/>
          <a:lstStyle/>
          <a:p>
            <a:fld id="{C1CDDB05-7545-485D-BAE6-2CE87714CF19}" type="datetime1">
              <a:rPr lang="en-US" smtClean="0"/>
              <a:t>23-Sep-26</a:t>
            </a:fld>
            <a:endParaRPr lang="en-US"/>
          </a:p>
        </p:txBody>
      </p:sp>
      <p:sp>
        <p:nvSpPr>
          <p:cNvPr id="5" name="Slide Number Placeholder 4">
            <a:extLst>
              <a:ext uri="{FF2B5EF4-FFF2-40B4-BE49-F238E27FC236}">
                <a16:creationId xmlns:a16="http://schemas.microsoft.com/office/drawing/2014/main" id="{CBFFAECD-14FF-91D0-DA57-F1DD547F3F25}"/>
              </a:ext>
            </a:extLst>
          </p:cNvPr>
          <p:cNvSpPr>
            <a:spLocks noGrp="1"/>
          </p:cNvSpPr>
          <p:nvPr>
            <p:ph type="sldNum" sz="quarter" idx="12"/>
          </p:nvPr>
        </p:nvSpPr>
        <p:spPr/>
        <p:txBody>
          <a:bodyPr/>
          <a:lstStyle/>
          <a:p>
            <a:fld id="{E199BF8C-199A-420E-AD47-765295E635DE}" type="slidenum">
              <a:rPr lang="en-US" smtClean="0"/>
              <a:t>11</a:t>
            </a:fld>
            <a:endParaRPr lang="en-US"/>
          </a:p>
        </p:txBody>
      </p:sp>
      <p:sp>
        <p:nvSpPr>
          <p:cNvPr id="6" name="Rectangle 5">
            <a:extLst>
              <a:ext uri="{FF2B5EF4-FFF2-40B4-BE49-F238E27FC236}">
                <a16:creationId xmlns:a16="http://schemas.microsoft.com/office/drawing/2014/main" id="{5433D040-166F-DDA3-FB14-C6FF1B94ACB0}"/>
              </a:ext>
            </a:extLst>
          </p:cNvPr>
          <p:cNvSpPr/>
          <p:nvPr/>
        </p:nvSpPr>
        <p:spPr>
          <a:xfrm>
            <a:off x="0" y="0"/>
            <a:ext cx="12192000" cy="920621"/>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9895EF5-418B-5EFF-F2F4-D07441174CA2}"/>
              </a:ext>
            </a:extLst>
          </p:cNvPr>
          <p:cNvSpPr txBox="1"/>
          <p:nvPr/>
        </p:nvSpPr>
        <p:spPr>
          <a:xfrm>
            <a:off x="708529" y="121919"/>
            <a:ext cx="11402191" cy="707886"/>
          </a:xfrm>
          <a:prstGeom prst="rect">
            <a:avLst/>
          </a:prstGeom>
          <a:noFill/>
        </p:spPr>
        <p:txBody>
          <a:bodyPr wrap="square" rtlCol="0">
            <a:spAutoFit/>
          </a:bodyPr>
          <a:lstStyle/>
          <a:p>
            <a:pPr algn="l"/>
            <a:r>
              <a:rPr lang="en-US" sz="4000" dirty="0">
                <a:solidFill>
                  <a:srgbClr val="232323"/>
                </a:solidFill>
                <a:latin typeface="gellix-medium"/>
              </a:rPr>
              <a:t>Super </a:t>
            </a:r>
            <a:r>
              <a:rPr lang="en-US" sz="4000" i="0" dirty="0">
                <a:solidFill>
                  <a:srgbClr val="232323"/>
                </a:solidFill>
                <a:effectLst/>
                <a:latin typeface="gellix-medium"/>
              </a:rPr>
              <a:t>Key</a:t>
            </a:r>
            <a:endParaRPr lang="en-US" sz="4000" i="0" dirty="0">
              <a:solidFill>
                <a:srgbClr val="232323"/>
              </a:solidFill>
              <a:effectLst/>
              <a:latin typeface="gellix-semibold"/>
            </a:endParaRPr>
          </a:p>
        </p:txBody>
      </p:sp>
      <p:sp>
        <p:nvSpPr>
          <p:cNvPr id="2" name="TextBox 1">
            <a:extLst>
              <a:ext uri="{FF2B5EF4-FFF2-40B4-BE49-F238E27FC236}">
                <a16:creationId xmlns:a16="http://schemas.microsoft.com/office/drawing/2014/main" id="{21864F69-0AD3-A1AE-98A0-EEF844D90957}"/>
              </a:ext>
            </a:extLst>
          </p:cNvPr>
          <p:cNvSpPr txBox="1"/>
          <p:nvPr/>
        </p:nvSpPr>
        <p:spPr>
          <a:xfrm>
            <a:off x="838201" y="1168315"/>
            <a:ext cx="10766898" cy="2677656"/>
          </a:xfrm>
          <a:prstGeom prst="rect">
            <a:avLst/>
          </a:prstGeom>
          <a:noFill/>
        </p:spPr>
        <p:txBody>
          <a:bodyPr wrap="square">
            <a:spAutoFit/>
          </a:bodyPr>
          <a:lstStyle/>
          <a:p>
            <a:pPr marL="342900" indent="-342900" algn="just">
              <a:buFont typeface="Arial" panose="020B0604020202020204" pitchFamily="34" charset="0"/>
              <a:buChar char="•"/>
            </a:pPr>
            <a:r>
              <a:rPr lang="en-US" sz="2400" b="0" i="0" dirty="0">
                <a:solidFill>
                  <a:srgbClr val="231F20"/>
                </a:solidFill>
                <a:effectLst/>
                <a:latin typeface="circular-xx"/>
              </a:rPr>
              <a:t>Combination of all possible attributes that includes at least one candidate key together which can uniquely identify two tuples in a table is super key</a:t>
            </a:r>
            <a:endParaRPr lang="en-US" sz="2400" dirty="0">
              <a:solidFill>
                <a:srgbClr val="231F20"/>
              </a:solidFill>
              <a:latin typeface="circular-xx"/>
            </a:endParaRPr>
          </a:p>
          <a:p>
            <a:pPr marL="342900" indent="-342900" algn="just">
              <a:buFont typeface="Arial" panose="020B0604020202020204" pitchFamily="34" charset="0"/>
              <a:buChar char="•"/>
            </a:pPr>
            <a:r>
              <a:rPr lang="en-US" sz="2400" b="0" i="0" dirty="0">
                <a:solidFill>
                  <a:srgbClr val="231F20"/>
                </a:solidFill>
                <a:effectLst/>
                <a:latin typeface="circular-xx"/>
              </a:rPr>
              <a:t>Super Key is the superset of a candidate key.</a:t>
            </a:r>
          </a:p>
          <a:p>
            <a:pPr marL="342900" indent="-342900" algn="just">
              <a:buFont typeface="Arial" panose="020B0604020202020204" pitchFamily="34" charset="0"/>
              <a:buChar char="•"/>
            </a:pPr>
            <a:endParaRPr lang="en-US" sz="2400" dirty="0">
              <a:solidFill>
                <a:srgbClr val="231F20"/>
              </a:solidFill>
              <a:latin typeface="circular-xx"/>
            </a:endParaRPr>
          </a:p>
          <a:p>
            <a:pPr marL="342900" indent="-342900" algn="just">
              <a:buFont typeface="Arial" panose="020B0604020202020204" pitchFamily="34" charset="0"/>
              <a:buChar char="•"/>
            </a:pPr>
            <a:r>
              <a:rPr lang="en-US" sz="2400" b="0" i="0" dirty="0">
                <a:solidFill>
                  <a:srgbClr val="231F20"/>
                </a:solidFill>
                <a:effectLst/>
                <a:latin typeface="circular-xx"/>
              </a:rPr>
              <a:t>Super key = Candidate key + 1 or more attribute</a:t>
            </a:r>
          </a:p>
          <a:p>
            <a:pPr marL="342900" indent="-342900" algn="just">
              <a:buFont typeface="Arial" panose="020B0604020202020204" pitchFamily="34" charset="0"/>
              <a:buChar char="•"/>
            </a:pPr>
            <a:endParaRPr lang="en-US" sz="2400" dirty="0">
              <a:solidFill>
                <a:srgbClr val="231F20"/>
              </a:solidFill>
              <a:latin typeface="circular-xx"/>
            </a:endParaRPr>
          </a:p>
          <a:p>
            <a:pPr marL="342900" indent="-342900" algn="just">
              <a:buFont typeface="Arial" panose="020B0604020202020204" pitchFamily="34" charset="0"/>
              <a:buChar char="•"/>
            </a:pPr>
            <a:endParaRPr lang="en-US" sz="2400" b="0" i="0" dirty="0">
              <a:solidFill>
                <a:srgbClr val="232323"/>
              </a:solidFill>
              <a:effectLst/>
              <a:latin typeface="gellix-medium"/>
            </a:endParaRPr>
          </a:p>
        </p:txBody>
      </p:sp>
      <p:sp>
        <p:nvSpPr>
          <p:cNvPr id="9" name="TextBox 8">
            <a:extLst>
              <a:ext uri="{FF2B5EF4-FFF2-40B4-BE49-F238E27FC236}">
                <a16:creationId xmlns:a16="http://schemas.microsoft.com/office/drawing/2014/main" id="{E6D46400-3957-23E5-C836-F1FCBDD8BF75}"/>
              </a:ext>
            </a:extLst>
          </p:cNvPr>
          <p:cNvSpPr txBox="1"/>
          <p:nvPr/>
        </p:nvSpPr>
        <p:spPr>
          <a:xfrm>
            <a:off x="1108954" y="3276184"/>
            <a:ext cx="1876898" cy="461665"/>
          </a:xfrm>
          <a:prstGeom prst="rect">
            <a:avLst/>
          </a:prstGeom>
          <a:noFill/>
        </p:spPr>
        <p:txBody>
          <a:bodyPr wrap="square">
            <a:spAutoFit/>
          </a:bodyPr>
          <a:lstStyle/>
          <a:p>
            <a:r>
              <a:rPr lang="en-US" sz="2400" b="1" i="0" dirty="0">
                <a:solidFill>
                  <a:srgbClr val="232323"/>
                </a:solidFill>
                <a:effectLst/>
                <a:latin typeface="gellix-medium"/>
              </a:rPr>
              <a:t>Student</a:t>
            </a:r>
            <a:endParaRPr lang="en-US" sz="2400" b="1" dirty="0"/>
          </a:p>
        </p:txBody>
      </p:sp>
      <p:graphicFrame>
        <p:nvGraphicFramePr>
          <p:cNvPr id="10" name="Table 9">
            <a:extLst>
              <a:ext uri="{FF2B5EF4-FFF2-40B4-BE49-F238E27FC236}">
                <a16:creationId xmlns:a16="http://schemas.microsoft.com/office/drawing/2014/main" id="{D1A6D8AA-B7EE-6053-1122-C81A58422F3F}"/>
              </a:ext>
            </a:extLst>
          </p:cNvPr>
          <p:cNvGraphicFramePr>
            <a:graphicFrameLocks noGrp="1"/>
          </p:cNvGraphicFramePr>
          <p:nvPr>
            <p:extLst>
              <p:ext uri="{D42A27DB-BD31-4B8C-83A1-F6EECF244321}">
                <p14:modId xmlns:p14="http://schemas.microsoft.com/office/powerpoint/2010/main" val="3726036826"/>
              </p:ext>
            </p:extLst>
          </p:nvPr>
        </p:nvGraphicFramePr>
        <p:xfrm>
          <a:off x="1108954" y="3801849"/>
          <a:ext cx="5564220" cy="1828800"/>
        </p:xfrm>
        <a:graphic>
          <a:graphicData uri="http://schemas.openxmlformats.org/drawingml/2006/table">
            <a:tbl>
              <a:tblPr firstRow="1" bandRow="1">
                <a:tableStyleId>{5C22544A-7EE6-4342-B048-85BDC9FD1C3A}</a:tableStyleId>
              </a:tblPr>
              <a:tblGrid>
                <a:gridCol w="1391055">
                  <a:extLst>
                    <a:ext uri="{9D8B030D-6E8A-4147-A177-3AD203B41FA5}">
                      <a16:colId xmlns:a16="http://schemas.microsoft.com/office/drawing/2014/main" val="669275853"/>
                    </a:ext>
                  </a:extLst>
                </a:gridCol>
                <a:gridCol w="1391055">
                  <a:extLst>
                    <a:ext uri="{9D8B030D-6E8A-4147-A177-3AD203B41FA5}">
                      <a16:colId xmlns:a16="http://schemas.microsoft.com/office/drawing/2014/main" val="3678744137"/>
                    </a:ext>
                  </a:extLst>
                </a:gridCol>
                <a:gridCol w="1780162">
                  <a:extLst>
                    <a:ext uri="{9D8B030D-6E8A-4147-A177-3AD203B41FA5}">
                      <a16:colId xmlns:a16="http://schemas.microsoft.com/office/drawing/2014/main" val="2255329637"/>
                    </a:ext>
                  </a:extLst>
                </a:gridCol>
                <a:gridCol w="1001948">
                  <a:extLst>
                    <a:ext uri="{9D8B030D-6E8A-4147-A177-3AD203B41FA5}">
                      <a16:colId xmlns:a16="http://schemas.microsoft.com/office/drawing/2014/main" val="122116245"/>
                    </a:ext>
                  </a:extLst>
                </a:gridCol>
              </a:tblGrid>
              <a:tr h="370840">
                <a:tc>
                  <a:txBody>
                    <a:bodyPr/>
                    <a:lstStyle/>
                    <a:p>
                      <a:r>
                        <a:rPr lang="en-US" sz="2400" dirty="0"/>
                        <a:t>Roll</a:t>
                      </a:r>
                    </a:p>
                  </a:txBody>
                  <a:tcPr/>
                </a:tc>
                <a:tc>
                  <a:txBody>
                    <a:bodyPr/>
                    <a:lstStyle/>
                    <a:p>
                      <a:r>
                        <a:rPr lang="en-US" sz="2400" dirty="0"/>
                        <a:t>Name</a:t>
                      </a:r>
                    </a:p>
                  </a:txBody>
                  <a:tcPr/>
                </a:tc>
                <a:tc>
                  <a:txBody>
                    <a:bodyPr/>
                    <a:lstStyle/>
                    <a:p>
                      <a:r>
                        <a:rPr lang="en-US" sz="2400" dirty="0"/>
                        <a:t>email</a:t>
                      </a:r>
                    </a:p>
                  </a:txBody>
                  <a:tcPr/>
                </a:tc>
                <a:tc>
                  <a:txBody>
                    <a:bodyPr/>
                    <a:lstStyle/>
                    <a:p>
                      <a:r>
                        <a:rPr lang="en-US" sz="2400" dirty="0"/>
                        <a:t>Age</a:t>
                      </a:r>
                    </a:p>
                  </a:txBody>
                  <a:tcPr/>
                </a:tc>
                <a:extLst>
                  <a:ext uri="{0D108BD9-81ED-4DB2-BD59-A6C34878D82A}">
                    <a16:rowId xmlns:a16="http://schemas.microsoft.com/office/drawing/2014/main" val="3153325996"/>
                  </a:ext>
                </a:extLst>
              </a:tr>
              <a:tr h="370840">
                <a:tc>
                  <a:txBody>
                    <a:bodyPr/>
                    <a:lstStyle/>
                    <a:p>
                      <a:r>
                        <a:rPr lang="en-US" sz="2400" dirty="0"/>
                        <a:t>1</a:t>
                      </a:r>
                    </a:p>
                  </a:txBody>
                  <a:tcPr/>
                </a:tc>
                <a:tc>
                  <a:txBody>
                    <a:bodyPr/>
                    <a:lstStyle/>
                    <a:p>
                      <a:r>
                        <a:rPr lang="en-US" sz="2400" dirty="0" err="1"/>
                        <a:t>Raaj</a:t>
                      </a:r>
                      <a:endParaRPr lang="en-US" sz="2400" dirty="0"/>
                    </a:p>
                  </a:txBody>
                  <a:tcPr/>
                </a:tc>
                <a:tc>
                  <a:txBody>
                    <a:bodyPr/>
                    <a:lstStyle/>
                    <a:p>
                      <a:r>
                        <a:rPr lang="en-US" sz="2400" dirty="0"/>
                        <a:t>abc@g.com</a:t>
                      </a:r>
                    </a:p>
                  </a:txBody>
                  <a:tcPr/>
                </a:tc>
                <a:tc>
                  <a:txBody>
                    <a:bodyPr/>
                    <a:lstStyle/>
                    <a:p>
                      <a:r>
                        <a:rPr lang="en-US" sz="2400" dirty="0"/>
                        <a:t>21</a:t>
                      </a:r>
                    </a:p>
                  </a:txBody>
                  <a:tcPr/>
                </a:tc>
                <a:extLst>
                  <a:ext uri="{0D108BD9-81ED-4DB2-BD59-A6C34878D82A}">
                    <a16:rowId xmlns:a16="http://schemas.microsoft.com/office/drawing/2014/main" val="1160238472"/>
                  </a:ext>
                </a:extLst>
              </a:tr>
              <a:tr h="370840">
                <a:tc>
                  <a:txBody>
                    <a:bodyPr/>
                    <a:lstStyle/>
                    <a:p>
                      <a:r>
                        <a:rPr lang="en-US" sz="2400" dirty="0"/>
                        <a:t>2</a:t>
                      </a:r>
                    </a:p>
                  </a:txBody>
                  <a:tcPr/>
                </a:tc>
                <a:tc>
                  <a:txBody>
                    <a:bodyPr/>
                    <a:lstStyle/>
                    <a:p>
                      <a:r>
                        <a:rPr lang="en-US" sz="2400" dirty="0" err="1"/>
                        <a:t>Nuhash</a:t>
                      </a:r>
                      <a:endParaRPr lang="en-US" sz="2400" dirty="0"/>
                    </a:p>
                  </a:txBody>
                  <a:tcPr/>
                </a:tc>
                <a:tc>
                  <a:txBody>
                    <a:bodyPr/>
                    <a:lstStyle/>
                    <a:p>
                      <a:r>
                        <a:rPr lang="en-US" sz="2400" dirty="0"/>
                        <a:t>def@g.com</a:t>
                      </a:r>
                    </a:p>
                  </a:txBody>
                  <a:tcPr/>
                </a:tc>
                <a:tc>
                  <a:txBody>
                    <a:bodyPr/>
                    <a:lstStyle/>
                    <a:p>
                      <a:r>
                        <a:rPr lang="en-US" sz="2400" dirty="0"/>
                        <a:t>23</a:t>
                      </a:r>
                    </a:p>
                  </a:txBody>
                  <a:tcPr/>
                </a:tc>
                <a:extLst>
                  <a:ext uri="{0D108BD9-81ED-4DB2-BD59-A6C34878D82A}">
                    <a16:rowId xmlns:a16="http://schemas.microsoft.com/office/drawing/2014/main" val="1903782883"/>
                  </a:ext>
                </a:extLst>
              </a:tr>
              <a:tr h="370840">
                <a:tc>
                  <a:txBody>
                    <a:bodyPr/>
                    <a:lstStyle/>
                    <a:p>
                      <a:r>
                        <a:rPr lang="en-US" sz="2400" dirty="0"/>
                        <a:t>3</a:t>
                      </a:r>
                    </a:p>
                  </a:txBody>
                  <a:tcPr/>
                </a:tc>
                <a:tc>
                  <a:txBody>
                    <a:bodyPr/>
                    <a:lstStyle/>
                    <a:p>
                      <a:r>
                        <a:rPr lang="en-US" sz="2400" dirty="0" err="1"/>
                        <a:t>Raaj</a:t>
                      </a:r>
                      <a:endParaRPr lang="en-US" sz="2400" dirty="0"/>
                    </a:p>
                  </a:txBody>
                  <a:tcPr/>
                </a:tc>
                <a:tc>
                  <a:txBody>
                    <a:bodyPr/>
                    <a:lstStyle/>
                    <a:p>
                      <a:r>
                        <a:rPr lang="en-US" sz="2400" dirty="0"/>
                        <a:t>gdr@g.com</a:t>
                      </a:r>
                    </a:p>
                  </a:txBody>
                  <a:tcPr/>
                </a:tc>
                <a:tc>
                  <a:txBody>
                    <a:bodyPr/>
                    <a:lstStyle/>
                    <a:p>
                      <a:r>
                        <a:rPr lang="en-US" sz="2400" dirty="0"/>
                        <a:t>21</a:t>
                      </a:r>
                    </a:p>
                  </a:txBody>
                  <a:tcPr/>
                </a:tc>
                <a:extLst>
                  <a:ext uri="{0D108BD9-81ED-4DB2-BD59-A6C34878D82A}">
                    <a16:rowId xmlns:a16="http://schemas.microsoft.com/office/drawing/2014/main" val="433943549"/>
                  </a:ext>
                </a:extLst>
              </a:tr>
            </a:tbl>
          </a:graphicData>
        </a:graphic>
      </p:graphicFrame>
      <p:sp>
        <p:nvSpPr>
          <p:cNvPr id="11" name="Rectangle 10">
            <a:extLst>
              <a:ext uri="{FF2B5EF4-FFF2-40B4-BE49-F238E27FC236}">
                <a16:creationId xmlns:a16="http://schemas.microsoft.com/office/drawing/2014/main" id="{BB67DAF7-B16C-C6DB-7C2F-A58572BD18A5}"/>
              </a:ext>
            </a:extLst>
          </p:cNvPr>
          <p:cNvSpPr/>
          <p:nvPr/>
        </p:nvSpPr>
        <p:spPr>
          <a:xfrm>
            <a:off x="1060315" y="3772665"/>
            <a:ext cx="1517515" cy="50578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E1A4633-BF6F-3A25-615E-0BBA2E73AE70}"/>
              </a:ext>
            </a:extLst>
          </p:cNvPr>
          <p:cNvSpPr/>
          <p:nvPr/>
        </p:nvSpPr>
        <p:spPr>
          <a:xfrm>
            <a:off x="956552" y="3703034"/>
            <a:ext cx="1436452" cy="684140"/>
          </a:xfrm>
          <a:prstGeom prst="rect">
            <a:avLst/>
          </a:prstGeom>
          <a:no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F7E4146-34DB-2E29-3F34-8FF85707D672}"/>
              </a:ext>
            </a:extLst>
          </p:cNvPr>
          <p:cNvSpPr/>
          <p:nvPr/>
        </p:nvSpPr>
        <p:spPr>
          <a:xfrm>
            <a:off x="3860259" y="3712100"/>
            <a:ext cx="1436452" cy="684140"/>
          </a:xfrm>
          <a:prstGeom prst="rect">
            <a:avLst/>
          </a:prstGeom>
          <a:no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281949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1EA6E-00CA-697B-0950-CC60DE34CA57}"/>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98337ABE-C899-E080-AB0C-F75109FE93BB}"/>
              </a:ext>
            </a:extLst>
          </p:cNvPr>
          <p:cNvSpPr>
            <a:spLocks noGrp="1"/>
          </p:cNvSpPr>
          <p:nvPr>
            <p:ph type="dt" sz="half" idx="10"/>
          </p:nvPr>
        </p:nvSpPr>
        <p:spPr/>
        <p:txBody>
          <a:bodyPr/>
          <a:lstStyle/>
          <a:p>
            <a:fld id="{C1CDDB05-7545-485D-BAE6-2CE87714CF19}" type="datetime1">
              <a:rPr lang="en-US" smtClean="0"/>
              <a:t>23-Sep-26</a:t>
            </a:fld>
            <a:endParaRPr lang="en-US"/>
          </a:p>
        </p:txBody>
      </p:sp>
      <p:sp>
        <p:nvSpPr>
          <p:cNvPr id="5" name="Slide Number Placeholder 4">
            <a:extLst>
              <a:ext uri="{FF2B5EF4-FFF2-40B4-BE49-F238E27FC236}">
                <a16:creationId xmlns:a16="http://schemas.microsoft.com/office/drawing/2014/main" id="{4336D576-7A73-31C5-F4AC-FC70F9319B1E}"/>
              </a:ext>
            </a:extLst>
          </p:cNvPr>
          <p:cNvSpPr>
            <a:spLocks noGrp="1"/>
          </p:cNvSpPr>
          <p:nvPr>
            <p:ph type="sldNum" sz="quarter" idx="12"/>
          </p:nvPr>
        </p:nvSpPr>
        <p:spPr/>
        <p:txBody>
          <a:bodyPr/>
          <a:lstStyle/>
          <a:p>
            <a:fld id="{E199BF8C-199A-420E-AD47-765295E635DE}" type="slidenum">
              <a:rPr lang="en-US" smtClean="0"/>
              <a:t>12</a:t>
            </a:fld>
            <a:endParaRPr lang="en-US"/>
          </a:p>
        </p:txBody>
      </p:sp>
      <p:sp>
        <p:nvSpPr>
          <p:cNvPr id="6" name="Rectangle 5">
            <a:extLst>
              <a:ext uri="{FF2B5EF4-FFF2-40B4-BE49-F238E27FC236}">
                <a16:creationId xmlns:a16="http://schemas.microsoft.com/office/drawing/2014/main" id="{DB0D9763-A90D-CA9D-8E2F-E3582110E65B}"/>
              </a:ext>
            </a:extLst>
          </p:cNvPr>
          <p:cNvSpPr/>
          <p:nvPr/>
        </p:nvSpPr>
        <p:spPr>
          <a:xfrm>
            <a:off x="0" y="0"/>
            <a:ext cx="12192000" cy="920621"/>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A367B15-4122-0F38-79D3-2FF69F7380A0}"/>
              </a:ext>
            </a:extLst>
          </p:cNvPr>
          <p:cNvSpPr txBox="1"/>
          <p:nvPr/>
        </p:nvSpPr>
        <p:spPr>
          <a:xfrm>
            <a:off x="708529" y="121919"/>
            <a:ext cx="11402191" cy="707886"/>
          </a:xfrm>
          <a:prstGeom prst="rect">
            <a:avLst/>
          </a:prstGeom>
          <a:noFill/>
        </p:spPr>
        <p:txBody>
          <a:bodyPr wrap="square" rtlCol="0">
            <a:spAutoFit/>
          </a:bodyPr>
          <a:lstStyle/>
          <a:p>
            <a:pPr algn="l"/>
            <a:r>
              <a:rPr lang="en-US" sz="4000" dirty="0">
                <a:solidFill>
                  <a:srgbClr val="232323"/>
                </a:solidFill>
                <a:latin typeface="gellix-medium"/>
              </a:rPr>
              <a:t>Super </a:t>
            </a:r>
            <a:r>
              <a:rPr lang="en-US" sz="4000" i="0" dirty="0">
                <a:solidFill>
                  <a:srgbClr val="232323"/>
                </a:solidFill>
                <a:effectLst/>
                <a:latin typeface="gellix-medium"/>
              </a:rPr>
              <a:t>Key</a:t>
            </a:r>
            <a:endParaRPr lang="en-US" sz="4000" i="0" dirty="0">
              <a:solidFill>
                <a:srgbClr val="232323"/>
              </a:solidFill>
              <a:effectLst/>
              <a:latin typeface="gellix-semibold"/>
            </a:endParaRPr>
          </a:p>
        </p:txBody>
      </p:sp>
      <p:sp>
        <p:nvSpPr>
          <p:cNvPr id="2" name="TextBox 1">
            <a:extLst>
              <a:ext uri="{FF2B5EF4-FFF2-40B4-BE49-F238E27FC236}">
                <a16:creationId xmlns:a16="http://schemas.microsoft.com/office/drawing/2014/main" id="{8FBE1F72-2F0E-2ED0-3A05-343A98337823}"/>
              </a:ext>
            </a:extLst>
          </p:cNvPr>
          <p:cNvSpPr txBox="1"/>
          <p:nvPr/>
        </p:nvSpPr>
        <p:spPr>
          <a:xfrm>
            <a:off x="838201" y="1168315"/>
            <a:ext cx="10766898" cy="2677656"/>
          </a:xfrm>
          <a:prstGeom prst="rect">
            <a:avLst/>
          </a:prstGeom>
          <a:noFill/>
        </p:spPr>
        <p:txBody>
          <a:bodyPr wrap="square">
            <a:spAutoFit/>
          </a:bodyPr>
          <a:lstStyle/>
          <a:p>
            <a:pPr marL="342900" indent="-342900" algn="just">
              <a:buFont typeface="Arial" panose="020B0604020202020204" pitchFamily="34" charset="0"/>
              <a:buChar char="•"/>
            </a:pPr>
            <a:r>
              <a:rPr lang="en-US" sz="2400" b="0" i="0" dirty="0">
                <a:solidFill>
                  <a:srgbClr val="231F20"/>
                </a:solidFill>
                <a:effectLst/>
                <a:latin typeface="circular-xx"/>
              </a:rPr>
              <a:t>Combination of all possible attributes that includes at least one candidate key together which can uniquely identify two tuples in a table is super key</a:t>
            </a:r>
            <a:endParaRPr lang="en-US" sz="2400" dirty="0">
              <a:solidFill>
                <a:srgbClr val="231F20"/>
              </a:solidFill>
              <a:latin typeface="circular-xx"/>
            </a:endParaRPr>
          </a:p>
          <a:p>
            <a:pPr marL="342900" indent="-342900" algn="just">
              <a:buFont typeface="Arial" panose="020B0604020202020204" pitchFamily="34" charset="0"/>
              <a:buChar char="•"/>
            </a:pPr>
            <a:r>
              <a:rPr lang="en-US" sz="2400" b="0" i="0" dirty="0">
                <a:solidFill>
                  <a:srgbClr val="231F20"/>
                </a:solidFill>
                <a:effectLst/>
                <a:latin typeface="circular-xx"/>
              </a:rPr>
              <a:t>Super Key is the superset of a candidate key.</a:t>
            </a:r>
          </a:p>
          <a:p>
            <a:pPr marL="342900" indent="-342900" algn="just">
              <a:buFont typeface="Arial" panose="020B0604020202020204" pitchFamily="34" charset="0"/>
              <a:buChar char="•"/>
            </a:pPr>
            <a:endParaRPr lang="en-US" sz="2400" dirty="0">
              <a:solidFill>
                <a:srgbClr val="231F20"/>
              </a:solidFill>
              <a:latin typeface="circular-xx"/>
            </a:endParaRPr>
          </a:p>
          <a:p>
            <a:pPr marL="342900" indent="-342900" algn="just">
              <a:buFont typeface="Arial" panose="020B0604020202020204" pitchFamily="34" charset="0"/>
              <a:buChar char="•"/>
            </a:pPr>
            <a:r>
              <a:rPr lang="en-US" sz="2400" b="0" i="0" dirty="0">
                <a:solidFill>
                  <a:srgbClr val="231F20"/>
                </a:solidFill>
                <a:effectLst/>
                <a:latin typeface="circular-xx"/>
              </a:rPr>
              <a:t>Super key = Candidate key + 1 or more attribute</a:t>
            </a:r>
          </a:p>
          <a:p>
            <a:pPr marL="342900" indent="-342900" algn="just">
              <a:buFont typeface="Arial" panose="020B0604020202020204" pitchFamily="34" charset="0"/>
              <a:buChar char="•"/>
            </a:pPr>
            <a:endParaRPr lang="en-US" sz="2400" dirty="0">
              <a:solidFill>
                <a:srgbClr val="231F20"/>
              </a:solidFill>
              <a:latin typeface="circular-xx"/>
            </a:endParaRPr>
          </a:p>
          <a:p>
            <a:pPr marL="342900" indent="-342900" algn="just">
              <a:buFont typeface="Arial" panose="020B0604020202020204" pitchFamily="34" charset="0"/>
              <a:buChar char="•"/>
            </a:pPr>
            <a:endParaRPr lang="en-US" sz="2400" b="0" i="0" dirty="0">
              <a:solidFill>
                <a:srgbClr val="232323"/>
              </a:solidFill>
              <a:effectLst/>
              <a:latin typeface="gellix-medium"/>
            </a:endParaRPr>
          </a:p>
        </p:txBody>
      </p:sp>
      <p:sp>
        <p:nvSpPr>
          <p:cNvPr id="9" name="TextBox 8">
            <a:extLst>
              <a:ext uri="{FF2B5EF4-FFF2-40B4-BE49-F238E27FC236}">
                <a16:creationId xmlns:a16="http://schemas.microsoft.com/office/drawing/2014/main" id="{D1A1D49E-D498-ED1C-B188-F3E7370ACFED}"/>
              </a:ext>
            </a:extLst>
          </p:cNvPr>
          <p:cNvSpPr txBox="1"/>
          <p:nvPr/>
        </p:nvSpPr>
        <p:spPr>
          <a:xfrm>
            <a:off x="1108954" y="3276184"/>
            <a:ext cx="1876898" cy="461665"/>
          </a:xfrm>
          <a:prstGeom prst="rect">
            <a:avLst/>
          </a:prstGeom>
          <a:noFill/>
        </p:spPr>
        <p:txBody>
          <a:bodyPr wrap="square">
            <a:spAutoFit/>
          </a:bodyPr>
          <a:lstStyle/>
          <a:p>
            <a:r>
              <a:rPr lang="en-US" sz="2400" b="1" i="0" dirty="0">
                <a:solidFill>
                  <a:srgbClr val="232323"/>
                </a:solidFill>
                <a:effectLst/>
                <a:latin typeface="gellix-medium"/>
              </a:rPr>
              <a:t>Student</a:t>
            </a:r>
            <a:endParaRPr lang="en-US" sz="2400" b="1" dirty="0"/>
          </a:p>
        </p:txBody>
      </p:sp>
      <p:graphicFrame>
        <p:nvGraphicFramePr>
          <p:cNvPr id="10" name="Table 9">
            <a:extLst>
              <a:ext uri="{FF2B5EF4-FFF2-40B4-BE49-F238E27FC236}">
                <a16:creationId xmlns:a16="http://schemas.microsoft.com/office/drawing/2014/main" id="{5727F733-BFA5-A26A-B703-8A081339AEE5}"/>
              </a:ext>
            </a:extLst>
          </p:cNvPr>
          <p:cNvGraphicFramePr>
            <a:graphicFrameLocks noGrp="1"/>
          </p:cNvGraphicFramePr>
          <p:nvPr>
            <p:extLst>
              <p:ext uri="{D42A27DB-BD31-4B8C-83A1-F6EECF244321}">
                <p14:modId xmlns:p14="http://schemas.microsoft.com/office/powerpoint/2010/main" val="3726036826"/>
              </p:ext>
            </p:extLst>
          </p:nvPr>
        </p:nvGraphicFramePr>
        <p:xfrm>
          <a:off x="1108954" y="3801849"/>
          <a:ext cx="5564220" cy="1828800"/>
        </p:xfrm>
        <a:graphic>
          <a:graphicData uri="http://schemas.openxmlformats.org/drawingml/2006/table">
            <a:tbl>
              <a:tblPr firstRow="1" bandRow="1">
                <a:tableStyleId>{5C22544A-7EE6-4342-B048-85BDC9FD1C3A}</a:tableStyleId>
              </a:tblPr>
              <a:tblGrid>
                <a:gridCol w="1391055">
                  <a:extLst>
                    <a:ext uri="{9D8B030D-6E8A-4147-A177-3AD203B41FA5}">
                      <a16:colId xmlns:a16="http://schemas.microsoft.com/office/drawing/2014/main" val="669275853"/>
                    </a:ext>
                  </a:extLst>
                </a:gridCol>
                <a:gridCol w="1391055">
                  <a:extLst>
                    <a:ext uri="{9D8B030D-6E8A-4147-A177-3AD203B41FA5}">
                      <a16:colId xmlns:a16="http://schemas.microsoft.com/office/drawing/2014/main" val="3678744137"/>
                    </a:ext>
                  </a:extLst>
                </a:gridCol>
                <a:gridCol w="1780162">
                  <a:extLst>
                    <a:ext uri="{9D8B030D-6E8A-4147-A177-3AD203B41FA5}">
                      <a16:colId xmlns:a16="http://schemas.microsoft.com/office/drawing/2014/main" val="2255329637"/>
                    </a:ext>
                  </a:extLst>
                </a:gridCol>
                <a:gridCol w="1001948">
                  <a:extLst>
                    <a:ext uri="{9D8B030D-6E8A-4147-A177-3AD203B41FA5}">
                      <a16:colId xmlns:a16="http://schemas.microsoft.com/office/drawing/2014/main" val="122116245"/>
                    </a:ext>
                  </a:extLst>
                </a:gridCol>
              </a:tblGrid>
              <a:tr h="370840">
                <a:tc>
                  <a:txBody>
                    <a:bodyPr/>
                    <a:lstStyle/>
                    <a:p>
                      <a:r>
                        <a:rPr lang="en-US" sz="2400" dirty="0"/>
                        <a:t>Roll</a:t>
                      </a:r>
                    </a:p>
                  </a:txBody>
                  <a:tcPr/>
                </a:tc>
                <a:tc>
                  <a:txBody>
                    <a:bodyPr/>
                    <a:lstStyle/>
                    <a:p>
                      <a:r>
                        <a:rPr lang="en-US" sz="2400" dirty="0"/>
                        <a:t>Name</a:t>
                      </a:r>
                    </a:p>
                  </a:txBody>
                  <a:tcPr/>
                </a:tc>
                <a:tc>
                  <a:txBody>
                    <a:bodyPr/>
                    <a:lstStyle/>
                    <a:p>
                      <a:r>
                        <a:rPr lang="en-US" sz="2400" dirty="0"/>
                        <a:t>email</a:t>
                      </a:r>
                    </a:p>
                  </a:txBody>
                  <a:tcPr/>
                </a:tc>
                <a:tc>
                  <a:txBody>
                    <a:bodyPr/>
                    <a:lstStyle/>
                    <a:p>
                      <a:r>
                        <a:rPr lang="en-US" sz="2400" dirty="0"/>
                        <a:t>Age</a:t>
                      </a:r>
                    </a:p>
                  </a:txBody>
                  <a:tcPr/>
                </a:tc>
                <a:extLst>
                  <a:ext uri="{0D108BD9-81ED-4DB2-BD59-A6C34878D82A}">
                    <a16:rowId xmlns:a16="http://schemas.microsoft.com/office/drawing/2014/main" val="3153325996"/>
                  </a:ext>
                </a:extLst>
              </a:tr>
              <a:tr h="370840">
                <a:tc>
                  <a:txBody>
                    <a:bodyPr/>
                    <a:lstStyle/>
                    <a:p>
                      <a:r>
                        <a:rPr lang="en-US" sz="2400" dirty="0"/>
                        <a:t>1</a:t>
                      </a:r>
                    </a:p>
                  </a:txBody>
                  <a:tcPr/>
                </a:tc>
                <a:tc>
                  <a:txBody>
                    <a:bodyPr/>
                    <a:lstStyle/>
                    <a:p>
                      <a:r>
                        <a:rPr lang="en-US" sz="2400" dirty="0" err="1"/>
                        <a:t>Raaj</a:t>
                      </a:r>
                      <a:endParaRPr lang="en-US" sz="2400" dirty="0"/>
                    </a:p>
                  </a:txBody>
                  <a:tcPr/>
                </a:tc>
                <a:tc>
                  <a:txBody>
                    <a:bodyPr/>
                    <a:lstStyle/>
                    <a:p>
                      <a:r>
                        <a:rPr lang="en-US" sz="2400" dirty="0"/>
                        <a:t>abc@g.com</a:t>
                      </a:r>
                    </a:p>
                  </a:txBody>
                  <a:tcPr/>
                </a:tc>
                <a:tc>
                  <a:txBody>
                    <a:bodyPr/>
                    <a:lstStyle/>
                    <a:p>
                      <a:r>
                        <a:rPr lang="en-US" sz="2400" dirty="0"/>
                        <a:t>21</a:t>
                      </a:r>
                    </a:p>
                  </a:txBody>
                  <a:tcPr/>
                </a:tc>
                <a:extLst>
                  <a:ext uri="{0D108BD9-81ED-4DB2-BD59-A6C34878D82A}">
                    <a16:rowId xmlns:a16="http://schemas.microsoft.com/office/drawing/2014/main" val="1160238472"/>
                  </a:ext>
                </a:extLst>
              </a:tr>
              <a:tr h="370840">
                <a:tc>
                  <a:txBody>
                    <a:bodyPr/>
                    <a:lstStyle/>
                    <a:p>
                      <a:r>
                        <a:rPr lang="en-US" sz="2400" dirty="0"/>
                        <a:t>2</a:t>
                      </a:r>
                    </a:p>
                  </a:txBody>
                  <a:tcPr/>
                </a:tc>
                <a:tc>
                  <a:txBody>
                    <a:bodyPr/>
                    <a:lstStyle/>
                    <a:p>
                      <a:r>
                        <a:rPr lang="en-US" sz="2400" dirty="0" err="1"/>
                        <a:t>Nuhash</a:t>
                      </a:r>
                      <a:endParaRPr lang="en-US" sz="2400" dirty="0"/>
                    </a:p>
                  </a:txBody>
                  <a:tcPr/>
                </a:tc>
                <a:tc>
                  <a:txBody>
                    <a:bodyPr/>
                    <a:lstStyle/>
                    <a:p>
                      <a:r>
                        <a:rPr lang="en-US" sz="2400" dirty="0"/>
                        <a:t>def@g.com</a:t>
                      </a:r>
                    </a:p>
                  </a:txBody>
                  <a:tcPr/>
                </a:tc>
                <a:tc>
                  <a:txBody>
                    <a:bodyPr/>
                    <a:lstStyle/>
                    <a:p>
                      <a:r>
                        <a:rPr lang="en-US" sz="2400" dirty="0"/>
                        <a:t>23</a:t>
                      </a:r>
                    </a:p>
                  </a:txBody>
                  <a:tcPr/>
                </a:tc>
                <a:extLst>
                  <a:ext uri="{0D108BD9-81ED-4DB2-BD59-A6C34878D82A}">
                    <a16:rowId xmlns:a16="http://schemas.microsoft.com/office/drawing/2014/main" val="1903782883"/>
                  </a:ext>
                </a:extLst>
              </a:tr>
              <a:tr h="370840">
                <a:tc>
                  <a:txBody>
                    <a:bodyPr/>
                    <a:lstStyle/>
                    <a:p>
                      <a:r>
                        <a:rPr lang="en-US" sz="2400" dirty="0"/>
                        <a:t>3</a:t>
                      </a:r>
                    </a:p>
                  </a:txBody>
                  <a:tcPr/>
                </a:tc>
                <a:tc>
                  <a:txBody>
                    <a:bodyPr/>
                    <a:lstStyle/>
                    <a:p>
                      <a:r>
                        <a:rPr lang="en-US" sz="2400" dirty="0" err="1"/>
                        <a:t>Raaj</a:t>
                      </a:r>
                      <a:endParaRPr lang="en-US" sz="2400" dirty="0"/>
                    </a:p>
                  </a:txBody>
                  <a:tcPr/>
                </a:tc>
                <a:tc>
                  <a:txBody>
                    <a:bodyPr/>
                    <a:lstStyle/>
                    <a:p>
                      <a:r>
                        <a:rPr lang="en-US" sz="2400" dirty="0"/>
                        <a:t>gdr@g.com</a:t>
                      </a:r>
                    </a:p>
                  </a:txBody>
                  <a:tcPr/>
                </a:tc>
                <a:tc>
                  <a:txBody>
                    <a:bodyPr/>
                    <a:lstStyle/>
                    <a:p>
                      <a:r>
                        <a:rPr lang="en-US" sz="2400" dirty="0"/>
                        <a:t>21</a:t>
                      </a:r>
                    </a:p>
                  </a:txBody>
                  <a:tcPr/>
                </a:tc>
                <a:extLst>
                  <a:ext uri="{0D108BD9-81ED-4DB2-BD59-A6C34878D82A}">
                    <a16:rowId xmlns:a16="http://schemas.microsoft.com/office/drawing/2014/main" val="433943549"/>
                  </a:ext>
                </a:extLst>
              </a:tr>
            </a:tbl>
          </a:graphicData>
        </a:graphic>
      </p:graphicFrame>
      <p:sp>
        <p:nvSpPr>
          <p:cNvPr id="11" name="Rectangle 10">
            <a:extLst>
              <a:ext uri="{FF2B5EF4-FFF2-40B4-BE49-F238E27FC236}">
                <a16:creationId xmlns:a16="http://schemas.microsoft.com/office/drawing/2014/main" id="{38295747-760B-367A-04EC-63205FBF3268}"/>
              </a:ext>
            </a:extLst>
          </p:cNvPr>
          <p:cNvSpPr/>
          <p:nvPr/>
        </p:nvSpPr>
        <p:spPr>
          <a:xfrm>
            <a:off x="1060315" y="3772665"/>
            <a:ext cx="1517515" cy="50578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E08B44-0798-3BFC-B978-5A1C2E06B5C2}"/>
              </a:ext>
            </a:extLst>
          </p:cNvPr>
          <p:cNvSpPr/>
          <p:nvPr/>
        </p:nvSpPr>
        <p:spPr>
          <a:xfrm>
            <a:off x="956552" y="3703034"/>
            <a:ext cx="1436452" cy="684140"/>
          </a:xfrm>
          <a:prstGeom prst="rect">
            <a:avLst/>
          </a:prstGeom>
          <a:no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CFD3F9E-6E88-CFF5-2223-2494E5AE8931}"/>
              </a:ext>
            </a:extLst>
          </p:cNvPr>
          <p:cNvSpPr/>
          <p:nvPr/>
        </p:nvSpPr>
        <p:spPr>
          <a:xfrm>
            <a:off x="5603131" y="3712100"/>
            <a:ext cx="1118681" cy="684140"/>
          </a:xfrm>
          <a:prstGeom prst="rect">
            <a:avLst/>
          </a:prstGeom>
          <a:no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635965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EDA57-4903-827D-6F9A-492FFC45AACF}"/>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6D343BBC-EA50-6E12-28D2-B32C2A759F6F}"/>
              </a:ext>
            </a:extLst>
          </p:cNvPr>
          <p:cNvSpPr>
            <a:spLocks noGrp="1"/>
          </p:cNvSpPr>
          <p:nvPr>
            <p:ph type="dt" sz="half" idx="10"/>
          </p:nvPr>
        </p:nvSpPr>
        <p:spPr/>
        <p:txBody>
          <a:bodyPr/>
          <a:lstStyle/>
          <a:p>
            <a:fld id="{C1CDDB05-7545-485D-BAE6-2CE87714CF19}" type="datetime1">
              <a:rPr lang="en-US" smtClean="0"/>
              <a:t>23-Sep-26</a:t>
            </a:fld>
            <a:endParaRPr lang="en-US"/>
          </a:p>
        </p:txBody>
      </p:sp>
      <p:sp>
        <p:nvSpPr>
          <p:cNvPr id="5" name="Slide Number Placeholder 4">
            <a:extLst>
              <a:ext uri="{FF2B5EF4-FFF2-40B4-BE49-F238E27FC236}">
                <a16:creationId xmlns:a16="http://schemas.microsoft.com/office/drawing/2014/main" id="{6DFBD4E2-CEA8-7445-21EC-B3BB11FE8BF3}"/>
              </a:ext>
            </a:extLst>
          </p:cNvPr>
          <p:cNvSpPr>
            <a:spLocks noGrp="1"/>
          </p:cNvSpPr>
          <p:nvPr>
            <p:ph type="sldNum" sz="quarter" idx="12"/>
          </p:nvPr>
        </p:nvSpPr>
        <p:spPr/>
        <p:txBody>
          <a:bodyPr/>
          <a:lstStyle/>
          <a:p>
            <a:fld id="{E199BF8C-199A-420E-AD47-765295E635DE}" type="slidenum">
              <a:rPr lang="en-US" smtClean="0"/>
              <a:t>13</a:t>
            </a:fld>
            <a:endParaRPr lang="en-US"/>
          </a:p>
        </p:txBody>
      </p:sp>
      <p:sp>
        <p:nvSpPr>
          <p:cNvPr id="6" name="Rectangle 5">
            <a:extLst>
              <a:ext uri="{FF2B5EF4-FFF2-40B4-BE49-F238E27FC236}">
                <a16:creationId xmlns:a16="http://schemas.microsoft.com/office/drawing/2014/main" id="{EDDC9F2B-DBD2-E303-DD49-8415F2E2C389}"/>
              </a:ext>
            </a:extLst>
          </p:cNvPr>
          <p:cNvSpPr/>
          <p:nvPr/>
        </p:nvSpPr>
        <p:spPr>
          <a:xfrm>
            <a:off x="0" y="0"/>
            <a:ext cx="12192000" cy="920621"/>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6A4F8AE-6B31-DF4D-16B8-304313EF0884}"/>
              </a:ext>
            </a:extLst>
          </p:cNvPr>
          <p:cNvSpPr txBox="1"/>
          <p:nvPr/>
        </p:nvSpPr>
        <p:spPr>
          <a:xfrm>
            <a:off x="708529" y="121919"/>
            <a:ext cx="11402191" cy="707886"/>
          </a:xfrm>
          <a:prstGeom prst="rect">
            <a:avLst/>
          </a:prstGeom>
          <a:noFill/>
        </p:spPr>
        <p:txBody>
          <a:bodyPr wrap="square" rtlCol="0">
            <a:spAutoFit/>
          </a:bodyPr>
          <a:lstStyle/>
          <a:p>
            <a:pPr algn="l"/>
            <a:r>
              <a:rPr lang="en-US" sz="4000" dirty="0">
                <a:solidFill>
                  <a:srgbClr val="232323"/>
                </a:solidFill>
                <a:latin typeface="gellix-medium"/>
              </a:rPr>
              <a:t>Super </a:t>
            </a:r>
            <a:r>
              <a:rPr lang="en-US" sz="4000" i="0" dirty="0">
                <a:solidFill>
                  <a:srgbClr val="232323"/>
                </a:solidFill>
                <a:effectLst/>
                <a:latin typeface="gellix-medium"/>
              </a:rPr>
              <a:t>Key</a:t>
            </a:r>
            <a:endParaRPr lang="en-US" sz="4000" i="0" dirty="0">
              <a:solidFill>
                <a:srgbClr val="232323"/>
              </a:solidFill>
              <a:effectLst/>
              <a:latin typeface="gellix-semibold"/>
            </a:endParaRPr>
          </a:p>
        </p:txBody>
      </p:sp>
      <p:sp>
        <p:nvSpPr>
          <p:cNvPr id="2" name="TextBox 1">
            <a:extLst>
              <a:ext uri="{FF2B5EF4-FFF2-40B4-BE49-F238E27FC236}">
                <a16:creationId xmlns:a16="http://schemas.microsoft.com/office/drawing/2014/main" id="{1192C670-A38A-5E2B-68DD-E74157FC2843}"/>
              </a:ext>
            </a:extLst>
          </p:cNvPr>
          <p:cNvSpPr txBox="1"/>
          <p:nvPr/>
        </p:nvSpPr>
        <p:spPr>
          <a:xfrm>
            <a:off x="838201" y="1168315"/>
            <a:ext cx="10766898" cy="2677656"/>
          </a:xfrm>
          <a:prstGeom prst="rect">
            <a:avLst/>
          </a:prstGeom>
          <a:noFill/>
        </p:spPr>
        <p:txBody>
          <a:bodyPr wrap="square">
            <a:spAutoFit/>
          </a:bodyPr>
          <a:lstStyle/>
          <a:p>
            <a:pPr marL="342900" indent="-342900" algn="just">
              <a:buFont typeface="Arial" panose="020B0604020202020204" pitchFamily="34" charset="0"/>
              <a:buChar char="•"/>
            </a:pPr>
            <a:r>
              <a:rPr lang="en-US" sz="2400" dirty="0">
                <a:solidFill>
                  <a:srgbClr val="231F20"/>
                </a:solidFill>
                <a:latin typeface="circular-xx"/>
              </a:rPr>
              <a:t>Combination of all possible attributes that includes at least one candidate key together which can uniquely identify two tuples in a table is super key</a:t>
            </a:r>
          </a:p>
          <a:p>
            <a:pPr marL="342900" indent="-342900" algn="just">
              <a:buFont typeface="Arial" panose="020B0604020202020204" pitchFamily="34" charset="0"/>
              <a:buChar char="•"/>
            </a:pPr>
            <a:r>
              <a:rPr lang="en-US" sz="2400" dirty="0">
                <a:solidFill>
                  <a:srgbClr val="231F20"/>
                </a:solidFill>
                <a:latin typeface="circular-xx"/>
              </a:rPr>
              <a:t>Super Key is the superset of a candidate key.</a:t>
            </a:r>
          </a:p>
          <a:p>
            <a:pPr marL="342900" indent="-342900" algn="just">
              <a:buFont typeface="Arial" panose="020B0604020202020204" pitchFamily="34" charset="0"/>
              <a:buChar char="•"/>
            </a:pPr>
            <a:endParaRPr lang="en-US" sz="2400" dirty="0">
              <a:solidFill>
                <a:srgbClr val="231F20"/>
              </a:solidFill>
              <a:latin typeface="circular-xx"/>
            </a:endParaRPr>
          </a:p>
          <a:p>
            <a:pPr marL="342900" indent="-342900" algn="just">
              <a:buFont typeface="Arial" panose="020B0604020202020204" pitchFamily="34" charset="0"/>
              <a:buChar char="•"/>
            </a:pPr>
            <a:r>
              <a:rPr lang="en-US" sz="2400" dirty="0">
                <a:solidFill>
                  <a:srgbClr val="231F20"/>
                </a:solidFill>
                <a:latin typeface="circular-xx"/>
              </a:rPr>
              <a:t>Super key = Candidate key + 1 or more attribute</a:t>
            </a:r>
          </a:p>
          <a:p>
            <a:pPr marL="342900" indent="-342900" algn="just">
              <a:buFont typeface="Arial" panose="020B0604020202020204" pitchFamily="34" charset="0"/>
              <a:buChar char="•"/>
            </a:pPr>
            <a:endParaRPr lang="en-US" sz="2400" dirty="0">
              <a:solidFill>
                <a:srgbClr val="231F20"/>
              </a:solidFill>
              <a:latin typeface="circular-xx"/>
            </a:endParaRPr>
          </a:p>
          <a:p>
            <a:pPr marL="342900" indent="-342900" algn="just">
              <a:buFont typeface="Arial" panose="020B0604020202020204" pitchFamily="34" charset="0"/>
              <a:buChar char="•"/>
            </a:pPr>
            <a:endParaRPr lang="en-US" sz="2400" dirty="0">
              <a:solidFill>
                <a:srgbClr val="232323"/>
              </a:solidFill>
              <a:latin typeface="gellix-medium"/>
            </a:endParaRPr>
          </a:p>
        </p:txBody>
      </p:sp>
      <p:sp>
        <p:nvSpPr>
          <p:cNvPr id="9" name="TextBox 8">
            <a:extLst>
              <a:ext uri="{FF2B5EF4-FFF2-40B4-BE49-F238E27FC236}">
                <a16:creationId xmlns:a16="http://schemas.microsoft.com/office/drawing/2014/main" id="{7EC9F2C4-D662-D6F8-C9D1-CFCB52ECC586}"/>
              </a:ext>
            </a:extLst>
          </p:cNvPr>
          <p:cNvSpPr txBox="1"/>
          <p:nvPr/>
        </p:nvSpPr>
        <p:spPr>
          <a:xfrm>
            <a:off x="1108954" y="3276184"/>
            <a:ext cx="1876898" cy="461665"/>
          </a:xfrm>
          <a:prstGeom prst="rect">
            <a:avLst/>
          </a:prstGeom>
          <a:noFill/>
        </p:spPr>
        <p:txBody>
          <a:bodyPr wrap="square">
            <a:spAutoFit/>
          </a:bodyPr>
          <a:lstStyle/>
          <a:p>
            <a:r>
              <a:rPr lang="en-US" sz="2400" b="1" i="0" dirty="0">
                <a:solidFill>
                  <a:srgbClr val="232323"/>
                </a:solidFill>
                <a:effectLst/>
                <a:latin typeface="gellix-medium"/>
              </a:rPr>
              <a:t>Student</a:t>
            </a:r>
            <a:endParaRPr lang="en-US" sz="2400" b="1" dirty="0"/>
          </a:p>
        </p:txBody>
      </p:sp>
      <p:graphicFrame>
        <p:nvGraphicFramePr>
          <p:cNvPr id="10" name="Table 9">
            <a:extLst>
              <a:ext uri="{FF2B5EF4-FFF2-40B4-BE49-F238E27FC236}">
                <a16:creationId xmlns:a16="http://schemas.microsoft.com/office/drawing/2014/main" id="{0BFA50E5-9BF7-6961-9E0B-EE42787BC998}"/>
              </a:ext>
            </a:extLst>
          </p:cNvPr>
          <p:cNvGraphicFramePr>
            <a:graphicFrameLocks noGrp="1"/>
          </p:cNvGraphicFramePr>
          <p:nvPr/>
        </p:nvGraphicFramePr>
        <p:xfrm>
          <a:off x="1108954" y="3801849"/>
          <a:ext cx="5564220" cy="1828800"/>
        </p:xfrm>
        <a:graphic>
          <a:graphicData uri="http://schemas.openxmlformats.org/drawingml/2006/table">
            <a:tbl>
              <a:tblPr firstRow="1" bandRow="1">
                <a:tableStyleId>{5C22544A-7EE6-4342-B048-85BDC9FD1C3A}</a:tableStyleId>
              </a:tblPr>
              <a:tblGrid>
                <a:gridCol w="1391055">
                  <a:extLst>
                    <a:ext uri="{9D8B030D-6E8A-4147-A177-3AD203B41FA5}">
                      <a16:colId xmlns:a16="http://schemas.microsoft.com/office/drawing/2014/main" val="669275853"/>
                    </a:ext>
                  </a:extLst>
                </a:gridCol>
                <a:gridCol w="1391055">
                  <a:extLst>
                    <a:ext uri="{9D8B030D-6E8A-4147-A177-3AD203B41FA5}">
                      <a16:colId xmlns:a16="http://schemas.microsoft.com/office/drawing/2014/main" val="3678744137"/>
                    </a:ext>
                  </a:extLst>
                </a:gridCol>
                <a:gridCol w="1780162">
                  <a:extLst>
                    <a:ext uri="{9D8B030D-6E8A-4147-A177-3AD203B41FA5}">
                      <a16:colId xmlns:a16="http://schemas.microsoft.com/office/drawing/2014/main" val="2255329637"/>
                    </a:ext>
                  </a:extLst>
                </a:gridCol>
                <a:gridCol w="1001948">
                  <a:extLst>
                    <a:ext uri="{9D8B030D-6E8A-4147-A177-3AD203B41FA5}">
                      <a16:colId xmlns:a16="http://schemas.microsoft.com/office/drawing/2014/main" val="122116245"/>
                    </a:ext>
                  </a:extLst>
                </a:gridCol>
              </a:tblGrid>
              <a:tr h="370840">
                <a:tc>
                  <a:txBody>
                    <a:bodyPr/>
                    <a:lstStyle/>
                    <a:p>
                      <a:r>
                        <a:rPr lang="en-US" sz="2400" dirty="0"/>
                        <a:t>Roll</a:t>
                      </a:r>
                    </a:p>
                  </a:txBody>
                  <a:tcPr/>
                </a:tc>
                <a:tc>
                  <a:txBody>
                    <a:bodyPr/>
                    <a:lstStyle/>
                    <a:p>
                      <a:r>
                        <a:rPr lang="en-US" sz="2400" dirty="0"/>
                        <a:t>Name</a:t>
                      </a:r>
                    </a:p>
                  </a:txBody>
                  <a:tcPr/>
                </a:tc>
                <a:tc>
                  <a:txBody>
                    <a:bodyPr/>
                    <a:lstStyle/>
                    <a:p>
                      <a:r>
                        <a:rPr lang="en-US" sz="2400" dirty="0"/>
                        <a:t>email</a:t>
                      </a:r>
                    </a:p>
                  </a:txBody>
                  <a:tcPr/>
                </a:tc>
                <a:tc>
                  <a:txBody>
                    <a:bodyPr/>
                    <a:lstStyle/>
                    <a:p>
                      <a:r>
                        <a:rPr lang="en-US" sz="2400" dirty="0"/>
                        <a:t>Age</a:t>
                      </a:r>
                    </a:p>
                  </a:txBody>
                  <a:tcPr/>
                </a:tc>
                <a:extLst>
                  <a:ext uri="{0D108BD9-81ED-4DB2-BD59-A6C34878D82A}">
                    <a16:rowId xmlns:a16="http://schemas.microsoft.com/office/drawing/2014/main" val="3153325996"/>
                  </a:ext>
                </a:extLst>
              </a:tr>
              <a:tr h="370840">
                <a:tc>
                  <a:txBody>
                    <a:bodyPr/>
                    <a:lstStyle/>
                    <a:p>
                      <a:r>
                        <a:rPr lang="en-US" sz="2400" dirty="0"/>
                        <a:t>1</a:t>
                      </a:r>
                    </a:p>
                  </a:txBody>
                  <a:tcPr/>
                </a:tc>
                <a:tc>
                  <a:txBody>
                    <a:bodyPr/>
                    <a:lstStyle/>
                    <a:p>
                      <a:r>
                        <a:rPr lang="en-US" sz="2400" dirty="0" err="1"/>
                        <a:t>Raaj</a:t>
                      </a:r>
                      <a:endParaRPr lang="en-US" sz="2400" dirty="0"/>
                    </a:p>
                  </a:txBody>
                  <a:tcPr/>
                </a:tc>
                <a:tc>
                  <a:txBody>
                    <a:bodyPr/>
                    <a:lstStyle/>
                    <a:p>
                      <a:r>
                        <a:rPr lang="en-US" sz="2400" dirty="0"/>
                        <a:t>abc@g.com</a:t>
                      </a:r>
                    </a:p>
                  </a:txBody>
                  <a:tcPr/>
                </a:tc>
                <a:tc>
                  <a:txBody>
                    <a:bodyPr/>
                    <a:lstStyle/>
                    <a:p>
                      <a:r>
                        <a:rPr lang="en-US" sz="2400" dirty="0"/>
                        <a:t>21</a:t>
                      </a:r>
                    </a:p>
                  </a:txBody>
                  <a:tcPr/>
                </a:tc>
                <a:extLst>
                  <a:ext uri="{0D108BD9-81ED-4DB2-BD59-A6C34878D82A}">
                    <a16:rowId xmlns:a16="http://schemas.microsoft.com/office/drawing/2014/main" val="1160238472"/>
                  </a:ext>
                </a:extLst>
              </a:tr>
              <a:tr h="370840">
                <a:tc>
                  <a:txBody>
                    <a:bodyPr/>
                    <a:lstStyle/>
                    <a:p>
                      <a:r>
                        <a:rPr lang="en-US" sz="2400" dirty="0"/>
                        <a:t>2</a:t>
                      </a:r>
                    </a:p>
                  </a:txBody>
                  <a:tcPr/>
                </a:tc>
                <a:tc>
                  <a:txBody>
                    <a:bodyPr/>
                    <a:lstStyle/>
                    <a:p>
                      <a:r>
                        <a:rPr lang="en-US" sz="2400" dirty="0" err="1"/>
                        <a:t>Nuhash</a:t>
                      </a:r>
                      <a:endParaRPr lang="en-US" sz="2400" dirty="0"/>
                    </a:p>
                  </a:txBody>
                  <a:tcPr/>
                </a:tc>
                <a:tc>
                  <a:txBody>
                    <a:bodyPr/>
                    <a:lstStyle/>
                    <a:p>
                      <a:r>
                        <a:rPr lang="en-US" sz="2400" dirty="0"/>
                        <a:t>def@g.com</a:t>
                      </a:r>
                    </a:p>
                  </a:txBody>
                  <a:tcPr/>
                </a:tc>
                <a:tc>
                  <a:txBody>
                    <a:bodyPr/>
                    <a:lstStyle/>
                    <a:p>
                      <a:r>
                        <a:rPr lang="en-US" sz="2400" dirty="0"/>
                        <a:t>23</a:t>
                      </a:r>
                    </a:p>
                  </a:txBody>
                  <a:tcPr/>
                </a:tc>
                <a:extLst>
                  <a:ext uri="{0D108BD9-81ED-4DB2-BD59-A6C34878D82A}">
                    <a16:rowId xmlns:a16="http://schemas.microsoft.com/office/drawing/2014/main" val="1903782883"/>
                  </a:ext>
                </a:extLst>
              </a:tr>
              <a:tr h="370840">
                <a:tc>
                  <a:txBody>
                    <a:bodyPr/>
                    <a:lstStyle/>
                    <a:p>
                      <a:r>
                        <a:rPr lang="en-US" sz="2400" dirty="0"/>
                        <a:t>3</a:t>
                      </a:r>
                    </a:p>
                  </a:txBody>
                  <a:tcPr/>
                </a:tc>
                <a:tc>
                  <a:txBody>
                    <a:bodyPr/>
                    <a:lstStyle/>
                    <a:p>
                      <a:r>
                        <a:rPr lang="en-US" sz="2400" dirty="0" err="1"/>
                        <a:t>Raaj</a:t>
                      </a:r>
                      <a:endParaRPr lang="en-US" sz="2400" dirty="0"/>
                    </a:p>
                  </a:txBody>
                  <a:tcPr/>
                </a:tc>
                <a:tc>
                  <a:txBody>
                    <a:bodyPr/>
                    <a:lstStyle/>
                    <a:p>
                      <a:r>
                        <a:rPr lang="en-US" sz="2400" dirty="0"/>
                        <a:t>gdr@g.com</a:t>
                      </a:r>
                    </a:p>
                  </a:txBody>
                  <a:tcPr/>
                </a:tc>
                <a:tc>
                  <a:txBody>
                    <a:bodyPr/>
                    <a:lstStyle/>
                    <a:p>
                      <a:r>
                        <a:rPr lang="en-US" sz="2400" dirty="0"/>
                        <a:t>21</a:t>
                      </a:r>
                    </a:p>
                  </a:txBody>
                  <a:tcPr/>
                </a:tc>
                <a:extLst>
                  <a:ext uri="{0D108BD9-81ED-4DB2-BD59-A6C34878D82A}">
                    <a16:rowId xmlns:a16="http://schemas.microsoft.com/office/drawing/2014/main" val="433943549"/>
                  </a:ext>
                </a:extLst>
              </a:tr>
            </a:tbl>
          </a:graphicData>
        </a:graphic>
      </p:graphicFrame>
      <p:sp>
        <p:nvSpPr>
          <p:cNvPr id="11" name="Rectangle 10">
            <a:extLst>
              <a:ext uri="{FF2B5EF4-FFF2-40B4-BE49-F238E27FC236}">
                <a16:creationId xmlns:a16="http://schemas.microsoft.com/office/drawing/2014/main" id="{2DE7268F-4519-B80A-A4A7-B7A47285C667}"/>
              </a:ext>
            </a:extLst>
          </p:cNvPr>
          <p:cNvSpPr/>
          <p:nvPr/>
        </p:nvSpPr>
        <p:spPr>
          <a:xfrm>
            <a:off x="1060315" y="3772665"/>
            <a:ext cx="1517515" cy="50578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F7A6A5F-0BF9-E80F-F83A-7A004478D47B}"/>
              </a:ext>
            </a:extLst>
          </p:cNvPr>
          <p:cNvSpPr/>
          <p:nvPr/>
        </p:nvSpPr>
        <p:spPr>
          <a:xfrm>
            <a:off x="2454612" y="3703034"/>
            <a:ext cx="1436452" cy="684140"/>
          </a:xfrm>
          <a:prstGeom prst="rect">
            <a:avLst/>
          </a:prstGeom>
          <a:no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A138631-F915-DC33-E8EE-454146E24342}"/>
              </a:ext>
            </a:extLst>
          </p:cNvPr>
          <p:cNvSpPr/>
          <p:nvPr/>
        </p:nvSpPr>
        <p:spPr>
          <a:xfrm>
            <a:off x="5603131" y="3712100"/>
            <a:ext cx="1118681" cy="684140"/>
          </a:xfrm>
          <a:prstGeom prst="rect">
            <a:avLst/>
          </a:prstGeom>
          <a:no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ross 6">
            <a:extLst>
              <a:ext uri="{FF2B5EF4-FFF2-40B4-BE49-F238E27FC236}">
                <a16:creationId xmlns:a16="http://schemas.microsoft.com/office/drawing/2014/main" id="{0A433B13-2666-D1B8-DE51-A64CD7A577B7}"/>
              </a:ext>
            </a:extLst>
          </p:cNvPr>
          <p:cNvSpPr/>
          <p:nvPr/>
        </p:nvSpPr>
        <p:spPr>
          <a:xfrm rot="2700000">
            <a:off x="6933066" y="4051033"/>
            <a:ext cx="1371600" cy="1410511"/>
          </a:xfrm>
          <a:prstGeom prst="plus">
            <a:avLst>
              <a:gd name="adj" fmla="val 38103"/>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97651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23C4E-D7C3-5419-BB8C-408915F8DCFF}"/>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57C7063F-F0F2-C49B-FCB1-6583035CC5EF}"/>
              </a:ext>
            </a:extLst>
          </p:cNvPr>
          <p:cNvSpPr>
            <a:spLocks noGrp="1"/>
          </p:cNvSpPr>
          <p:nvPr>
            <p:ph type="dt" sz="half" idx="10"/>
          </p:nvPr>
        </p:nvSpPr>
        <p:spPr/>
        <p:txBody>
          <a:bodyPr/>
          <a:lstStyle/>
          <a:p>
            <a:fld id="{C1CDDB05-7545-485D-BAE6-2CE87714CF19}" type="datetime1">
              <a:rPr lang="en-US" smtClean="0"/>
              <a:t>23-Sep-26</a:t>
            </a:fld>
            <a:endParaRPr lang="en-US"/>
          </a:p>
        </p:txBody>
      </p:sp>
      <p:sp>
        <p:nvSpPr>
          <p:cNvPr id="5" name="Slide Number Placeholder 4">
            <a:extLst>
              <a:ext uri="{FF2B5EF4-FFF2-40B4-BE49-F238E27FC236}">
                <a16:creationId xmlns:a16="http://schemas.microsoft.com/office/drawing/2014/main" id="{C2D3813C-2F01-AB3D-B80F-CC2A1A3DF083}"/>
              </a:ext>
            </a:extLst>
          </p:cNvPr>
          <p:cNvSpPr>
            <a:spLocks noGrp="1"/>
          </p:cNvSpPr>
          <p:nvPr>
            <p:ph type="sldNum" sz="quarter" idx="12"/>
          </p:nvPr>
        </p:nvSpPr>
        <p:spPr/>
        <p:txBody>
          <a:bodyPr/>
          <a:lstStyle/>
          <a:p>
            <a:fld id="{E199BF8C-199A-420E-AD47-765295E635DE}" type="slidenum">
              <a:rPr lang="en-US" smtClean="0"/>
              <a:t>14</a:t>
            </a:fld>
            <a:endParaRPr lang="en-US"/>
          </a:p>
        </p:txBody>
      </p:sp>
      <p:sp>
        <p:nvSpPr>
          <p:cNvPr id="6" name="Rectangle 5">
            <a:extLst>
              <a:ext uri="{FF2B5EF4-FFF2-40B4-BE49-F238E27FC236}">
                <a16:creationId xmlns:a16="http://schemas.microsoft.com/office/drawing/2014/main" id="{FEE22C1A-A6CD-57C6-B4C5-5E0581B1BE5A}"/>
              </a:ext>
            </a:extLst>
          </p:cNvPr>
          <p:cNvSpPr/>
          <p:nvPr/>
        </p:nvSpPr>
        <p:spPr>
          <a:xfrm>
            <a:off x="0" y="0"/>
            <a:ext cx="12192000" cy="920621"/>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85DA01A-96D2-3A71-4C16-375B2B1F4D90}"/>
              </a:ext>
            </a:extLst>
          </p:cNvPr>
          <p:cNvSpPr txBox="1"/>
          <p:nvPr/>
        </p:nvSpPr>
        <p:spPr>
          <a:xfrm>
            <a:off x="708529" y="121919"/>
            <a:ext cx="11402191" cy="707886"/>
          </a:xfrm>
          <a:prstGeom prst="rect">
            <a:avLst/>
          </a:prstGeom>
          <a:noFill/>
        </p:spPr>
        <p:txBody>
          <a:bodyPr wrap="square" rtlCol="0">
            <a:spAutoFit/>
          </a:bodyPr>
          <a:lstStyle/>
          <a:p>
            <a:pPr algn="l"/>
            <a:r>
              <a:rPr lang="en-US" sz="4000" dirty="0">
                <a:solidFill>
                  <a:srgbClr val="232323"/>
                </a:solidFill>
                <a:latin typeface="gellix-medium"/>
              </a:rPr>
              <a:t>Super </a:t>
            </a:r>
            <a:r>
              <a:rPr lang="en-US" sz="4000" i="0" dirty="0">
                <a:solidFill>
                  <a:srgbClr val="232323"/>
                </a:solidFill>
                <a:effectLst/>
                <a:latin typeface="gellix-medium"/>
              </a:rPr>
              <a:t>Key</a:t>
            </a:r>
            <a:endParaRPr lang="en-US" sz="4000" i="0" dirty="0">
              <a:solidFill>
                <a:srgbClr val="232323"/>
              </a:solidFill>
              <a:effectLst/>
              <a:latin typeface="gellix-semibold"/>
            </a:endParaRPr>
          </a:p>
        </p:txBody>
      </p:sp>
      <p:sp>
        <p:nvSpPr>
          <p:cNvPr id="2" name="TextBox 1">
            <a:extLst>
              <a:ext uri="{FF2B5EF4-FFF2-40B4-BE49-F238E27FC236}">
                <a16:creationId xmlns:a16="http://schemas.microsoft.com/office/drawing/2014/main" id="{E1D582F9-7CD8-B072-1945-F7E40377A930}"/>
              </a:ext>
            </a:extLst>
          </p:cNvPr>
          <p:cNvSpPr txBox="1"/>
          <p:nvPr/>
        </p:nvSpPr>
        <p:spPr>
          <a:xfrm>
            <a:off x="838201" y="1168315"/>
            <a:ext cx="10766898" cy="2677656"/>
          </a:xfrm>
          <a:prstGeom prst="rect">
            <a:avLst/>
          </a:prstGeom>
          <a:noFill/>
        </p:spPr>
        <p:txBody>
          <a:bodyPr wrap="square">
            <a:spAutoFit/>
          </a:bodyPr>
          <a:lstStyle/>
          <a:p>
            <a:pPr marL="342900" indent="-342900" algn="just">
              <a:buFont typeface="Arial" panose="020B0604020202020204" pitchFamily="34" charset="0"/>
              <a:buChar char="•"/>
            </a:pPr>
            <a:r>
              <a:rPr lang="en-US" sz="2400" b="0" i="0" dirty="0">
                <a:solidFill>
                  <a:srgbClr val="231F20"/>
                </a:solidFill>
                <a:effectLst/>
                <a:latin typeface="circular-xx"/>
              </a:rPr>
              <a:t>Combination of all possible attributes that includes at least one candidate key together which can uniquely identify two tuples in a table is super key</a:t>
            </a:r>
            <a:endParaRPr lang="en-US" sz="2400" dirty="0">
              <a:solidFill>
                <a:srgbClr val="231F20"/>
              </a:solidFill>
              <a:latin typeface="circular-xx"/>
            </a:endParaRPr>
          </a:p>
          <a:p>
            <a:pPr marL="342900" indent="-342900" algn="just">
              <a:buFont typeface="Arial" panose="020B0604020202020204" pitchFamily="34" charset="0"/>
              <a:buChar char="•"/>
            </a:pPr>
            <a:r>
              <a:rPr lang="en-US" sz="2400" b="0" i="0" dirty="0">
                <a:solidFill>
                  <a:srgbClr val="231F20"/>
                </a:solidFill>
                <a:effectLst/>
                <a:latin typeface="circular-xx"/>
              </a:rPr>
              <a:t>Super Key is the superset of a candidate key.</a:t>
            </a:r>
          </a:p>
          <a:p>
            <a:pPr marL="342900" indent="-342900" algn="just">
              <a:buFont typeface="Arial" panose="020B0604020202020204" pitchFamily="34" charset="0"/>
              <a:buChar char="•"/>
            </a:pPr>
            <a:endParaRPr lang="en-US" sz="2400" dirty="0">
              <a:solidFill>
                <a:srgbClr val="231F20"/>
              </a:solidFill>
              <a:latin typeface="circular-xx"/>
            </a:endParaRPr>
          </a:p>
          <a:p>
            <a:pPr marL="342900" indent="-342900" algn="just">
              <a:buFont typeface="Arial" panose="020B0604020202020204" pitchFamily="34" charset="0"/>
              <a:buChar char="•"/>
            </a:pPr>
            <a:r>
              <a:rPr lang="en-US" sz="2400" b="0" i="0" dirty="0">
                <a:solidFill>
                  <a:srgbClr val="231F20"/>
                </a:solidFill>
                <a:effectLst/>
                <a:latin typeface="circular-xx"/>
              </a:rPr>
              <a:t>Super key = Candidate key + 1 or more attribute</a:t>
            </a:r>
          </a:p>
          <a:p>
            <a:pPr marL="342900" indent="-342900" algn="just">
              <a:buFont typeface="Arial" panose="020B0604020202020204" pitchFamily="34" charset="0"/>
              <a:buChar char="•"/>
            </a:pPr>
            <a:endParaRPr lang="en-US" sz="2400" dirty="0">
              <a:solidFill>
                <a:srgbClr val="231F20"/>
              </a:solidFill>
              <a:latin typeface="circular-xx"/>
            </a:endParaRPr>
          </a:p>
          <a:p>
            <a:pPr marL="342900" indent="-342900" algn="just">
              <a:buFont typeface="Arial" panose="020B0604020202020204" pitchFamily="34" charset="0"/>
              <a:buChar char="•"/>
            </a:pPr>
            <a:endParaRPr lang="en-US" sz="2400" b="0" i="0" dirty="0">
              <a:solidFill>
                <a:srgbClr val="232323"/>
              </a:solidFill>
              <a:effectLst/>
              <a:latin typeface="gellix-medium"/>
            </a:endParaRPr>
          </a:p>
        </p:txBody>
      </p:sp>
      <p:sp>
        <p:nvSpPr>
          <p:cNvPr id="9" name="TextBox 8">
            <a:extLst>
              <a:ext uri="{FF2B5EF4-FFF2-40B4-BE49-F238E27FC236}">
                <a16:creationId xmlns:a16="http://schemas.microsoft.com/office/drawing/2014/main" id="{2A0D2333-F3DA-3C40-CA86-F76823A20C0C}"/>
              </a:ext>
            </a:extLst>
          </p:cNvPr>
          <p:cNvSpPr txBox="1"/>
          <p:nvPr/>
        </p:nvSpPr>
        <p:spPr>
          <a:xfrm>
            <a:off x="1108954" y="3276184"/>
            <a:ext cx="1876898" cy="461665"/>
          </a:xfrm>
          <a:prstGeom prst="rect">
            <a:avLst/>
          </a:prstGeom>
          <a:noFill/>
        </p:spPr>
        <p:txBody>
          <a:bodyPr wrap="square">
            <a:spAutoFit/>
          </a:bodyPr>
          <a:lstStyle/>
          <a:p>
            <a:r>
              <a:rPr lang="en-US" sz="2400" b="1" i="0" dirty="0">
                <a:solidFill>
                  <a:srgbClr val="232323"/>
                </a:solidFill>
                <a:effectLst/>
                <a:latin typeface="gellix-medium"/>
              </a:rPr>
              <a:t>Student</a:t>
            </a:r>
            <a:endParaRPr lang="en-US" sz="2400" b="1" dirty="0"/>
          </a:p>
        </p:txBody>
      </p:sp>
      <p:graphicFrame>
        <p:nvGraphicFramePr>
          <p:cNvPr id="10" name="Table 9">
            <a:extLst>
              <a:ext uri="{FF2B5EF4-FFF2-40B4-BE49-F238E27FC236}">
                <a16:creationId xmlns:a16="http://schemas.microsoft.com/office/drawing/2014/main" id="{23E5578A-BF66-69A5-26F0-B1BD4C76FFAC}"/>
              </a:ext>
            </a:extLst>
          </p:cNvPr>
          <p:cNvGraphicFramePr>
            <a:graphicFrameLocks noGrp="1"/>
          </p:cNvGraphicFramePr>
          <p:nvPr/>
        </p:nvGraphicFramePr>
        <p:xfrm>
          <a:off x="1108954" y="3801849"/>
          <a:ext cx="5564220" cy="1828800"/>
        </p:xfrm>
        <a:graphic>
          <a:graphicData uri="http://schemas.openxmlformats.org/drawingml/2006/table">
            <a:tbl>
              <a:tblPr firstRow="1" bandRow="1">
                <a:tableStyleId>{5C22544A-7EE6-4342-B048-85BDC9FD1C3A}</a:tableStyleId>
              </a:tblPr>
              <a:tblGrid>
                <a:gridCol w="1391055">
                  <a:extLst>
                    <a:ext uri="{9D8B030D-6E8A-4147-A177-3AD203B41FA5}">
                      <a16:colId xmlns:a16="http://schemas.microsoft.com/office/drawing/2014/main" val="669275853"/>
                    </a:ext>
                  </a:extLst>
                </a:gridCol>
                <a:gridCol w="1391055">
                  <a:extLst>
                    <a:ext uri="{9D8B030D-6E8A-4147-A177-3AD203B41FA5}">
                      <a16:colId xmlns:a16="http://schemas.microsoft.com/office/drawing/2014/main" val="3678744137"/>
                    </a:ext>
                  </a:extLst>
                </a:gridCol>
                <a:gridCol w="1780162">
                  <a:extLst>
                    <a:ext uri="{9D8B030D-6E8A-4147-A177-3AD203B41FA5}">
                      <a16:colId xmlns:a16="http://schemas.microsoft.com/office/drawing/2014/main" val="2255329637"/>
                    </a:ext>
                  </a:extLst>
                </a:gridCol>
                <a:gridCol w="1001948">
                  <a:extLst>
                    <a:ext uri="{9D8B030D-6E8A-4147-A177-3AD203B41FA5}">
                      <a16:colId xmlns:a16="http://schemas.microsoft.com/office/drawing/2014/main" val="122116245"/>
                    </a:ext>
                  </a:extLst>
                </a:gridCol>
              </a:tblGrid>
              <a:tr h="370840">
                <a:tc>
                  <a:txBody>
                    <a:bodyPr/>
                    <a:lstStyle/>
                    <a:p>
                      <a:r>
                        <a:rPr lang="en-US" sz="2400" dirty="0"/>
                        <a:t>Roll</a:t>
                      </a:r>
                    </a:p>
                  </a:txBody>
                  <a:tcPr/>
                </a:tc>
                <a:tc>
                  <a:txBody>
                    <a:bodyPr/>
                    <a:lstStyle/>
                    <a:p>
                      <a:r>
                        <a:rPr lang="en-US" sz="2400" dirty="0"/>
                        <a:t>Name</a:t>
                      </a:r>
                    </a:p>
                  </a:txBody>
                  <a:tcPr/>
                </a:tc>
                <a:tc>
                  <a:txBody>
                    <a:bodyPr/>
                    <a:lstStyle/>
                    <a:p>
                      <a:r>
                        <a:rPr lang="en-US" sz="2400" dirty="0"/>
                        <a:t>email</a:t>
                      </a:r>
                    </a:p>
                  </a:txBody>
                  <a:tcPr/>
                </a:tc>
                <a:tc>
                  <a:txBody>
                    <a:bodyPr/>
                    <a:lstStyle/>
                    <a:p>
                      <a:r>
                        <a:rPr lang="en-US" sz="2400" dirty="0"/>
                        <a:t>Age</a:t>
                      </a:r>
                    </a:p>
                  </a:txBody>
                  <a:tcPr/>
                </a:tc>
                <a:extLst>
                  <a:ext uri="{0D108BD9-81ED-4DB2-BD59-A6C34878D82A}">
                    <a16:rowId xmlns:a16="http://schemas.microsoft.com/office/drawing/2014/main" val="3153325996"/>
                  </a:ext>
                </a:extLst>
              </a:tr>
              <a:tr h="370840">
                <a:tc>
                  <a:txBody>
                    <a:bodyPr/>
                    <a:lstStyle/>
                    <a:p>
                      <a:r>
                        <a:rPr lang="en-US" sz="2400" dirty="0"/>
                        <a:t>1</a:t>
                      </a:r>
                    </a:p>
                  </a:txBody>
                  <a:tcPr/>
                </a:tc>
                <a:tc>
                  <a:txBody>
                    <a:bodyPr/>
                    <a:lstStyle/>
                    <a:p>
                      <a:r>
                        <a:rPr lang="en-US" sz="2400" dirty="0" err="1"/>
                        <a:t>Raaj</a:t>
                      </a:r>
                      <a:endParaRPr lang="en-US" sz="2400" dirty="0"/>
                    </a:p>
                  </a:txBody>
                  <a:tcPr/>
                </a:tc>
                <a:tc>
                  <a:txBody>
                    <a:bodyPr/>
                    <a:lstStyle/>
                    <a:p>
                      <a:r>
                        <a:rPr lang="en-US" sz="2400" dirty="0"/>
                        <a:t>abc@g.com</a:t>
                      </a:r>
                    </a:p>
                  </a:txBody>
                  <a:tcPr/>
                </a:tc>
                <a:tc>
                  <a:txBody>
                    <a:bodyPr/>
                    <a:lstStyle/>
                    <a:p>
                      <a:r>
                        <a:rPr lang="en-US" sz="2400" dirty="0"/>
                        <a:t>21</a:t>
                      </a:r>
                    </a:p>
                  </a:txBody>
                  <a:tcPr/>
                </a:tc>
                <a:extLst>
                  <a:ext uri="{0D108BD9-81ED-4DB2-BD59-A6C34878D82A}">
                    <a16:rowId xmlns:a16="http://schemas.microsoft.com/office/drawing/2014/main" val="1160238472"/>
                  </a:ext>
                </a:extLst>
              </a:tr>
              <a:tr h="370840">
                <a:tc>
                  <a:txBody>
                    <a:bodyPr/>
                    <a:lstStyle/>
                    <a:p>
                      <a:r>
                        <a:rPr lang="en-US" sz="2400" dirty="0"/>
                        <a:t>2</a:t>
                      </a:r>
                    </a:p>
                  </a:txBody>
                  <a:tcPr/>
                </a:tc>
                <a:tc>
                  <a:txBody>
                    <a:bodyPr/>
                    <a:lstStyle/>
                    <a:p>
                      <a:r>
                        <a:rPr lang="en-US" sz="2400" dirty="0" err="1"/>
                        <a:t>Nuhash</a:t>
                      </a:r>
                      <a:endParaRPr lang="en-US" sz="2400" dirty="0"/>
                    </a:p>
                  </a:txBody>
                  <a:tcPr/>
                </a:tc>
                <a:tc>
                  <a:txBody>
                    <a:bodyPr/>
                    <a:lstStyle/>
                    <a:p>
                      <a:r>
                        <a:rPr lang="en-US" sz="2400" dirty="0"/>
                        <a:t>def@g.com</a:t>
                      </a:r>
                    </a:p>
                  </a:txBody>
                  <a:tcPr/>
                </a:tc>
                <a:tc>
                  <a:txBody>
                    <a:bodyPr/>
                    <a:lstStyle/>
                    <a:p>
                      <a:r>
                        <a:rPr lang="en-US" sz="2400" dirty="0"/>
                        <a:t>23</a:t>
                      </a:r>
                    </a:p>
                  </a:txBody>
                  <a:tcPr/>
                </a:tc>
                <a:extLst>
                  <a:ext uri="{0D108BD9-81ED-4DB2-BD59-A6C34878D82A}">
                    <a16:rowId xmlns:a16="http://schemas.microsoft.com/office/drawing/2014/main" val="1903782883"/>
                  </a:ext>
                </a:extLst>
              </a:tr>
              <a:tr h="370840">
                <a:tc>
                  <a:txBody>
                    <a:bodyPr/>
                    <a:lstStyle/>
                    <a:p>
                      <a:r>
                        <a:rPr lang="en-US" sz="2400" dirty="0"/>
                        <a:t>3</a:t>
                      </a:r>
                    </a:p>
                  </a:txBody>
                  <a:tcPr/>
                </a:tc>
                <a:tc>
                  <a:txBody>
                    <a:bodyPr/>
                    <a:lstStyle/>
                    <a:p>
                      <a:r>
                        <a:rPr lang="en-US" sz="2400" dirty="0" err="1"/>
                        <a:t>Raaj</a:t>
                      </a:r>
                      <a:endParaRPr lang="en-US" sz="2400" dirty="0"/>
                    </a:p>
                  </a:txBody>
                  <a:tcPr/>
                </a:tc>
                <a:tc>
                  <a:txBody>
                    <a:bodyPr/>
                    <a:lstStyle/>
                    <a:p>
                      <a:r>
                        <a:rPr lang="en-US" sz="2400" dirty="0"/>
                        <a:t>gdr@g.com</a:t>
                      </a:r>
                    </a:p>
                  </a:txBody>
                  <a:tcPr/>
                </a:tc>
                <a:tc>
                  <a:txBody>
                    <a:bodyPr/>
                    <a:lstStyle/>
                    <a:p>
                      <a:r>
                        <a:rPr lang="en-US" sz="2400" dirty="0"/>
                        <a:t>21</a:t>
                      </a:r>
                    </a:p>
                  </a:txBody>
                  <a:tcPr/>
                </a:tc>
                <a:extLst>
                  <a:ext uri="{0D108BD9-81ED-4DB2-BD59-A6C34878D82A}">
                    <a16:rowId xmlns:a16="http://schemas.microsoft.com/office/drawing/2014/main" val="433943549"/>
                  </a:ext>
                </a:extLst>
              </a:tr>
            </a:tbl>
          </a:graphicData>
        </a:graphic>
      </p:graphicFrame>
      <p:sp>
        <p:nvSpPr>
          <p:cNvPr id="11" name="Rectangle 10">
            <a:extLst>
              <a:ext uri="{FF2B5EF4-FFF2-40B4-BE49-F238E27FC236}">
                <a16:creationId xmlns:a16="http://schemas.microsoft.com/office/drawing/2014/main" id="{DB7D7C8F-6DB9-6DA3-B2E1-2753402D095E}"/>
              </a:ext>
            </a:extLst>
          </p:cNvPr>
          <p:cNvSpPr/>
          <p:nvPr/>
        </p:nvSpPr>
        <p:spPr>
          <a:xfrm>
            <a:off x="1060315" y="3772665"/>
            <a:ext cx="1517515" cy="50578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3B9ECD5-043A-0FD8-D1BB-902534B96519}"/>
              </a:ext>
            </a:extLst>
          </p:cNvPr>
          <p:cNvSpPr/>
          <p:nvPr/>
        </p:nvSpPr>
        <p:spPr>
          <a:xfrm>
            <a:off x="2454611" y="3703034"/>
            <a:ext cx="2487039" cy="684140"/>
          </a:xfrm>
          <a:prstGeom prst="rect">
            <a:avLst/>
          </a:prstGeom>
          <a:no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443047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B2738-9BC5-C733-A873-7FE920DB18B7}"/>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B8E2D5D6-D0D2-5644-B17A-0D417A39586A}"/>
              </a:ext>
            </a:extLst>
          </p:cNvPr>
          <p:cNvSpPr>
            <a:spLocks noGrp="1"/>
          </p:cNvSpPr>
          <p:nvPr>
            <p:ph type="dt" sz="half" idx="10"/>
          </p:nvPr>
        </p:nvSpPr>
        <p:spPr/>
        <p:txBody>
          <a:bodyPr/>
          <a:lstStyle/>
          <a:p>
            <a:fld id="{C1CDDB05-7545-485D-BAE6-2CE87714CF19}" type="datetime1">
              <a:rPr lang="en-US" smtClean="0"/>
              <a:t>23-Sep-26</a:t>
            </a:fld>
            <a:endParaRPr lang="en-US"/>
          </a:p>
        </p:txBody>
      </p:sp>
      <p:sp>
        <p:nvSpPr>
          <p:cNvPr id="5" name="Slide Number Placeholder 4">
            <a:extLst>
              <a:ext uri="{FF2B5EF4-FFF2-40B4-BE49-F238E27FC236}">
                <a16:creationId xmlns:a16="http://schemas.microsoft.com/office/drawing/2014/main" id="{9C559A52-88B4-8ACC-E3AD-659A1E05791D}"/>
              </a:ext>
            </a:extLst>
          </p:cNvPr>
          <p:cNvSpPr>
            <a:spLocks noGrp="1"/>
          </p:cNvSpPr>
          <p:nvPr>
            <p:ph type="sldNum" sz="quarter" idx="12"/>
          </p:nvPr>
        </p:nvSpPr>
        <p:spPr/>
        <p:txBody>
          <a:bodyPr/>
          <a:lstStyle/>
          <a:p>
            <a:fld id="{E199BF8C-199A-420E-AD47-765295E635DE}" type="slidenum">
              <a:rPr lang="en-US" smtClean="0"/>
              <a:t>15</a:t>
            </a:fld>
            <a:endParaRPr lang="en-US"/>
          </a:p>
        </p:txBody>
      </p:sp>
      <p:sp>
        <p:nvSpPr>
          <p:cNvPr id="6" name="Rectangle 5">
            <a:extLst>
              <a:ext uri="{FF2B5EF4-FFF2-40B4-BE49-F238E27FC236}">
                <a16:creationId xmlns:a16="http://schemas.microsoft.com/office/drawing/2014/main" id="{FD115D51-ED2D-5768-84F8-F4A8C228DD3B}"/>
              </a:ext>
            </a:extLst>
          </p:cNvPr>
          <p:cNvSpPr/>
          <p:nvPr/>
        </p:nvSpPr>
        <p:spPr>
          <a:xfrm>
            <a:off x="0" y="0"/>
            <a:ext cx="12192000" cy="920621"/>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3B820B1-7291-E238-FA54-B2173BAE577E}"/>
              </a:ext>
            </a:extLst>
          </p:cNvPr>
          <p:cNvSpPr txBox="1"/>
          <p:nvPr/>
        </p:nvSpPr>
        <p:spPr>
          <a:xfrm>
            <a:off x="708529" y="121919"/>
            <a:ext cx="11402191" cy="707886"/>
          </a:xfrm>
          <a:prstGeom prst="rect">
            <a:avLst/>
          </a:prstGeom>
          <a:noFill/>
        </p:spPr>
        <p:txBody>
          <a:bodyPr wrap="square" rtlCol="0">
            <a:spAutoFit/>
          </a:bodyPr>
          <a:lstStyle/>
          <a:p>
            <a:pPr algn="l"/>
            <a:r>
              <a:rPr lang="en-US" sz="4000" dirty="0">
                <a:solidFill>
                  <a:srgbClr val="232323"/>
                </a:solidFill>
                <a:latin typeface="gellix-medium"/>
              </a:rPr>
              <a:t>Super </a:t>
            </a:r>
            <a:r>
              <a:rPr lang="en-US" sz="4000" i="0" dirty="0">
                <a:solidFill>
                  <a:srgbClr val="232323"/>
                </a:solidFill>
                <a:effectLst/>
                <a:latin typeface="gellix-medium"/>
              </a:rPr>
              <a:t>Key</a:t>
            </a:r>
            <a:endParaRPr lang="en-US" sz="4000" i="0" dirty="0">
              <a:solidFill>
                <a:srgbClr val="232323"/>
              </a:solidFill>
              <a:effectLst/>
              <a:latin typeface="gellix-semibold"/>
            </a:endParaRPr>
          </a:p>
        </p:txBody>
      </p:sp>
      <p:sp>
        <p:nvSpPr>
          <p:cNvPr id="2" name="TextBox 1">
            <a:extLst>
              <a:ext uri="{FF2B5EF4-FFF2-40B4-BE49-F238E27FC236}">
                <a16:creationId xmlns:a16="http://schemas.microsoft.com/office/drawing/2014/main" id="{13C11D51-72E2-62AC-002A-9778196C5D3E}"/>
              </a:ext>
            </a:extLst>
          </p:cNvPr>
          <p:cNvSpPr txBox="1"/>
          <p:nvPr/>
        </p:nvSpPr>
        <p:spPr>
          <a:xfrm>
            <a:off x="838201" y="1168315"/>
            <a:ext cx="10766898" cy="2677656"/>
          </a:xfrm>
          <a:prstGeom prst="rect">
            <a:avLst/>
          </a:prstGeom>
          <a:noFill/>
        </p:spPr>
        <p:txBody>
          <a:bodyPr wrap="square">
            <a:spAutoFit/>
          </a:bodyPr>
          <a:lstStyle/>
          <a:p>
            <a:pPr marL="342900" indent="-342900" algn="just">
              <a:buFont typeface="Arial" panose="020B0604020202020204" pitchFamily="34" charset="0"/>
              <a:buChar char="•"/>
            </a:pPr>
            <a:r>
              <a:rPr lang="en-US" sz="2400" b="0" i="0" dirty="0">
                <a:solidFill>
                  <a:srgbClr val="231F20"/>
                </a:solidFill>
                <a:effectLst/>
                <a:latin typeface="circular-xx"/>
              </a:rPr>
              <a:t>Combination of all possible attributes that includes at least one candidate key together which can uniquely identify two tuples in a table is super key</a:t>
            </a:r>
            <a:endParaRPr lang="en-US" sz="2400" dirty="0">
              <a:solidFill>
                <a:srgbClr val="231F20"/>
              </a:solidFill>
              <a:latin typeface="circular-xx"/>
            </a:endParaRPr>
          </a:p>
          <a:p>
            <a:pPr marL="342900" indent="-342900" algn="just">
              <a:buFont typeface="Arial" panose="020B0604020202020204" pitchFamily="34" charset="0"/>
              <a:buChar char="•"/>
            </a:pPr>
            <a:r>
              <a:rPr lang="en-US" sz="2400" b="0" i="0" dirty="0">
                <a:solidFill>
                  <a:srgbClr val="231F20"/>
                </a:solidFill>
                <a:effectLst/>
                <a:latin typeface="circular-xx"/>
              </a:rPr>
              <a:t>Super Key is the superset of a candidate key.</a:t>
            </a:r>
          </a:p>
          <a:p>
            <a:pPr marL="342900" indent="-342900" algn="just">
              <a:buFont typeface="Arial" panose="020B0604020202020204" pitchFamily="34" charset="0"/>
              <a:buChar char="•"/>
            </a:pPr>
            <a:endParaRPr lang="en-US" sz="2400" dirty="0">
              <a:solidFill>
                <a:srgbClr val="231F20"/>
              </a:solidFill>
              <a:latin typeface="circular-xx"/>
            </a:endParaRPr>
          </a:p>
          <a:p>
            <a:pPr marL="342900" indent="-342900" algn="just">
              <a:buFont typeface="Arial" panose="020B0604020202020204" pitchFamily="34" charset="0"/>
              <a:buChar char="•"/>
            </a:pPr>
            <a:r>
              <a:rPr lang="en-US" sz="2400" b="0" i="0" dirty="0">
                <a:solidFill>
                  <a:srgbClr val="231F20"/>
                </a:solidFill>
                <a:effectLst/>
                <a:latin typeface="circular-xx"/>
              </a:rPr>
              <a:t>Super key = Candidate key + 1 or more attribute</a:t>
            </a:r>
          </a:p>
          <a:p>
            <a:pPr marL="342900" indent="-342900" algn="just">
              <a:buFont typeface="Arial" panose="020B0604020202020204" pitchFamily="34" charset="0"/>
              <a:buChar char="•"/>
            </a:pPr>
            <a:endParaRPr lang="en-US" sz="2400" dirty="0">
              <a:solidFill>
                <a:srgbClr val="231F20"/>
              </a:solidFill>
              <a:latin typeface="circular-xx"/>
            </a:endParaRPr>
          </a:p>
          <a:p>
            <a:pPr marL="342900" indent="-342900" algn="just">
              <a:buFont typeface="Arial" panose="020B0604020202020204" pitchFamily="34" charset="0"/>
              <a:buChar char="•"/>
            </a:pPr>
            <a:endParaRPr lang="en-US" sz="2400" b="0" i="0" dirty="0">
              <a:solidFill>
                <a:srgbClr val="232323"/>
              </a:solidFill>
              <a:effectLst/>
              <a:latin typeface="gellix-medium"/>
            </a:endParaRPr>
          </a:p>
        </p:txBody>
      </p:sp>
      <p:sp>
        <p:nvSpPr>
          <p:cNvPr id="9" name="TextBox 8">
            <a:extLst>
              <a:ext uri="{FF2B5EF4-FFF2-40B4-BE49-F238E27FC236}">
                <a16:creationId xmlns:a16="http://schemas.microsoft.com/office/drawing/2014/main" id="{F6D35A5E-09D2-FEBD-BCA6-2EB86FD6DD49}"/>
              </a:ext>
            </a:extLst>
          </p:cNvPr>
          <p:cNvSpPr txBox="1"/>
          <p:nvPr/>
        </p:nvSpPr>
        <p:spPr>
          <a:xfrm>
            <a:off x="1108954" y="3276184"/>
            <a:ext cx="1876898" cy="461665"/>
          </a:xfrm>
          <a:prstGeom prst="rect">
            <a:avLst/>
          </a:prstGeom>
          <a:noFill/>
        </p:spPr>
        <p:txBody>
          <a:bodyPr wrap="square">
            <a:spAutoFit/>
          </a:bodyPr>
          <a:lstStyle/>
          <a:p>
            <a:r>
              <a:rPr lang="en-US" sz="2400" b="1" i="0" dirty="0">
                <a:solidFill>
                  <a:srgbClr val="232323"/>
                </a:solidFill>
                <a:effectLst/>
                <a:latin typeface="gellix-medium"/>
              </a:rPr>
              <a:t>Student</a:t>
            </a:r>
            <a:endParaRPr lang="en-US" sz="2400" b="1" dirty="0"/>
          </a:p>
        </p:txBody>
      </p:sp>
      <p:graphicFrame>
        <p:nvGraphicFramePr>
          <p:cNvPr id="10" name="Table 9">
            <a:extLst>
              <a:ext uri="{FF2B5EF4-FFF2-40B4-BE49-F238E27FC236}">
                <a16:creationId xmlns:a16="http://schemas.microsoft.com/office/drawing/2014/main" id="{996F9365-D224-26F8-D5F4-812C3856F22F}"/>
              </a:ext>
            </a:extLst>
          </p:cNvPr>
          <p:cNvGraphicFramePr>
            <a:graphicFrameLocks noGrp="1"/>
          </p:cNvGraphicFramePr>
          <p:nvPr/>
        </p:nvGraphicFramePr>
        <p:xfrm>
          <a:off x="1108954" y="3801849"/>
          <a:ext cx="5564220" cy="1828800"/>
        </p:xfrm>
        <a:graphic>
          <a:graphicData uri="http://schemas.openxmlformats.org/drawingml/2006/table">
            <a:tbl>
              <a:tblPr firstRow="1" bandRow="1">
                <a:tableStyleId>{5C22544A-7EE6-4342-B048-85BDC9FD1C3A}</a:tableStyleId>
              </a:tblPr>
              <a:tblGrid>
                <a:gridCol w="1391055">
                  <a:extLst>
                    <a:ext uri="{9D8B030D-6E8A-4147-A177-3AD203B41FA5}">
                      <a16:colId xmlns:a16="http://schemas.microsoft.com/office/drawing/2014/main" val="669275853"/>
                    </a:ext>
                  </a:extLst>
                </a:gridCol>
                <a:gridCol w="1391055">
                  <a:extLst>
                    <a:ext uri="{9D8B030D-6E8A-4147-A177-3AD203B41FA5}">
                      <a16:colId xmlns:a16="http://schemas.microsoft.com/office/drawing/2014/main" val="3678744137"/>
                    </a:ext>
                  </a:extLst>
                </a:gridCol>
                <a:gridCol w="1780162">
                  <a:extLst>
                    <a:ext uri="{9D8B030D-6E8A-4147-A177-3AD203B41FA5}">
                      <a16:colId xmlns:a16="http://schemas.microsoft.com/office/drawing/2014/main" val="2255329637"/>
                    </a:ext>
                  </a:extLst>
                </a:gridCol>
                <a:gridCol w="1001948">
                  <a:extLst>
                    <a:ext uri="{9D8B030D-6E8A-4147-A177-3AD203B41FA5}">
                      <a16:colId xmlns:a16="http://schemas.microsoft.com/office/drawing/2014/main" val="122116245"/>
                    </a:ext>
                  </a:extLst>
                </a:gridCol>
              </a:tblGrid>
              <a:tr h="370840">
                <a:tc>
                  <a:txBody>
                    <a:bodyPr/>
                    <a:lstStyle/>
                    <a:p>
                      <a:r>
                        <a:rPr lang="en-US" sz="2400" dirty="0"/>
                        <a:t>Roll</a:t>
                      </a:r>
                    </a:p>
                  </a:txBody>
                  <a:tcPr/>
                </a:tc>
                <a:tc>
                  <a:txBody>
                    <a:bodyPr/>
                    <a:lstStyle/>
                    <a:p>
                      <a:r>
                        <a:rPr lang="en-US" sz="2400" dirty="0"/>
                        <a:t>Name</a:t>
                      </a:r>
                    </a:p>
                  </a:txBody>
                  <a:tcPr/>
                </a:tc>
                <a:tc>
                  <a:txBody>
                    <a:bodyPr/>
                    <a:lstStyle/>
                    <a:p>
                      <a:r>
                        <a:rPr lang="en-US" sz="2400" dirty="0"/>
                        <a:t>email</a:t>
                      </a:r>
                    </a:p>
                  </a:txBody>
                  <a:tcPr/>
                </a:tc>
                <a:tc>
                  <a:txBody>
                    <a:bodyPr/>
                    <a:lstStyle/>
                    <a:p>
                      <a:r>
                        <a:rPr lang="en-US" sz="2400" dirty="0"/>
                        <a:t>Age</a:t>
                      </a:r>
                    </a:p>
                  </a:txBody>
                  <a:tcPr/>
                </a:tc>
                <a:extLst>
                  <a:ext uri="{0D108BD9-81ED-4DB2-BD59-A6C34878D82A}">
                    <a16:rowId xmlns:a16="http://schemas.microsoft.com/office/drawing/2014/main" val="3153325996"/>
                  </a:ext>
                </a:extLst>
              </a:tr>
              <a:tr h="370840">
                <a:tc>
                  <a:txBody>
                    <a:bodyPr/>
                    <a:lstStyle/>
                    <a:p>
                      <a:r>
                        <a:rPr lang="en-US" sz="2400" dirty="0"/>
                        <a:t>1</a:t>
                      </a:r>
                    </a:p>
                  </a:txBody>
                  <a:tcPr/>
                </a:tc>
                <a:tc>
                  <a:txBody>
                    <a:bodyPr/>
                    <a:lstStyle/>
                    <a:p>
                      <a:r>
                        <a:rPr lang="en-US" sz="2400" dirty="0" err="1"/>
                        <a:t>Raaj</a:t>
                      </a:r>
                      <a:endParaRPr lang="en-US" sz="2400" dirty="0"/>
                    </a:p>
                  </a:txBody>
                  <a:tcPr/>
                </a:tc>
                <a:tc>
                  <a:txBody>
                    <a:bodyPr/>
                    <a:lstStyle/>
                    <a:p>
                      <a:r>
                        <a:rPr lang="en-US" sz="2400" dirty="0"/>
                        <a:t>abc@g.com</a:t>
                      </a:r>
                    </a:p>
                  </a:txBody>
                  <a:tcPr/>
                </a:tc>
                <a:tc>
                  <a:txBody>
                    <a:bodyPr/>
                    <a:lstStyle/>
                    <a:p>
                      <a:r>
                        <a:rPr lang="en-US" sz="2400" dirty="0"/>
                        <a:t>21</a:t>
                      </a:r>
                    </a:p>
                  </a:txBody>
                  <a:tcPr/>
                </a:tc>
                <a:extLst>
                  <a:ext uri="{0D108BD9-81ED-4DB2-BD59-A6C34878D82A}">
                    <a16:rowId xmlns:a16="http://schemas.microsoft.com/office/drawing/2014/main" val="1160238472"/>
                  </a:ext>
                </a:extLst>
              </a:tr>
              <a:tr h="370840">
                <a:tc>
                  <a:txBody>
                    <a:bodyPr/>
                    <a:lstStyle/>
                    <a:p>
                      <a:r>
                        <a:rPr lang="en-US" sz="2400" dirty="0"/>
                        <a:t>2</a:t>
                      </a:r>
                    </a:p>
                  </a:txBody>
                  <a:tcPr/>
                </a:tc>
                <a:tc>
                  <a:txBody>
                    <a:bodyPr/>
                    <a:lstStyle/>
                    <a:p>
                      <a:r>
                        <a:rPr lang="en-US" sz="2400" dirty="0" err="1"/>
                        <a:t>Nuhash</a:t>
                      </a:r>
                      <a:endParaRPr lang="en-US" sz="2400" dirty="0"/>
                    </a:p>
                  </a:txBody>
                  <a:tcPr/>
                </a:tc>
                <a:tc>
                  <a:txBody>
                    <a:bodyPr/>
                    <a:lstStyle/>
                    <a:p>
                      <a:r>
                        <a:rPr lang="en-US" sz="2400" dirty="0"/>
                        <a:t>def@g.com</a:t>
                      </a:r>
                    </a:p>
                  </a:txBody>
                  <a:tcPr/>
                </a:tc>
                <a:tc>
                  <a:txBody>
                    <a:bodyPr/>
                    <a:lstStyle/>
                    <a:p>
                      <a:r>
                        <a:rPr lang="en-US" sz="2400" dirty="0"/>
                        <a:t>23</a:t>
                      </a:r>
                    </a:p>
                  </a:txBody>
                  <a:tcPr/>
                </a:tc>
                <a:extLst>
                  <a:ext uri="{0D108BD9-81ED-4DB2-BD59-A6C34878D82A}">
                    <a16:rowId xmlns:a16="http://schemas.microsoft.com/office/drawing/2014/main" val="1903782883"/>
                  </a:ext>
                </a:extLst>
              </a:tr>
              <a:tr h="370840">
                <a:tc>
                  <a:txBody>
                    <a:bodyPr/>
                    <a:lstStyle/>
                    <a:p>
                      <a:r>
                        <a:rPr lang="en-US" sz="2400" dirty="0"/>
                        <a:t>3</a:t>
                      </a:r>
                    </a:p>
                  </a:txBody>
                  <a:tcPr/>
                </a:tc>
                <a:tc>
                  <a:txBody>
                    <a:bodyPr/>
                    <a:lstStyle/>
                    <a:p>
                      <a:r>
                        <a:rPr lang="en-US" sz="2400" dirty="0" err="1"/>
                        <a:t>Raaj</a:t>
                      </a:r>
                      <a:endParaRPr lang="en-US" sz="2400" dirty="0"/>
                    </a:p>
                  </a:txBody>
                  <a:tcPr/>
                </a:tc>
                <a:tc>
                  <a:txBody>
                    <a:bodyPr/>
                    <a:lstStyle/>
                    <a:p>
                      <a:r>
                        <a:rPr lang="en-US" sz="2400" dirty="0"/>
                        <a:t>gdr@g.com</a:t>
                      </a:r>
                    </a:p>
                  </a:txBody>
                  <a:tcPr/>
                </a:tc>
                <a:tc>
                  <a:txBody>
                    <a:bodyPr/>
                    <a:lstStyle/>
                    <a:p>
                      <a:r>
                        <a:rPr lang="en-US" sz="2400" dirty="0"/>
                        <a:t>21</a:t>
                      </a:r>
                    </a:p>
                  </a:txBody>
                  <a:tcPr/>
                </a:tc>
                <a:extLst>
                  <a:ext uri="{0D108BD9-81ED-4DB2-BD59-A6C34878D82A}">
                    <a16:rowId xmlns:a16="http://schemas.microsoft.com/office/drawing/2014/main" val="433943549"/>
                  </a:ext>
                </a:extLst>
              </a:tr>
            </a:tbl>
          </a:graphicData>
        </a:graphic>
      </p:graphicFrame>
      <p:sp>
        <p:nvSpPr>
          <p:cNvPr id="11" name="Rectangle 10">
            <a:extLst>
              <a:ext uri="{FF2B5EF4-FFF2-40B4-BE49-F238E27FC236}">
                <a16:creationId xmlns:a16="http://schemas.microsoft.com/office/drawing/2014/main" id="{4743EB17-3BC7-2E20-4E80-91256B7B9A74}"/>
              </a:ext>
            </a:extLst>
          </p:cNvPr>
          <p:cNvSpPr/>
          <p:nvPr/>
        </p:nvSpPr>
        <p:spPr>
          <a:xfrm>
            <a:off x="1060315" y="3772665"/>
            <a:ext cx="1517515" cy="50578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D199E1A-6B18-66A2-89D2-64E03FB4680B}"/>
              </a:ext>
            </a:extLst>
          </p:cNvPr>
          <p:cNvSpPr/>
          <p:nvPr/>
        </p:nvSpPr>
        <p:spPr>
          <a:xfrm>
            <a:off x="3793787" y="3703034"/>
            <a:ext cx="2616741" cy="684140"/>
          </a:xfrm>
          <a:prstGeom prst="rect">
            <a:avLst/>
          </a:prstGeom>
          <a:no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50557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69545-5D77-33F8-42ED-D2F83A742BF4}"/>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5576C871-3BF6-8A23-5562-D026949BF913}"/>
              </a:ext>
            </a:extLst>
          </p:cNvPr>
          <p:cNvSpPr>
            <a:spLocks noGrp="1"/>
          </p:cNvSpPr>
          <p:nvPr>
            <p:ph type="dt" sz="half" idx="10"/>
          </p:nvPr>
        </p:nvSpPr>
        <p:spPr/>
        <p:txBody>
          <a:bodyPr/>
          <a:lstStyle/>
          <a:p>
            <a:fld id="{C1CDDB05-7545-485D-BAE6-2CE87714CF19}" type="datetime1">
              <a:rPr lang="en-US" smtClean="0"/>
              <a:t>23-Sep-26</a:t>
            </a:fld>
            <a:endParaRPr lang="en-US"/>
          </a:p>
        </p:txBody>
      </p:sp>
      <p:sp>
        <p:nvSpPr>
          <p:cNvPr id="5" name="Slide Number Placeholder 4">
            <a:extLst>
              <a:ext uri="{FF2B5EF4-FFF2-40B4-BE49-F238E27FC236}">
                <a16:creationId xmlns:a16="http://schemas.microsoft.com/office/drawing/2014/main" id="{7474F9C6-9BD8-14F0-FB5A-03ED84804A6A}"/>
              </a:ext>
            </a:extLst>
          </p:cNvPr>
          <p:cNvSpPr>
            <a:spLocks noGrp="1"/>
          </p:cNvSpPr>
          <p:nvPr>
            <p:ph type="sldNum" sz="quarter" idx="12"/>
          </p:nvPr>
        </p:nvSpPr>
        <p:spPr/>
        <p:txBody>
          <a:bodyPr/>
          <a:lstStyle/>
          <a:p>
            <a:fld id="{E199BF8C-199A-420E-AD47-765295E635DE}" type="slidenum">
              <a:rPr lang="en-US" smtClean="0"/>
              <a:t>16</a:t>
            </a:fld>
            <a:endParaRPr lang="en-US"/>
          </a:p>
        </p:txBody>
      </p:sp>
      <p:sp>
        <p:nvSpPr>
          <p:cNvPr id="6" name="Rectangle 5">
            <a:extLst>
              <a:ext uri="{FF2B5EF4-FFF2-40B4-BE49-F238E27FC236}">
                <a16:creationId xmlns:a16="http://schemas.microsoft.com/office/drawing/2014/main" id="{F9E64A74-BDB7-6966-CC0E-9E9217C43CEB}"/>
              </a:ext>
            </a:extLst>
          </p:cNvPr>
          <p:cNvSpPr/>
          <p:nvPr/>
        </p:nvSpPr>
        <p:spPr>
          <a:xfrm>
            <a:off x="0" y="0"/>
            <a:ext cx="12192000" cy="920621"/>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546ECFF-5DB1-C591-8CF2-B235F88B3C4C}"/>
              </a:ext>
            </a:extLst>
          </p:cNvPr>
          <p:cNvSpPr txBox="1"/>
          <p:nvPr/>
        </p:nvSpPr>
        <p:spPr>
          <a:xfrm>
            <a:off x="708529" y="121919"/>
            <a:ext cx="11402191" cy="707886"/>
          </a:xfrm>
          <a:prstGeom prst="rect">
            <a:avLst/>
          </a:prstGeom>
          <a:noFill/>
        </p:spPr>
        <p:txBody>
          <a:bodyPr wrap="square" rtlCol="0">
            <a:spAutoFit/>
          </a:bodyPr>
          <a:lstStyle/>
          <a:p>
            <a:pPr algn="l"/>
            <a:r>
              <a:rPr lang="en-US" sz="4000" dirty="0">
                <a:solidFill>
                  <a:srgbClr val="232323"/>
                </a:solidFill>
                <a:latin typeface="gellix-medium"/>
              </a:rPr>
              <a:t>Primary </a:t>
            </a:r>
            <a:r>
              <a:rPr lang="en-US" sz="4000" i="0" dirty="0">
                <a:solidFill>
                  <a:srgbClr val="232323"/>
                </a:solidFill>
                <a:effectLst/>
                <a:latin typeface="gellix-medium"/>
              </a:rPr>
              <a:t>Key vs Unique Key</a:t>
            </a:r>
            <a:endParaRPr lang="en-US" sz="4000" i="0" dirty="0">
              <a:solidFill>
                <a:srgbClr val="232323"/>
              </a:solidFill>
              <a:effectLst/>
              <a:latin typeface="gellix-semibold"/>
            </a:endParaRPr>
          </a:p>
        </p:txBody>
      </p:sp>
      <p:graphicFrame>
        <p:nvGraphicFramePr>
          <p:cNvPr id="2" name="Table 1"/>
          <p:cNvGraphicFramePr>
            <a:graphicFrameLocks noGrp="1"/>
          </p:cNvGraphicFramePr>
          <p:nvPr>
            <p:extLst>
              <p:ext uri="{D42A27DB-BD31-4B8C-83A1-F6EECF244321}">
                <p14:modId xmlns:p14="http://schemas.microsoft.com/office/powerpoint/2010/main" val="2014708625"/>
              </p:ext>
            </p:extLst>
          </p:nvPr>
        </p:nvGraphicFramePr>
        <p:xfrm>
          <a:off x="708529" y="1861027"/>
          <a:ext cx="10515600" cy="3108960"/>
        </p:xfrm>
        <a:graphic>
          <a:graphicData uri="http://schemas.openxmlformats.org/drawingml/2006/table">
            <a:tbl>
              <a:tblPr>
                <a:tableStyleId>{284E427A-3D55-4303-BF80-6455036E1DE7}</a:tableStyleId>
              </a:tblPr>
              <a:tblGrid>
                <a:gridCol w="3505200">
                  <a:extLst>
                    <a:ext uri="{9D8B030D-6E8A-4147-A177-3AD203B41FA5}">
                      <a16:colId xmlns:a16="http://schemas.microsoft.com/office/drawing/2014/main" val="3755540826"/>
                    </a:ext>
                  </a:extLst>
                </a:gridCol>
                <a:gridCol w="3505200">
                  <a:extLst>
                    <a:ext uri="{9D8B030D-6E8A-4147-A177-3AD203B41FA5}">
                      <a16:colId xmlns:a16="http://schemas.microsoft.com/office/drawing/2014/main" val="128590004"/>
                    </a:ext>
                  </a:extLst>
                </a:gridCol>
                <a:gridCol w="3505200">
                  <a:extLst>
                    <a:ext uri="{9D8B030D-6E8A-4147-A177-3AD203B41FA5}">
                      <a16:colId xmlns:a16="http://schemas.microsoft.com/office/drawing/2014/main" val="3346978742"/>
                    </a:ext>
                  </a:extLst>
                </a:gridCol>
              </a:tblGrid>
              <a:tr h="0">
                <a:tc>
                  <a:txBody>
                    <a:bodyPr/>
                    <a:lstStyle/>
                    <a:p>
                      <a:r>
                        <a:rPr lang="en-US" sz="2400" b="1"/>
                        <a:t>Feature</a:t>
                      </a:r>
                    </a:p>
                  </a:txBody>
                  <a:tcPr anchor="ctr"/>
                </a:tc>
                <a:tc>
                  <a:txBody>
                    <a:bodyPr/>
                    <a:lstStyle/>
                    <a:p>
                      <a:r>
                        <a:rPr lang="en-US" sz="2400" b="1"/>
                        <a:t>Primary Key</a:t>
                      </a:r>
                    </a:p>
                  </a:txBody>
                  <a:tcPr anchor="ctr"/>
                </a:tc>
                <a:tc>
                  <a:txBody>
                    <a:bodyPr/>
                    <a:lstStyle/>
                    <a:p>
                      <a:r>
                        <a:rPr lang="en-US" sz="2400" b="1" dirty="0"/>
                        <a:t>Unique Key</a:t>
                      </a:r>
                    </a:p>
                  </a:txBody>
                  <a:tcPr anchor="ctr"/>
                </a:tc>
                <a:extLst>
                  <a:ext uri="{0D108BD9-81ED-4DB2-BD59-A6C34878D82A}">
                    <a16:rowId xmlns:a16="http://schemas.microsoft.com/office/drawing/2014/main" val="965778672"/>
                  </a:ext>
                </a:extLst>
              </a:tr>
              <a:tr h="0">
                <a:tc>
                  <a:txBody>
                    <a:bodyPr/>
                    <a:lstStyle/>
                    <a:p>
                      <a:r>
                        <a:rPr lang="en-US" sz="2400"/>
                        <a:t>Purpose</a:t>
                      </a:r>
                    </a:p>
                  </a:txBody>
                  <a:tcPr anchor="ctr"/>
                </a:tc>
                <a:tc>
                  <a:txBody>
                    <a:bodyPr/>
                    <a:lstStyle/>
                    <a:p>
                      <a:r>
                        <a:rPr lang="en-US" sz="2400"/>
                        <a:t>Main row identifier</a:t>
                      </a:r>
                    </a:p>
                  </a:txBody>
                  <a:tcPr anchor="ctr"/>
                </a:tc>
                <a:tc>
                  <a:txBody>
                    <a:bodyPr/>
                    <a:lstStyle/>
                    <a:p>
                      <a:r>
                        <a:rPr lang="en-US" sz="2400"/>
                        <a:t>Extra unique constraint</a:t>
                      </a:r>
                    </a:p>
                  </a:txBody>
                  <a:tcPr anchor="ctr"/>
                </a:tc>
                <a:extLst>
                  <a:ext uri="{0D108BD9-81ED-4DB2-BD59-A6C34878D82A}">
                    <a16:rowId xmlns:a16="http://schemas.microsoft.com/office/drawing/2014/main" val="1708389106"/>
                  </a:ext>
                </a:extLst>
              </a:tr>
              <a:tr h="0">
                <a:tc>
                  <a:txBody>
                    <a:bodyPr/>
                    <a:lstStyle/>
                    <a:p>
                      <a:r>
                        <a:rPr lang="en-US" sz="2400"/>
                        <a:t>NULL allowed</a:t>
                      </a:r>
                    </a:p>
                  </a:txBody>
                  <a:tcPr anchor="ctr"/>
                </a:tc>
                <a:tc>
                  <a:txBody>
                    <a:bodyPr/>
                    <a:lstStyle/>
                    <a:p>
                      <a:r>
                        <a:rPr lang="en-US" sz="2400"/>
                        <a:t>❌ No</a:t>
                      </a:r>
                    </a:p>
                  </a:txBody>
                  <a:tcPr anchor="ctr"/>
                </a:tc>
                <a:tc>
                  <a:txBody>
                    <a:bodyPr/>
                    <a:lstStyle/>
                    <a:p>
                      <a:r>
                        <a:rPr lang="en-US" sz="2400"/>
                        <a:t>✅ Yes</a:t>
                      </a:r>
                    </a:p>
                  </a:txBody>
                  <a:tcPr anchor="ctr"/>
                </a:tc>
                <a:extLst>
                  <a:ext uri="{0D108BD9-81ED-4DB2-BD59-A6C34878D82A}">
                    <a16:rowId xmlns:a16="http://schemas.microsoft.com/office/drawing/2014/main" val="1779873920"/>
                  </a:ext>
                </a:extLst>
              </a:tr>
              <a:tr h="0">
                <a:tc>
                  <a:txBody>
                    <a:bodyPr/>
                    <a:lstStyle/>
                    <a:p>
                      <a:r>
                        <a:rPr lang="en-US" sz="2400"/>
                        <a:t>Auto increment</a:t>
                      </a:r>
                    </a:p>
                  </a:txBody>
                  <a:tcPr anchor="ctr"/>
                </a:tc>
                <a:tc>
                  <a:txBody>
                    <a:bodyPr/>
                    <a:lstStyle/>
                    <a:p>
                      <a:r>
                        <a:rPr lang="en-US" sz="2400"/>
                        <a:t>✅ Yes (usually)</a:t>
                      </a:r>
                    </a:p>
                  </a:txBody>
                  <a:tcPr anchor="ctr"/>
                </a:tc>
                <a:tc>
                  <a:txBody>
                    <a:bodyPr/>
                    <a:lstStyle/>
                    <a:p>
                      <a:r>
                        <a:rPr lang="en-US" sz="2400"/>
                        <a:t>❌ No</a:t>
                      </a:r>
                    </a:p>
                  </a:txBody>
                  <a:tcPr anchor="ctr"/>
                </a:tc>
                <a:extLst>
                  <a:ext uri="{0D108BD9-81ED-4DB2-BD59-A6C34878D82A}">
                    <a16:rowId xmlns:a16="http://schemas.microsoft.com/office/drawing/2014/main" val="1402471940"/>
                  </a:ext>
                </a:extLst>
              </a:tr>
              <a:tr h="0">
                <a:tc>
                  <a:txBody>
                    <a:bodyPr/>
                    <a:lstStyle/>
                    <a:p>
                      <a:r>
                        <a:rPr lang="en-US" sz="2400"/>
                        <a:t>Count per table</a:t>
                      </a:r>
                    </a:p>
                  </a:txBody>
                  <a:tcPr anchor="ctr"/>
                </a:tc>
                <a:tc>
                  <a:txBody>
                    <a:bodyPr/>
                    <a:lstStyle/>
                    <a:p>
                      <a:r>
                        <a:rPr lang="en-US" sz="2400"/>
                        <a:t>Only one</a:t>
                      </a:r>
                    </a:p>
                  </a:txBody>
                  <a:tcPr anchor="ctr"/>
                </a:tc>
                <a:tc>
                  <a:txBody>
                    <a:bodyPr/>
                    <a:lstStyle/>
                    <a:p>
                      <a:r>
                        <a:rPr lang="en-US" sz="2400"/>
                        <a:t>Multiple</a:t>
                      </a:r>
                    </a:p>
                  </a:txBody>
                  <a:tcPr anchor="ctr"/>
                </a:tc>
                <a:extLst>
                  <a:ext uri="{0D108BD9-81ED-4DB2-BD59-A6C34878D82A}">
                    <a16:rowId xmlns:a16="http://schemas.microsoft.com/office/drawing/2014/main" val="1234461782"/>
                  </a:ext>
                </a:extLst>
              </a:tr>
              <a:tr h="0">
                <a:tc>
                  <a:txBody>
                    <a:bodyPr/>
                    <a:lstStyle/>
                    <a:p>
                      <a:r>
                        <a:rPr lang="en-US" sz="2400"/>
                        <a:t>Can change value</a:t>
                      </a:r>
                    </a:p>
                  </a:txBody>
                  <a:tcPr anchor="ctr"/>
                </a:tc>
                <a:tc>
                  <a:txBody>
                    <a:bodyPr/>
                    <a:lstStyle/>
                    <a:p>
                      <a:r>
                        <a:rPr lang="en-US" sz="2400" dirty="0"/>
                        <a:t>Technically yes, not recommended</a:t>
                      </a:r>
                    </a:p>
                  </a:txBody>
                  <a:tcPr anchor="ctr"/>
                </a:tc>
                <a:tc>
                  <a:txBody>
                    <a:bodyPr/>
                    <a:lstStyle/>
                    <a:p>
                      <a:r>
                        <a:rPr lang="en-US" sz="2400" dirty="0"/>
                        <a:t>Yes</a:t>
                      </a:r>
                    </a:p>
                  </a:txBody>
                  <a:tcPr anchor="ctr"/>
                </a:tc>
                <a:extLst>
                  <a:ext uri="{0D108BD9-81ED-4DB2-BD59-A6C34878D82A}">
                    <a16:rowId xmlns:a16="http://schemas.microsoft.com/office/drawing/2014/main" val="1353131700"/>
                  </a:ext>
                </a:extLst>
              </a:tr>
            </a:tbl>
          </a:graphicData>
        </a:graphic>
      </p:graphicFrame>
    </p:spTree>
    <p:extLst>
      <p:ext uri="{BB962C8B-B14F-4D97-AF65-F5344CB8AC3E}">
        <p14:creationId xmlns:p14="http://schemas.microsoft.com/office/powerpoint/2010/main" val="12409410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F6625-D963-5DFD-41D6-3F895035DC5F}"/>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57EAD438-BAD8-9EC6-0A7C-5EB4A81605DF}"/>
              </a:ext>
            </a:extLst>
          </p:cNvPr>
          <p:cNvSpPr>
            <a:spLocks noGrp="1"/>
          </p:cNvSpPr>
          <p:nvPr>
            <p:ph type="dt" sz="half" idx="10"/>
          </p:nvPr>
        </p:nvSpPr>
        <p:spPr/>
        <p:txBody>
          <a:bodyPr/>
          <a:lstStyle/>
          <a:p>
            <a:fld id="{C1CDDB05-7545-485D-BAE6-2CE87714CF19}" type="datetime1">
              <a:rPr lang="en-US" smtClean="0"/>
              <a:t>23-Sep-26</a:t>
            </a:fld>
            <a:endParaRPr lang="en-US"/>
          </a:p>
        </p:txBody>
      </p:sp>
      <p:sp>
        <p:nvSpPr>
          <p:cNvPr id="5" name="Slide Number Placeholder 4">
            <a:extLst>
              <a:ext uri="{FF2B5EF4-FFF2-40B4-BE49-F238E27FC236}">
                <a16:creationId xmlns:a16="http://schemas.microsoft.com/office/drawing/2014/main" id="{EB886E4D-B896-8E02-E9FB-0D23915656B3}"/>
              </a:ext>
            </a:extLst>
          </p:cNvPr>
          <p:cNvSpPr>
            <a:spLocks noGrp="1"/>
          </p:cNvSpPr>
          <p:nvPr>
            <p:ph type="sldNum" sz="quarter" idx="12"/>
          </p:nvPr>
        </p:nvSpPr>
        <p:spPr/>
        <p:txBody>
          <a:bodyPr/>
          <a:lstStyle/>
          <a:p>
            <a:fld id="{E199BF8C-199A-420E-AD47-765295E635DE}" type="slidenum">
              <a:rPr lang="en-US" smtClean="0"/>
              <a:t>17</a:t>
            </a:fld>
            <a:endParaRPr lang="en-US"/>
          </a:p>
        </p:txBody>
      </p:sp>
      <p:sp>
        <p:nvSpPr>
          <p:cNvPr id="6" name="Rectangle 5">
            <a:extLst>
              <a:ext uri="{FF2B5EF4-FFF2-40B4-BE49-F238E27FC236}">
                <a16:creationId xmlns:a16="http://schemas.microsoft.com/office/drawing/2014/main" id="{D71748DB-5F10-56C0-2279-BD9766B6326B}"/>
              </a:ext>
            </a:extLst>
          </p:cNvPr>
          <p:cNvSpPr/>
          <p:nvPr/>
        </p:nvSpPr>
        <p:spPr>
          <a:xfrm>
            <a:off x="0" y="0"/>
            <a:ext cx="12192000" cy="920621"/>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F21A1F6-29ED-1EB5-1E9C-7EE310AC30B2}"/>
              </a:ext>
            </a:extLst>
          </p:cNvPr>
          <p:cNvSpPr txBox="1"/>
          <p:nvPr/>
        </p:nvSpPr>
        <p:spPr>
          <a:xfrm>
            <a:off x="708529" y="121919"/>
            <a:ext cx="11402191" cy="707886"/>
          </a:xfrm>
          <a:prstGeom prst="rect">
            <a:avLst/>
          </a:prstGeom>
          <a:noFill/>
        </p:spPr>
        <p:txBody>
          <a:bodyPr wrap="square" rtlCol="0">
            <a:spAutoFit/>
          </a:bodyPr>
          <a:lstStyle/>
          <a:p>
            <a:pPr algn="l"/>
            <a:r>
              <a:rPr lang="en-US" sz="4000" dirty="0">
                <a:solidFill>
                  <a:srgbClr val="232323"/>
                </a:solidFill>
                <a:latin typeface="gellix-medium"/>
              </a:rPr>
              <a:t>Super </a:t>
            </a:r>
            <a:r>
              <a:rPr lang="en-US" sz="4000" i="0" dirty="0">
                <a:solidFill>
                  <a:srgbClr val="232323"/>
                </a:solidFill>
                <a:effectLst/>
                <a:latin typeface="gellix-medium"/>
              </a:rPr>
              <a:t>Key vs Candidate Key</a:t>
            </a:r>
            <a:endParaRPr lang="en-US" sz="4000" i="0" dirty="0">
              <a:solidFill>
                <a:srgbClr val="232323"/>
              </a:solidFill>
              <a:effectLst/>
              <a:latin typeface="gellix-semibold"/>
            </a:endParaRPr>
          </a:p>
        </p:txBody>
      </p:sp>
      <p:pic>
        <p:nvPicPr>
          <p:cNvPr id="4098" name="Picture 2" descr="Difference Between Super Key and Candidate Key | What is super key and  candidate key with example? - YouTube">
            <a:extLst>
              <a:ext uri="{FF2B5EF4-FFF2-40B4-BE49-F238E27FC236}">
                <a16:creationId xmlns:a16="http://schemas.microsoft.com/office/drawing/2014/main" id="{789C0995-BAE6-9EB6-B763-BBB5925D34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4178" y="1391054"/>
            <a:ext cx="8283643" cy="465954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77203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B6E1A-68A9-A16D-A6CD-852203962E3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454EE48E-9688-698E-36C6-12FF4E5E406B}"/>
              </a:ext>
            </a:extLst>
          </p:cNvPr>
          <p:cNvSpPr>
            <a:spLocks noGrp="1"/>
          </p:cNvSpPr>
          <p:nvPr>
            <p:ph type="dt" sz="half" idx="10"/>
          </p:nvPr>
        </p:nvSpPr>
        <p:spPr/>
        <p:txBody>
          <a:bodyPr/>
          <a:lstStyle/>
          <a:p>
            <a:fld id="{C1CDDB05-7545-485D-BAE6-2CE87714CF19}" type="datetime1">
              <a:rPr lang="en-US" smtClean="0"/>
              <a:t>23-Sep-26</a:t>
            </a:fld>
            <a:endParaRPr lang="en-US"/>
          </a:p>
        </p:txBody>
      </p:sp>
      <p:sp>
        <p:nvSpPr>
          <p:cNvPr id="5" name="Slide Number Placeholder 4">
            <a:extLst>
              <a:ext uri="{FF2B5EF4-FFF2-40B4-BE49-F238E27FC236}">
                <a16:creationId xmlns:a16="http://schemas.microsoft.com/office/drawing/2014/main" id="{D7AF6684-2BBB-7D09-C45C-F8650EC0648E}"/>
              </a:ext>
            </a:extLst>
          </p:cNvPr>
          <p:cNvSpPr>
            <a:spLocks noGrp="1"/>
          </p:cNvSpPr>
          <p:nvPr>
            <p:ph type="sldNum" sz="quarter" idx="12"/>
          </p:nvPr>
        </p:nvSpPr>
        <p:spPr/>
        <p:txBody>
          <a:bodyPr/>
          <a:lstStyle/>
          <a:p>
            <a:fld id="{E199BF8C-199A-420E-AD47-765295E635DE}" type="slidenum">
              <a:rPr lang="en-US" smtClean="0"/>
              <a:t>18</a:t>
            </a:fld>
            <a:endParaRPr lang="en-US"/>
          </a:p>
        </p:txBody>
      </p:sp>
      <p:sp>
        <p:nvSpPr>
          <p:cNvPr id="6" name="Rectangle 5">
            <a:extLst>
              <a:ext uri="{FF2B5EF4-FFF2-40B4-BE49-F238E27FC236}">
                <a16:creationId xmlns:a16="http://schemas.microsoft.com/office/drawing/2014/main" id="{C6772059-55E0-6084-1BDD-29B4264FA811}"/>
              </a:ext>
            </a:extLst>
          </p:cNvPr>
          <p:cNvSpPr/>
          <p:nvPr/>
        </p:nvSpPr>
        <p:spPr>
          <a:xfrm>
            <a:off x="0" y="0"/>
            <a:ext cx="12192000" cy="920621"/>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FDB373C-AE77-66F1-D3AA-E5E3A1C02AB9}"/>
              </a:ext>
            </a:extLst>
          </p:cNvPr>
          <p:cNvSpPr txBox="1"/>
          <p:nvPr/>
        </p:nvSpPr>
        <p:spPr>
          <a:xfrm>
            <a:off x="708529" y="121919"/>
            <a:ext cx="11402191" cy="707886"/>
          </a:xfrm>
          <a:prstGeom prst="rect">
            <a:avLst/>
          </a:prstGeom>
          <a:noFill/>
        </p:spPr>
        <p:txBody>
          <a:bodyPr wrap="square" rtlCol="0">
            <a:spAutoFit/>
          </a:bodyPr>
          <a:lstStyle/>
          <a:p>
            <a:pPr algn="l"/>
            <a:r>
              <a:rPr lang="en-US" sz="4000" dirty="0">
                <a:solidFill>
                  <a:srgbClr val="232323"/>
                </a:solidFill>
                <a:latin typeface="gellix-medium"/>
              </a:rPr>
              <a:t>Foreign </a:t>
            </a:r>
            <a:r>
              <a:rPr lang="en-US" sz="4000" i="0" dirty="0">
                <a:solidFill>
                  <a:srgbClr val="232323"/>
                </a:solidFill>
                <a:effectLst/>
                <a:latin typeface="gellix-medium"/>
              </a:rPr>
              <a:t>Key</a:t>
            </a:r>
            <a:endParaRPr lang="en-US" sz="4000" i="0" dirty="0">
              <a:solidFill>
                <a:srgbClr val="232323"/>
              </a:solidFill>
              <a:effectLst/>
              <a:latin typeface="gellix-semibold"/>
            </a:endParaRPr>
          </a:p>
        </p:txBody>
      </p:sp>
      <p:sp>
        <p:nvSpPr>
          <p:cNvPr id="2" name="TextBox 1">
            <a:extLst>
              <a:ext uri="{FF2B5EF4-FFF2-40B4-BE49-F238E27FC236}">
                <a16:creationId xmlns:a16="http://schemas.microsoft.com/office/drawing/2014/main" id="{1548A767-FC16-397B-3727-231091846ECB}"/>
              </a:ext>
            </a:extLst>
          </p:cNvPr>
          <p:cNvSpPr txBox="1"/>
          <p:nvPr/>
        </p:nvSpPr>
        <p:spPr>
          <a:xfrm>
            <a:off x="838201" y="1168315"/>
            <a:ext cx="10766898" cy="4893647"/>
          </a:xfrm>
          <a:prstGeom prst="rect">
            <a:avLst/>
          </a:prstGeom>
          <a:noFill/>
        </p:spPr>
        <p:txBody>
          <a:bodyPr wrap="square">
            <a:spAutoFit/>
          </a:bodyPr>
          <a:lstStyle/>
          <a:p>
            <a:pPr marL="342900" indent="-342900" algn="just">
              <a:buFont typeface="Arial" panose="020B0604020202020204" pitchFamily="34" charset="0"/>
              <a:buChar char="•"/>
            </a:pPr>
            <a:r>
              <a:rPr lang="en-US" sz="2400" b="0" i="0" dirty="0">
                <a:solidFill>
                  <a:srgbClr val="231F20"/>
                </a:solidFill>
                <a:effectLst/>
                <a:latin typeface="circular-xx"/>
              </a:rPr>
              <a:t>a reference link between tables that are known as the primary (or parent) and foreign (or child) tables. The foreign table references one or more columns (the primary key, which can be one or more columns) in the primary table; that is how the link is created.</a:t>
            </a:r>
          </a:p>
          <a:p>
            <a:pPr marL="342900" indent="-342900" algn="just">
              <a:buFont typeface="Arial" panose="020B0604020202020204" pitchFamily="34" charset="0"/>
              <a:buChar char="•"/>
            </a:pPr>
            <a:endParaRPr lang="en-US" sz="2400" dirty="0">
              <a:solidFill>
                <a:srgbClr val="231F20"/>
              </a:solidFill>
              <a:latin typeface="circular-xx"/>
            </a:endParaRPr>
          </a:p>
          <a:p>
            <a:pPr marL="342900" indent="-342900" algn="just">
              <a:buFont typeface="Arial" panose="020B0604020202020204" pitchFamily="34" charset="0"/>
              <a:buChar char="•"/>
            </a:pPr>
            <a:r>
              <a:rPr lang="en-US" sz="2400" b="1" i="0" dirty="0">
                <a:solidFill>
                  <a:schemeClr val="accent1"/>
                </a:solidFill>
                <a:effectLst/>
                <a:latin typeface="circular-xx"/>
              </a:rPr>
              <a:t>A FOREIGN KEY is a field (or collection of fields) in one table, that refers to the PRIMARY KEY in another table.</a:t>
            </a:r>
          </a:p>
          <a:p>
            <a:pPr marL="342900" indent="-342900" algn="just">
              <a:buFont typeface="Arial" panose="020B0604020202020204" pitchFamily="34" charset="0"/>
              <a:buChar char="•"/>
            </a:pPr>
            <a:endParaRPr lang="en-US" sz="2400" b="1" dirty="0">
              <a:solidFill>
                <a:schemeClr val="accent1"/>
              </a:solidFill>
              <a:latin typeface="circular-xx"/>
            </a:endParaRPr>
          </a:p>
          <a:p>
            <a:pPr marL="342900" indent="-342900" algn="just">
              <a:buFont typeface="Arial" panose="020B0604020202020204" pitchFamily="34" charset="0"/>
              <a:buChar char="•"/>
            </a:pPr>
            <a:endParaRPr lang="en-US" sz="2400" b="1" i="0" dirty="0">
              <a:effectLst/>
              <a:latin typeface="circular-xx"/>
            </a:endParaRPr>
          </a:p>
          <a:p>
            <a:pPr marL="342900" indent="-342900" algn="just">
              <a:buFont typeface="Arial" panose="020B0604020202020204" pitchFamily="34" charset="0"/>
              <a:buChar char="•"/>
            </a:pPr>
            <a:endParaRPr lang="en-US" sz="2400" dirty="0">
              <a:solidFill>
                <a:srgbClr val="231F20"/>
              </a:solidFill>
              <a:latin typeface="circular-xx"/>
            </a:endParaRPr>
          </a:p>
          <a:p>
            <a:pPr marL="342900" indent="-342900" algn="just">
              <a:buFont typeface="Arial" panose="020B0604020202020204" pitchFamily="34" charset="0"/>
              <a:buChar char="•"/>
            </a:pPr>
            <a:endParaRPr lang="en-US" sz="2400" b="0" i="0" dirty="0">
              <a:solidFill>
                <a:srgbClr val="231F20"/>
              </a:solidFill>
              <a:effectLst/>
              <a:latin typeface="circular-xx"/>
            </a:endParaRPr>
          </a:p>
          <a:p>
            <a:pPr marL="342900" indent="-342900" algn="just">
              <a:buFont typeface="Arial" panose="020B0604020202020204" pitchFamily="34" charset="0"/>
              <a:buChar char="•"/>
            </a:pPr>
            <a:endParaRPr lang="en-US" sz="2400" dirty="0">
              <a:solidFill>
                <a:srgbClr val="231F20"/>
              </a:solidFill>
              <a:latin typeface="circular-xx"/>
            </a:endParaRPr>
          </a:p>
          <a:p>
            <a:pPr marL="342900" indent="-342900" algn="just">
              <a:buFont typeface="Arial" panose="020B0604020202020204" pitchFamily="34" charset="0"/>
              <a:buChar char="•"/>
            </a:pPr>
            <a:endParaRPr lang="en-US" sz="2400" b="0" i="0" dirty="0">
              <a:solidFill>
                <a:srgbClr val="232323"/>
              </a:solidFill>
              <a:effectLst/>
              <a:latin typeface="gellix-medium"/>
            </a:endParaRPr>
          </a:p>
        </p:txBody>
      </p:sp>
    </p:spTree>
    <p:extLst>
      <p:ext uri="{BB962C8B-B14F-4D97-AF65-F5344CB8AC3E}">
        <p14:creationId xmlns:p14="http://schemas.microsoft.com/office/powerpoint/2010/main" val="11461530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A8E0D-44E8-38E6-C961-77966E35C572}"/>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E580CFBA-DD7C-8108-D45A-0E8C1C266762}"/>
              </a:ext>
            </a:extLst>
          </p:cNvPr>
          <p:cNvSpPr>
            <a:spLocks noGrp="1"/>
          </p:cNvSpPr>
          <p:nvPr>
            <p:ph type="dt" sz="half" idx="10"/>
          </p:nvPr>
        </p:nvSpPr>
        <p:spPr/>
        <p:txBody>
          <a:bodyPr/>
          <a:lstStyle/>
          <a:p>
            <a:fld id="{C1CDDB05-7545-485D-BAE6-2CE87714CF19}" type="datetime1">
              <a:rPr lang="en-US" smtClean="0"/>
              <a:t>23-Sep-26</a:t>
            </a:fld>
            <a:endParaRPr lang="en-US"/>
          </a:p>
        </p:txBody>
      </p:sp>
      <p:sp>
        <p:nvSpPr>
          <p:cNvPr id="5" name="Slide Number Placeholder 4">
            <a:extLst>
              <a:ext uri="{FF2B5EF4-FFF2-40B4-BE49-F238E27FC236}">
                <a16:creationId xmlns:a16="http://schemas.microsoft.com/office/drawing/2014/main" id="{3D6D75C8-B5AC-5CF5-B8B0-3CCF910A5C89}"/>
              </a:ext>
            </a:extLst>
          </p:cNvPr>
          <p:cNvSpPr>
            <a:spLocks noGrp="1"/>
          </p:cNvSpPr>
          <p:nvPr>
            <p:ph type="sldNum" sz="quarter" idx="12"/>
          </p:nvPr>
        </p:nvSpPr>
        <p:spPr/>
        <p:txBody>
          <a:bodyPr/>
          <a:lstStyle/>
          <a:p>
            <a:fld id="{E199BF8C-199A-420E-AD47-765295E635DE}" type="slidenum">
              <a:rPr lang="en-US" smtClean="0"/>
              <a:t>19</a:t>
            </a:fld>
            <a:endParaRPr lang="en-US"/>
          </a:p>
        </p:txBody>
      </p:sp>
      <p:sp>
        <p:nvSpPr>
          <p:cNvPr id="6" name="Rectangle 5">
            <a:extLst>
              <a:ext uri="{FF2B5EF4-FFF2-40B4-BE49-F238E27FC236}">
                <a16:creationId xmlns:a16="http://schemas.microsoft.com/office/drawing/2014/main" id="{9E645BFA-FD8B-0DC1-1699-449BDD93D08E}"/>
              </a:ext>
            </a:extLst>
          </p:cNvPr>
          <p:cNvSpPr/>
          <p:nvPr/>
        </p:nvSpPr>
        <p:spPr>
          <a:xfrm>
            <a:off x="0" y="0"/>
            <a:ext cx="12192000" cy="920621"/>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338EF09-1C54-AFA4-E808-C0E9FAF338C7}"/>
              </a:ext>
            </a:extLst>
          </p:cNvPr>
          <p:cNvSpPr txBox="1"/>
          <p:nvPr/>
        </p:nvSpPr>
        <p:spPr>
          <a:xfrm>
            <a:off x="708529" y="121919"/>
            <a:ext cx="11402191" cy="707886"/>
          </a:xfrm>
          <a:prstGeom prst="rect">
            <a:avLst/>
          </a:prstGeom>
          <a:noFill/>
        </p:spPr>
        <p:txBody>
          <a:bodyPr wrap="square" rtlCol="0">
            <a:spAutoFit/>
          </a:bodyPr>
          <a:lstStyle/>
          <a:p>
            <a:pPr algn="l"/>
            <a:r>
              <a:rPr lang="en-US" sz="4000" dirty="0">
                <a:solidFill>
                  <a:srgbClr val="232323"/>
                </a:solidFill>
                <a:latin typeface="gellix-medium"/>
              </a:rPr>
              <a:t>Foreign </a:t>
            </a:r>
            <a:r>
              <a:rPr lang="en-US" sz="4000" i="0" dirty="0">
                <a:solidFill>
                  <a:srgbClr val="232323"/>
                </a:solidFill>
                <a:effectLst/>
                <a:latin typeface="gellix-medium"/>
              </a:rPr>
              <a:t>Key</a:t>
            </a:r>
            <a:endParaRPr lang="en-US" sz="4000" i="0" dirty="0">
              <a:solidFill>
                <a:srgbClr val="232323"/>
              </a:solidFill>
              <a:effectLst/>
              <a:latin typeface="gellix-semibold"/>
            </a:endParaRPr>
          </a:p>
        </p:txBody>
      </p:sp>
      <p:sp>
        <p:nvSpPr>
          <p:cNvPr id="2" name="TextBox 1">
            <a:extLst>
              <a:ext uri="{FF2B5EF4-FFF2-40B4-BE49-F238E27FC236}">
                <a16:creationId xmlns:a16="http://schemas.microsoft.com/office/drawing/2014/main" id="{05C9A2CE-26EE-9B14-1FA5-6B4A37B2E89D}"/>
              </a:ext>
            </a:extLst>
          </p:cNvPr>
          <p:cNvSpPr txBox="1"/>
          <p:nvPr/>
        </p:nvSpPr>
        <p:spPr>
          <a:xfrm>
            <a:off x="838201" y="1168315"/>
            <a:ext cx="10766898" cy="1569660"/>
          </a:xfrm>
          <a:prstGeom prst="rect">
            <a:avLst/>
          </a:prstGeom>
          <a:noFill/>
        </p:spPr>
        <p:txBody>
          <a:bodyPr wrap="square">
            <a:spAutoFit/>
          </a:bodyPr>
          <a:lstStyle/>
          <a:p>
            <a:pPr marL="342900" indent="-342900" algn="just">
              <a:buFont typeface="Arial" panose="020B0604020202020204" pitchFamily="34" charset="0"/>
              <a:buChar char="•"/>
            </a:pPr>
            <a:r>
              <a:rPr lang="en-US" sz="2400" b="0" i="0" dirty="0">
                <a:solidFill>
                  <a:srgbClr val="232323"/>
                </a:solidFill>
                <a:effectLst/>
                <a:latin typeface="gellix-medium"/>
              </a:rPr>
              <a:t>a FOREIGN KEY on the “</a:t>
            </a:r>
            <a:r>
              <a:rPr lang="en-US" sz="2400" b="0" i="0" dirty="0" err="1">
                <a:solidFill>
                  <a:srgbClr val="232323"/>
                </a:solidFill>
                <a:effectLst/>
                <a:latin typeface="gellix-medium"/>
              </a:rPr>
              <a:t>user_id</a:t>
            </a:r>
            <a:r>
              <a:rPr lang="en-US" sz="2400" b="0" i="0" dirty="0">
                <a:solidFill>
                  <a:srgbClr val="232323"/>
                </a:solidFill>
                <a:effectLst/>
                <a:latin typeface="gellix-medium"/>
              </a:rPr>
              <a:t>" column when the "Orders" table is created</a:t>
            </a:r>
          </a:p>
          <a:p>
            <a:pPr marL="342900" indent="-342900" algn="just">
              <a:buFont typeface="Arial" panose="020B0604020202020204" pitchFamily="34" charset="0"/>
              <a:buChar char="•"/>
            </a:pPr>
            <a:endParaRPr lang="en-US" sz="2400" dirty="0">
              <a:solidFill>
                <a:srgbClr val="232323"/>
              </a:solidFill>
              <a:latin typeface="gellix-medium"/>
            </a:endParaRPr>
          </a:p>
          <a:p>
            <a:pPr marL="342900" indent="-342900" algn="just">
              <a:buFont typeface="Arial" panose="020B0604020202020204" pitchFamily="34" charset="0"/>
              <a:buChar char="•"/>
            </a:pPr>
            <a:r>
              <a:rPr lang="en-US" sz="2400" dirty="0">
                <a:solidFill>
                  <a:srgbClr val="232323"/>
                </a:solidFill>
                <a:latin typeface="gellix-medium"/>
              </a:rPr>
              <a:t>FOREIGN KEY (</a:t>
            </a:r>
            <a:r>
              <a:rPr lang="en-US" sz="2400" dirty="0" err="1">
                <a:solidFill>
                  <a:srgbClr val="232323"/>
                </a:solidFill>
                <a:latin typeface="gellix-medium"/>
              </a:rPr>
              <a:t>columnName</a:t>
            </a:r>
            <a:r>
              <a:rPr lang="en-US" sz="2400" dirty="0">
                <a:solidFill>
                  <a:srgbClr val="232323"/>
                </a:solidFill>
                <a:latin typeface="gellix-medium"/>
              </a:rPr>
              <a:t>) REFERENCES </a:t>
            </a:r>
            <a:r>
              <a:rPr lang="en-US" sz="2400" dirty="0" err="1">
                <a:solidFill>
                  <a:srgbClr val="232323"/>
                </a:solidFill>
                <a:latin typeface="gellix-medium"/>
              </a:rPr>
              <a:t>tablename</a:t>
            </a:r>
            <a:r>
              <a:rPr lang="en-US" sz="2400" dirty="0">
                <a:solidFill>
                  <a:srgbClr val="232323"/>
                </a:solidFill>
                <a:latin typeface="gellix-medium"/>
              </a:rPr>
              <a:t>(</a:t>
            </a:r>
            <a:r>
              <a:rPr lang="en-US" sz="2400" dirty="0" err="1">
                <a:solidFill>
                  <a:srgbClr val="232323"/>
                </a:solidFill>
                <a:latin typeface="gellix-medium"/>
              </a:rPr>
              <a:t>columnName</a:t>
            </a:r>
            <a:r>
              <a:rPr lang="en-US" sz="2400" dirty="0">
                <a:solidFill>
                  <a:srgbClr val="232323"/>
                </a:solidFill>
                <a:latin typeface="gellix-medium"/>
              </a:rPr>
              <a:t>) </a:t>
            </a:r>
          </a:p>
          <a:p>
            <a:pPr marL="342900" indent="-342900" algn="just">
              <a:buFont typeface="Arial" panose="020B0604020202020204" pitchFamily="34" charset="0"/>
              <a:buChar char="•"/>
            </a:pPr>
            <a:endParaRPr lang="en-US" sz="2400" b="0" i="0" dirty="0">
              <a:solidFill>
                <a:srgbClr val="232323"/>
              </a:solidFill>
              <a:effectLst/>
              <a:latin typeface="gellix-medium"/>
            </a:endParaRPr>
          </a:p>
        </p:txBody>
      </p:sp>
      <p:pic>
        <p:nvPicPr>
          <p:cNvPr id="9" name="Picture 8">
            <a:extLst>
              <a:ext uri="{FF2B5EF4-FFF2-40B4-BE49-F238E27FC236}">
                <a16:creationId xmlns:a16="http://schemas.microsoft.com/office/drawing/2014/main" id="{80201E1E-2C46-AB75-02E5-383249958B72}"/>
              </a:ext>
            </a:extLst>
          </p:cNvPr>
          <p:cNvPicPr>
            <a:picLocks noChangeAspect="1"/>
          </p:cNvPicPr>
          <p:nvPr/>
        </p:nvPicPr>
        <p:blipFill>
          <a:blip r:embed="rId2"/>
          <a:stretch>
            <a:fillRect/>
          </a:stretch>
        </p:blipFill>
        <p:spPr>
          <a:xfrm>
            <a:off x="1442388" y="2752152"/>
            <a:ext cx="9307224" cy="4105848"/>
          </a:xfrm>
          <a:prstGeom prst="rect">
            <a:avLst/>
          </a:prstGeom>
        </p:spPr>
      </p:pic>
    </p:spTree>
    <p:extLst>
      <p:ext uri="{BB962C8B-B14F-4D97-AF65-F5344CB8AC3E}">
        <p14:creationId xmlns:p14="http://schemas.microsoft.com/office/powerpoint/2010/main" val="6033570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5126B-655C-1EA7-5AE0-D7BF8047590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9FE676D3-AE6C-DA7D-538D-D215D5641B81}"/>
              </a:ext>
            </a:extLst>
          </p:cNvPr>
          <p:cNvSpPr>
            <a:spLocks noGrp="1"/>
          </p:cNvSpPr>
          <p:nvPr>
            <p:ph type="dt" sz="half" idx="10"/>
          </p:nvPr>
        </p:nvSpPr>
        <p:spPr/>
        <p:txBody>
          <a:bodyPr/>
          <a:lstStyle/>
          <a:p>
            <a:fld id="{C1CDDB05-7545-485D-BAE6-2CE87714CF19}" type="datetime1">
              <a:rPr lang="en-US" smtClean="0"/>
              <a:t>23-Sep-26</a:t>
            </a:fld>
            <a:endParaRPr lang="en-US"/>
          </a:p>
        </p:txBody>
      </p:sp>
      <p:sp>
        <p:nvSpPr>
          <p:cNvPr id="5" name="Slide Number Placeholder 4">
            <a:extLst>
              <a:ext uri="{FF2B5EF4-FFF2-40B4-BE49-F238E27FC236}">
                <a16:creationId xmlns:a16="http://schemas.microsoft.com/office/drawing/2014/main" id="{6153B959-6CBA-7D85-E50A-5A4C7ECAB2AB}"/>
              </a:ext>
            </a:extLst>
          </p:cNvPr>
          <p:cNvSpPr>
            <a:spLocks noGrp="1"/>
          </p:cNvSpPr>
          <p:nvPr>
            <p:ph type="sldNum" sz="quarter" idx="12"/>
          </p:nvPr>
        </p:nvSpPr>
        <p:spPr/>
        <p:txBody>
          <a:bodyPr/>
          <a:lstStyle/>
          <a:p>
            <a:fld id="{E199BF8C-199A-420E-AD47-765295E635DE}" type="slidenum">
              <a:rPr lang="en-US" smtClean="0"/>
              <a:t>20</a:t>
            </a:fld>
            <a:endParaRPr lang="en-US"/>
          </a:p>
        </p:txBody>
      </p:sp>
      <p:sp>
        <p:nvSpPr>
          <p:cNvPr id="6" name="Rectangle 5">
            <a:extLst>
              <a:ext uri="{FF2B5EF4-FFF2-40B4-BE49-F238E27FC236}">
                <a16:creationId xmlns:a16="http://schemas.microsoft.com/office/drawing/2014/main" id="{EF684408-23CC-E4BD-EFC2-D322CC111E05}"/>
              </a:ext>
            </a:extLst>
          </p:cNvPr>
          <p:cNvSpPr/>
          <p:nvPr/>
        </p:nvSpPr>
        <p:spPr>
          <a:xfrm>
            <a:off x="0" y="0"/>
            <a:ext cx="12192000" cy="920621"/>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C749865-E61A-D02B-6EAE-122B7F53EB59}"/>
              </a:ext>
            </a:extLst>
          </p:cNvPr>
          <p:cNvSpPr txBox="1"/>
          <p:nvPr/>
        </p:nvSpPr>
        <p:spPr>
          <a:xfrm>
            <a:off x="708529" y="121919"/>
            <a:ext cx="11402191" cy="707886"/>
          </a:xfrm>
          <a:prstGeom prst="rect">
            <a:avLst/>
          </a:prstGeom>
          <a:noFill/>
        </p:spPr>
        <p:txBody>
          <a:bodyPr wrap="square" rtlCol="0">
            <a:spAutoFit/>
          </a:bodyPr>
          <a:lstStyle/>
          <a:p>
            <a:pPr algn="l"/>
            <a:r>
              <a:rPr lang="en-US" sz="4000" dirty="0">
                <a:solidFill>
                  <a:srgbClr val="232323"/>
                </a:solidFill>
                <a:latin typeface="gellix-medium"/>
              </a:rPr>
              <a:t>Foreign </a:t>
            </a:r>
            <a:r>
              <a:rPr lang="en-US" sz="4000" i="0" dirty="0">
                <a:solidFill>
                  <a:srgbClr val="232323"/>
                </a:solidFill>
                <a:effectLst/>
                <a:latin typeface="gellix-medium"/>
              </a:rPr>
              <a:t>Key</a:t>
            </a:r>
            <a:endParaRPr lang="en-US" sz="4000" i="0" dirty="0">
              <a:solidFill>
                <a:srgbClr val="232323"/>
              </a:solidFill>
              <a:effectLst/>
              <a:latin typeface="gellix-semibold"/>
            </a:endParaRPr>
          </a:p>
        </p:txBody>
      </p:sp>
      <p:pic>
        <p:nvPicPr>
          <p:cNvPr id="3074" name="Picture 2" descr="foreign key constraints">
            <a:extLst>
              <a:ext uri="{FF2B5EF4-FFF2-40B4-BE49-F238E27FC236}">
                <a16:creationId xmlns:a16="http://schemas.microsoft.com/office/drawing/2014/main" id="{6CCAAECC-CB93-78A1-F0F0-5A2B34ADD1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2085" y="1122809"/>
            <a:ext cx="10787829" cy="52478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44056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91E2-4AE8-5603-5977-C346D5AB7F1D}"/>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872ECFFE-DD41-6D1C-0CA8-94E506D405F2}"/>
              </a:ext>
            </a:extLst>
          </p:cNvPr>
          <p:cNvSpPr>
            <a:spLocks noGrp="1"/>
          </p:cNvSpPr>
          <p:nvPr>
            <p:ph type="dt" sz="half" idx="10"/>
          </p:nvPr>
        </p:nvSpPr>
        <p:spPr/>
        <p:txBody>
          <a:bodyPr/>
          <a:lstStyle/>
          <a:p>
            <a:fld id="{C1CDDB05-7545-485D-BAE6-2CE87714CF19}" type="datetime1">
              <a:rPr lang="en-US" smtClean="0"/>
              <a:t>23-Sep-26</a:t>
            </a:fld>
            <a:endParaRPr lang="en-US"/>
          </a:p>
        </p:txBody>
      </p:sp>
      <p:sp>
        <p:nvSpPr>
          <p:cNvPr id="5" name="Slide Number Placeholder 4">
            <a:extLst>
              <a:ext uri="{FF2B5EF4-FFF2-40B4-BE49-F238E27FC236}">
                <a16:creationId xmlns:a16="http://schemas.microsoft.com/office/drawing/2014/main" id="{BD4F6144-0AAE-838E-9966-358B12D0FDB0}"/>
              </a:ext>
            </a:extLst>
          </p:cNvPr>
          <p:cNvSpPr>
            <a:spLocks noGrp="1"/>
          </p:cNvSpPr>
          <p:nvPr>
            <p:ph type="sldNum" sz="quarter" idx="12"/>
          </p:nvPr>
        </p:nvSpPr>
        <p:spPr/>
        <p:txBody>
          <a:bodyPr/>
          <a:lstStyle/>
          <a:p>
            <a:fld id="{E199BF8C-199A-420E-AD47-765295E635DE}" type="slidenum">
              <a:rPr lang="en-US" smtClean="0"/>
              <a:t>21</a:t>
            </a:fld>
            <a:endParaRPr lang="en-US"/>
          </a:p>
        </p:txBody>
      </p:sp>
      <p:sp>
        <p:nvSpPr>
          <p:cNvPr id="6" name="Rectangle 5">
            <a:extLst>
              <a:ext uri="{FF2B5EF4-FFF2-40B4-BE49-F238E27FC236}">
                <a16:creationId xmlns:a16="http://schemas.microsoft.com/office/drawing/2014/main" id="{32EA9A52-44F8-FBB4-5169-3E63F89AB192}"/>
              </a:ext>
            </a:extLst>
          </p:cNvPr>
          <p:cNvSpPr/>
          <p:nvPr/>
        </p:nvSpPr>
        <p:spPr>
          <a:xfrm>
            <a:off x="0" y="0"/>
            <a:ext cx="12192000" cy="920621"/>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0B95512-B3BB-FF88-F873-EC14EB8C7062}"/>
              </a:ext>
            </a:extLst>
          </p:cNvPr>
          <p:cNvSpPr txBox="1"/>
          <p:nvPr/>
        </p:nvSpPr>
        <p:spPr>
          <a:xfrm>
            <a:off x="708529" y="121919"/>
            <a:ext cx="11402191" cy="707886"/>
          </a:xfrm>
          <a:prstGeom prst="rect">
            <a:avLst/>
          </a:prstGeom>
          <a:noFill/>
        </p:spPr>
        <p:txBody>
          <a:bodyPr wrap="square" rtlCol="0">
            <a:spAutoFit/>
          </a:bodyPr>
          <a:lstStyle/>
          <a:p>
            <a:pPr algn="l"/>
            <a:r>
              <a:rPr lang="en-US" sz="4000" dirty="0">
                <a:solidFill>
                  <a:srgbClr val="232323"/>
                </a:solidFill>
                <a:latin typeface="gellix-medium"/>
              </a:rPr>
              <a:t>Advantage of Foreign Key</a:t>
            </a:r>
            <a:endParaRPr lang="en-US" sz="4000" i="0" dirty="0">
              <a:solidFill>
                <a:srgbClr val="232323"/>
              </a:solidFill>
              <a:effectLst/>
              <a:latin typeface="gellix-semibold"/>
            </a:endParaRPr>
          </a:p>
        </p:txBody>
      </p:sp>
      <p:sp>
        <p:nvSpPr>
          <p:cNvPr id="2" name="TextBox 1">
            <a:extLst>
              <a:ext uri="{FF2B5EF4-FFF2-40B4-BE49-F238E27FC236}">
                <a16:creationId xmlns:a16="http://schemas.microsoft.com/office/drawing/2014/main" id="{FA580D99-AAAC-3E6F-90D9-ECBD49D1692F}"/>
              </a:ext>
            </a:extLst>
          </p:cNvPr>
          <p:cNvSpPr txBox="1"/>
          <p:nvPr/>
        </p:nvSpPr>
        <p:spPr>
          <a:xfrm>
            <a:off x="838201" y="1183268"/>
            <a:ext cx="10766898" cy="461665"/>
          </a:xfrm>
          <a:prstGeom prst="rect">
            <a:avLst/>
          </a:prstGeom>
          <a:noFill/>
        </p:spPr>
        <p:txBody>
          <a:bodyPr wrap="square">
            <a:spAutoFit/>
          </a:bodyPr>
          <a:lstStyle/>
          <a:p>
            <a:pPr algn="l">
              <a:buFont typeface="Arial" panose="020B0604020202020204" pitchFamily="34" charset="0"/>
              <a:buChar char="•"/>
            </a:pPr>
            <a:r>
              <a:rPr lang="en-US" sz="2400" b="0" i="0" u="none" strike="noStrike" dirty="0">
                <a:effectLst/>
                <a:latin typeface="gellix-medium"/>
              </a:rPr>
              <a:t> Self study</a:t>
            </a:r>
          </a:p>
        </p:txBody>
      </p:sp>
      <p:pic>
        <p:nvPicPr>
          <p:cNvPr id="4098" name="Picture 2" descr="Primary Key and Foreign Key in SQL, When to use Which? | by shivam bhatele  | Geek Culture | Medium">
            <a:extLst>
              <a:ext uri="{FF2B5EF4-FFF2-40B4-BE49-F238E27FC236}">
                <a16:creationId xmlns:a16="http://schemas.microsoft.com/office/drawing/2014/main" id="{D5B255A8-E3A0-A5E0-3141-BB92DFDC92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9562" y="1907580"/>
            <a:ext cx="9372875" cy="32394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54947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06BA711-228E-B45C-8179-D76B6A5490E1}"/>
              </a:ext>
            </a:extLst>
          </p:cNvPr>
          <p:cNvSpPr>
            <a:spLocks noGrp="1"/>
          </p:cNvSpPr>
          <p:nvPr>
            <p:ph type="dt" sz="half" idx="10"/>
          </p:nvPr>
        </p:nvSpPr>
        <p:spPr/>
        <p:txBody>
          <a:bodyPr/>
          <a:lstStyle/>
          <a:p>
            <a:fld id="{C1CDDB05-7545-485D-BAE6-2CE87714CF19}" type="datetime1">
              <a:rPr lang="en-US" smtClean="0"/>
              <a:t>23-Sep-26</a:t>
            </a:fld>
            <a:endParaRPr lang="en-US"/>
          </a:p>
        </p:txBody>
      </p:sp>
      <p:sp>
        <p:nvSpPr>
          <p:cNvPr id="5" name="Slide Number Placeholder 4">
            <a:extLst>
              <a:ext uri="{FF2B5EF4-FFF2-40B4-BE49-F238E27FC236}">
                <a16:creationId xmlns:a16="http://schemas.microsoft.com/office/drawing/2014/main" id="{2C96A1E9-DA17-11CA-721D-75EA6BD1D733}"/>
              </a:ext>
            </a:extLst>
          </p:cNvPr>
          <p:cNvSpPr>
            <a:spLocks noGrp="1"/>
          </p:cNvSpPr>
          <p:nvPr>
            <p:ph type="sldNum" sz="quarter" idx="12"/>
          </p:nvPr>
        </p:nvSpPr>
        <p:spPr/>
        <p:txBody>
          <a:bodyPr/>
          <a:lstStyle/>
          <a:p>
            <a:fld id="{E199BF8C-199A-420E-AD47-765295E635DE}" type="slidenum">
              <a:rPr lang="en-US" smtClean="0"/>
              <a:t>22</a:t>
            </a:fld>
            <a:endParaRPr lang="en-US"/>
          </a:p>
        </p:txBody>
      </p:sp>
      <p:sp>
        <p:nvSpPr>
          <p:cNvPr id="6" name="Rectangle 5">
            <a:extLst>
              <a:ext uri="{FF2B5EF4-FFF2-40B4-BE49-F238E27FC236}">
                <a16:creationId xmlns:a16="http://schemas.microsoft.com/office/drawing/2014/main" id="{31B29D6B-8476-9005-EFFF-DDC8C87BB079}"/>
              </a:ext>
            </a:extLst>
          </p:cNvPr>
          <p:cNvSpPr/>
          <p:nvPr/>
        </p:nvSpPr>
        <p:spPr>
          <a:xfrm>
            <a:off x="0" y="0"/>
            <a:ext cx="12192000" cy="4511039"/>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6F9CDF43-DD5E-2948-4D8D-276BFA133A56}"/>
              </a:ext>
            </a:extLst>
          </p:cNvPr>
          <p:cNvSpPr txBox="1"/>
          <p:nvPr/>
        </p:nvSpPr>
        <p:spPr>
          <a:xfrm>
            <a:off x="4059522" y="2721114"/>
            <a:ext cx="4072956" cy="830997"/>
          </a:xfrm>
          <a:prstGeom prst="rect">
            <a:avLst/>
          </a:prstGeom>
          <a:noFill/>
        </p:spPr>
        <p:txBody>
          <a:bodyPr wrap="square" rtlCol="0">
            <a:spAutoFit/>
          </a:bodyPr>
          <a:lstStyle/>
          <a:p>
            <a:pPr algn="ctr"/>
            <a:r>
              <a:rPr lang="en-US" sz="4800" dirty="0"/>
              <a:t>Thank You</a:t>
            </a:r>
          </a:p>
        </p:txBody>
      </p:sp>
    </p:spTree>
    <p:extLst>
      <p:ext uri="{BB962C8B-B14F-4D97-AF65-F5344CB8AC3E}">
        <p14:creationId xmlns:p14="http://schemas.microsoft.com/office/powerpoint/2010/main" val="816773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2276</TotalTime>
  <Words>1129</Words>
  <Application>Microsoft Office PowerPoint</Application>
  <PresentationFormat>Widescreen</PresentationFormat>
  <Paragraphs>317</Paragraphs>
  <Slides>22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vt:lpstr>
      <vt:lpstr>Calibri</vt:lpstr>
      <vt:lpstr>Calibri Light</vt:lpstr>
      <vt:lpstr>circular-xx</vt:lpstr>
      <vt:lpstr>gellix-medium</vt:lpstr>
      <vt:lpstr>gellix-semibold</vt:lpstr>
      <vt:lpstr>unset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Antu Chowdhury</dc:creator>
  <cp:lastModifiedBy>Antu Chowdhury</cp:lastModifiedBy>
  <cp:revision>1092</cp:revision>
  <dcterms:created xsi:type="dcterms:W3CDTF">2023-10-31T13:19:43Z</dcterms:created>
  <dcterms:modified xsi:type="dcterms:W3CDTF">2026-09-23T09:45:34Z</dcterms:modified>
</cp:coreProperties>
</file>