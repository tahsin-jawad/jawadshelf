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345" r:id="rId3"/>
    <p:sldId id="382" r:id="rId4"/>
    <p:sldId id="383" r:id="rId5"/>
    <p:sldId id="384" r:id="rId6"/>
    <p:sldId id="386" r:id="rId7"/>
    <p:sldId id="387" r:id="rId8"/>
    <p:sldId id="388" r:id="rId9"/>
    <p:sldId id="390" r:id="rId10"/>
    <p:sldId id="391" r:id="rId11"/>
    <p:sldId id="392" r:id="rId12"/>
    <p:sldId id="393" r:id="rId13"/>
    <p:sldId id="394" r:id="rId14"/>
    <p:sldId id="395" r:id="rId15"/>
    <p:sldId id="396" r:id="rId16"/>
    <p:sldId id="397" r:id="rId17"/>
    <p:sldId id="398" r:id="rId18"/>
    <p:sldId id="399" r:id="rId19"/>
    <p:sldId id="400" r:id="rId20"/>
    <p:sldId id="40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1386" autoAdjust="0"/>
  </p:normalViewPr>
  <p:slideViewPr>
    <p:cSldViewPr snapToGrid="0">
      <p:cViewPr varScale="1">
        <p:scale>
          <a:sx n="67" d="100"/>
          <a:sy n="67" d="100"/>
        </p:scale>
        <p:origin x="852" y="66"/>
      </p:cViewPr>
      <p:guideLst/>
    </p:cSldViewPr>
  </p:slideViewPr>
  <p:notesTextViewPr>
    <p:cViewPr>
      <p:scale>
        <a:sx n="1" d="1"/>
        <a:sy n="1" d="1"/>
      </p:scale>
      <p:origin x="0" y="0"/>
    </p:cViewPr>
  </p:notesTextViewPr>
  <p:sorterViewPr>
    <p:cViewPr>
      <p:scale>
        <a:sx n="200" d="100"/>
        <a:sy n="2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9T18:27:12.738"/>
    </inkml:context>
    <inkml:brush xml:id="br0">
      <inkml:brushProperty name="width" value="0.035" units="cm"/>
      <inkml:brushProperty name="height" value="0.035" units="cm"/>
      <inkml:brushProperty name="color" value="#008C3A"/>
    </inkml:brush>
  </inkml:definitions>
  <inkml:trace contextRef="#ctx0" brushRef="#br0">0 0 24575,'88'0'0,"240"6"0,-259-1 0,-1 3 0,120 30 0,36 39-277,58 48-831,912 558-2064,-64 113 415,-141 28 1881,-790-629 569,-8 8-1,260 362 0,-83 26 696,-39 20 7279,-311-577-7091,-8-13-416,1 0 1,18 25 0,92 107-161,-113-141 0,-2 0 0,1 1 0,-1 0 0,-1 0 0,-1 0 0,5 21 0,13 32 0,-6-29-273,-1 0 0,-2 1 0,-2 1 0,11 64 0,-20-77-6553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9T18:27:13.743"/>
    </inkml:context>
    <inkml:brush xml:id="br0">
      <inkml:brushProperty name="width" value="0.035" units="cm"/>
      <inkml:brushProperty name="height" value="0.035" units="cm"/>
      <inkml:brushProperty name="color" value="#008C3A"/>
    </inkml:brush>
  </inkml:definitions>
  <inkml:trace contextRef="#ctx0" brushRef="#br0">0 917 24575,'10'1'0,"-1"0"0,0 1 0,0 0 0,0 1 0,0 0 0,0 0 0,-1 1 0,1 0 0,13 9 0,1 0 0,56 28 0,396 195 0,-418-212 0,-1 3 0,100 66 0,-139-83 0,-9-11 0,-8-2 0,1-1 0,-1 1 0,1 0 0,-1 0 0,0 0 0,0 0 0,-1 0 0,1 0 0,-2-4 0,-54-257 0,15 94 0,-77-653 0,117 793-26,1 20-242,-1 0 0,1 1 0,-2-1 1,-2-10-1,-1 5-6558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127847-B304-4C28-94C8-2A911D79743A}" type="datetimeFigureOut">
              <a:rPr lang="en-US" smtClean="0"/>
              <a:t>1/18/2026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525345-0DF8-4354-B001-4182F2735B65}" type="slidenum">
              <a:rPr lang="en-US" smtClean="0"/>
              <a:t>‹#›</a:t>
            </a:fld>
            <a:endParaRPr lang="en-US"/>
          </a:p>
        </p:txBody>
      </p:sp>
    </p:spTree>
    <p:extLst>
      <p:ext uri="{BB962C8B-B14F-4D97-AF65-F5344CB8AC3E}">
        <p14:creationId xmlns:p14="http://schemas.microsoft.com/office/powerpoint/2010/main" val="1873878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2525345-0DF8-4354-B001-4182F2735B65}" type="slidenum">
              <a:rPr lang="en-US" smtClean="0"/>
              <a:t>4</a:t>
            </a:fld>
            <a:endParaRPr lang="en-US"/>
          </a:p>
        </p:txBody>
      </p:sp>
    </p:spTree>
    <p:extLst>
      <p:ext uri="{BB962C8B-B14F-4D97-AF65-F5344CB8AC3E}">
        <p14:creationId xmlns:p14="http://schemas.microsoft.com/office/powerpoint/2010/main" val="28824868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2525345-0DF8-4354-B001-4182F2735B65}" type="slidenum">
              <a:rPr lang="en-US" smtClean="0"/>
              <a:t>13</a:t>
            </a:fld>
            <a:endParaRPr lang="en-US"/>
          </a:p>
        </p:txBody>
      </p:sp>
    </p:spTree>
    <p:extLst>
      <p:ext uri="{BB962C8B-B14F-4D97-AF65-F5344CB8AC3E}">
        <p14:creationId xmlns:p14="http://schemas.microsoft.com/office/powerpoint/2010/main" val="14327064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B74E0-7E1A-9044-1963-AB990756772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8D231D7-8739-2D7B-B801-587FF4A1F8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3623538-811C-7B56-74FF-4819B18A9AC1}"/>
              </a:ext>
            </a:extLst>
          </p:cNvPr>
          <p:cNvSpPr>
            <a:spLocks noGrp="1"/>
          </p:cNvSpPr>
          <p:nvPr>
            <p:ph type="dt" sz="half" idx="10"/>
          </p:nvPr>
        </p:nvSpPr>
        <p:spPr/>
        <p:txBody>
          <a:bodyPr/>
          <a:lstStyle/>
          <a:p>
            <a:fld id="{CE41289E-E45A-4C80-BB84-7EC5952FE76B}" type="datetimeFigureOut">
              <a:rPr lang="en-US" smtClean="0"/>
              <a:t>1/18/2026</a:t>
            </a:fld>
            <a:endParaRPr lang="en-US"/>
          </a:p>
        </p:txBody>
      </p:sp>
      <p:sp>
        <p:nvSpPr>
          <p:cNvPr id="5" name="Footer Placeholder 4">
            <a:extLst>
              <a:ext uri="{FF2B5EF4-FFF2-40B4-BE49-F238E27FC236}">
                <a16:creationId xmlns:a16="http://schemas.microsoft.com/office/drawing/2014/main" id="{0F240D5B-B05F-8235-7AC7-6550B1C257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94FB47-F9D1-1062-2BAF-E7075967E2A2}"/>
              </a:ext>
            </a:extLst>
          </p:cNvPr>
          <p:cNvSpPr>
            <a:spLocks noGrp="1"/>
          </p:cNvSpPr>
          <p:nvPr>
            <p:ph type="sldNum" sz="quarter" idx="12"/>
          </p:nvPr>
        </p:nvSpPr>
        <p:spPr/>
        <p:txBody>
          <a:bodyPr/>
          <a:lstStyle/>
          <a:p>
            <a:fld id="{E199BF8C-199A-420E-AD47-765295E635DE}" type="slidenum">
              <a:rPr lang="en-US" smtClean="0"/>
              <a:t>‹#›</a:t>
            </a:fld>
            <a:endParaRPr lang="en-US"/>
          </a:p>
        </p:txBody>
      </p:sp>
    </p:spTree>
    <p:extLst>
      <p:ext uri="{BB962C8B-B14F-4D97-AF65-F5344CB8AC3E}">
        <p14:creationId xmlns:p14="http://schemas.microsoft.com/office/powerpoint/2010/main" val="3748421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7DE4D-7B28-724D-1D27-C64326D0A7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44BD403-3D21-D435-D62B-41549ED7C3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4FC2FD-29D7-E211-7716-A749CFFFA226}"/>
              </a:ext>
            </a:extLst>
          </p:cNvPr>
          <p:cNvSpPr>
            <a:spLocks noGrp="1"/>
          </p:cNvSpPr>
          <p:nvPr>
            <p:ph type="dt" sz="half" idx="10"/>
          </p:nvPr>
        </p:nvSpPr>
        <p:spPr/>
        <p:txBody>
          <a:bodyPr/>
          <a:lstStyle/>
          <a:p>
            <a:fld id="{CE41289E-E45A-4C80-BB84-7EC5952FE76B}" type="datetimeFigureOut">
              <a:rPr lang="en-US" smtClean="0"/>
              <a:t>1/18/2026</a:t>
            </a:fld>
            <a:endParaRPr lang="en-US"/>
          </a:p>
        </p:txBody>
      </p:sp>
      <p:sp>
        <p:nvSpPr>
          <p:cNvPr id="5" name="Footer Placeholder 4">
            <a:extLst>
              <a:ext uri="{FF2B5EF4-FFF2-40B4-BE49-F238E27FC236}">
                <a16:creationId xmlns:a16="http://schemas.microsoft.com/office/drawing/2014/main" id="{289E0F15-AD87-9094-6FEE-6EBDB68506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625AC8-82FF-4F34-9D39-E7A6A15EBD5F}"/>
              </a:ext>
            </a:extLst>
          </p:cNvPr>
          <p:cNvSpPr>
            <a:spLocks noGrp="1"/>
          </p:cNvSpPr>
          <p:nvPr>
            <p:ph type="sldNum" sz="quarter" idx="12"/>
          </p:nvPr>
        </p:nvSpPr>
        <p:spPr/>
        <p:txBody>
          <a:bodyPr/>
          <a:lstStyle/>
          <a:p>
            <a:fld id="{E199BF8C-199A-420E-AD47-765295E635DE}" type="slidenum">
              <a:rPr lang="en-US" smtClean="0"/>
              <a:t>‹#›</a:t>
            </a:fld>
            <a:endParaRPr lang="en-US"/>
          </a:p>
        </p:txBody>
      </p:sp>
    </p:spTree>
    <p:extLst>
      <p:ext uri="{BB962C8B-B14F-4D97-AF65-F5344CB8AC3E}">
        <p14:creationId xmlns:p14="http://schemas.microsoft.com/office/powerpoint/2010/main" val="823337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36C4-3658-4C0A-2832-105793512A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B39FA9E-AAF0-A626-E993-015A4B44A55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B25676-E101-6FA9-27D6-5D114BB2730C}"/>
              </a:ext>
            </a:extLst>
          </p:cNvPr>
          <p:cNvSpPr>
            <a:spLocks noGrp="1"/>
          </p:cNvSpPr>
          <p:nvPr>
            <p:ph type="dt" sz="half" idx="10"/>
          </p:nvPr>
        </p:nvSpPr>
        <p:spPr/>
        <p:txBody>
          <a:bodyPr/>
          <a:lstStyle/>
          <a:p>
            <a:fld id="{CE41289E-E45A-4C80-BB84-7EC5952FE76B}" type="datetimeFigureOut">
              <a:rPr lang="en-US" smtClean="0"/>
              <a:t>1/18/2026</a:t>
            </a:fld>
            <a:endParaRPr lang="en-US"/>
          </a:p>
        </p:txBody>
      </p:sp>
      <p:sp>
        <p:nvSpPr>
          <p:cNvPr id="5" name="Footer Placeholder 4">
            <a:extLst>
              <a:ext uri="{FF2B5EF4-FFF2-40B4-BE49-F238E27FC236}">
                <a16:creationId xmlns:a16="http://schemas.microsoft.com/office/drawing/2014/main" id="{9EEF2E8C-C3C3-D0D3-EB0F-35C49BBFC6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C4CE9E-3406-D835-B3DD-0C19A71FDD0A}"/>
              </a:ext>
            </a:extLst>
          </p:cNvPr>
          <p:cNvSpPr>
            <a:spLocks noGrp="1"/>
          </p:cNvSpPr>
          <p:nvPr>
            <p:ph type="sldNum" sz="quarter" idx="12"/>
          </p:nvPr>
        </p:nvSpPr>
        <p:spPr/>
        <p:txBody>
          <a:bodyPr/>
          <a:lstStyle/>
          <a:p>
            <a:fld id="{E199BF8C-199A-420E-AD47-765295E635DE}" type="slidenum">
              <a:rPr lang="en-US" smtClean="0"/>
              <a:t>‹#›</a:t>
            </a:fld>
            <a:endParaRPr lang="en-US"/>
          </a:p>
        </p:txBody>
      </p:sp>
    </p:spTree>
    <p:extLst>
      <p:ext uri="{BB962C8B-B14F-4D97-AF65-F5344CB8AC3E}">
        <p14:creationId xmlns:p14="http://schemas.microsoft.com/office/powerpoint/2010/main" val="164699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6208A-5FD0-BB4A-DC5A-691B07E46A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4F1ED5-CC10-79D0-11BA-7955A9493F5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9C115F3-CD11-F477-F88B-0E47115BFD4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C1D8F12-2476-E230-645E-35CC988EB7CE}"/>
              </a:ext>
            </a:extLst>
          </p:cNvPr>
          <p:cNvSpPr>
            <a:spLocks noGrp="1"/>
          </p:cNvSpPr>
          <p:nvPr>
            <p:ph type="dt" sz="half" idx="10"/>
          </p:nvPr>
        </p:nvSpPr>
        <p:spPr/>
        <p:txBody>
          <a:bodyPr/>
          <a:lstStyle/>
          <a:p>
            <a:fld id="{CE41289E-E45A-4C80-BB84-7EC5952FE76B}" type="datetimeFigureOut">
              <a:rPr lang="en-US" smtClean="0"/>
              <a:t>1/18/2026</a:t>
            </a:fld>
            <a:endParaRPr lang="en-US"/>
          </a:p>
        </p:txBody>
      </p:sp>
      <p:sp>
        <p:nvSpPr>
          <p:cNvPr id="6" name="Footer Placeholder 5">
            <a:extLst>
              <a:ext uri="{FF2B5EF4-FFF2-40B4-BE49-F238E27FC236}">
                <a16:creationId xmlns:a16="http://schemas.microsoft.com/office/drawing/2014/main" id="{AA69849E-D08D-5B15-C650-B85A83D282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AED30C-F894-DDB6-4C9E-8ECBDBC2D739}"/>
              </a:ext>
            </a:extLst>
          </p:cNvPr>
          <p:cNvSpPr>
            <a:spLocks noGrp="1"/>
          </p:cNvSpPr>
          <p:nvPr>
            <p:ph type="sldNum" sz="quarter" idx="12"/>
          </p:nvPr>
        </p:nvSpPr>
        <p:spPr/>
        <p:txBody>
          <a:bodyPr/>
          <a:lstStyle/>
          <a:p>
            <a:fld id="{E199BF8C-199A-420E-AD47-765295E635DE}" type="slidenum">
              <a:rPr lang="en-US" smtClean="0"/>
              <a:t>‹#›</a:t>
            </a:fld>
            <a:endParaRPr lang="en-US"/>
          </a:p>
        </p:txBody>
      </p:sp>
    </p:spTree>
    <p:extLst>
      <p:ext uri="{BB962C8B-B14F-4D97-AF65-F5344CB8AC3E}">
        <p14:creationId xmlns:p14="http://schemas.microsoft.com/office/powerpoint/2010/main" val="26869460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36B7F-08E0-0409-6A63-8DF21E68F73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A575D18-A8C9-7A1C-F960-5A33FCAA2B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62646F-9BF5-5304-4CFF-34CE9D4CE7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C0B9820-848D-5454-C1FE-6C28278BB9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88DA15-2CDA-E791-2AB7-113AA732E5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EAA4CD3-FED2-3D32-EC65-B005DB1119BB}"/>
              </a:ext>
            </a:extLst>
          </p:cNvPr>
          <p:cNvSpPr>
            <a:spLocks noGrp="1"/>
          </p:cNvSpPr>
          <p:nvPr>
            <p:ph type="dt" sz="half" idx="10"/>
          </p:nvPr>
        </p:nvSpPr>
        <p:spPr/>
        <p:txBody>
          <a:bodyPr/>
          <a:lstStyle/>
          <a:p>
            <a:fld id="{CE41289E-E45A-4C80-BB84-7EC5952FE76B}" type="datetimeFigureOut">
              <a:rPr lang="en-US" smtClean="0"/>
              <a:t>1/18/2026</a:t>
            </a:fld>
            <a:endParaRPr lang="en-US"/>
          </a:p>
        </p:txBody>
      </p:sp>
      <p:sp>
        <p:nvSpPr>
          <p:cNvPr id="8" name="Footer Placeholder 7">
            <a:extLst>
              <a:ext uri="{FF2B5EF4-FFF2-40B4-BE49-F238E27FC236}">
                <a16:creationId xmlns:a16="http://schemas.microsoft.com/office/drawing/2014/main" id="{7CB64417-37F5-B517-EE87-A44AC23B9F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D8B59D2-15E3-523A-74EA-F54EAE2860A1}"/>
              </a:ext>
            </a:extLst>
          </p:cNvPr>
          <p:cNvSpPr>
            <a:spLocks noGrp="1"/>
          </p:cNvSpPr>
          <p:nvPr>
            <p:ph type="sldNum" sz="quarter" idx="12"/>
          </p:nvPr>
        </p:nvSpPr>
        <p:spPr/>
        <p:txBody>
          <a:bodyPr/>
          <a:lstStyle/>
          <a:p>
            <a:fld id="{E199BF8C-199A-420E-AD47-765295E635DE}" type="slidenum">
              <a:rPr lang="en-US" smtClean="0"/>
              <a:t>‹#›</a:t>
            </a:fld>
            <a:endParaRPr lang="en-US"/>
          </a:p>
        </p:txBody>
      </p:sp>
    </p:spTree>
    <p:extLst>
      <p:ext uri="{BB962C8B-B14F-4D97-AF65-F5344CB8AC3E}">
        <p14:creationId xmlns:p14="http://schemas.microsoft.com/office/powerpoint/2010/main" val="2005705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5AE88-DC90-6B68-F0BB-F8691F4A404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772919-0B81-729A-4324-E22C2C67BC95}"/>
              </a:ext>
            </a:extLst>
          </p:cNvPr>
          <p:cNvSpPr>
            <a:spLocks noGrp="1"/>
          </p:cNvSpPr>
          <p:nvPr>
            <p:ph type="dt" sz="half" idx="10"/>
          </p:nvPr>
        </p:nvSpPr>
        <p:spPr/>
        <p:txBody>
          <a:bodyPr/>
          <a:lstStyle/>
          <a:p>
            <a:fld id="{CE41289E-E45A-4C80-BB84-7EC5952FE76B}" type="datetimeFigureOut">
              <a:rPr lang="en-US" smtClean="0"/>
              <a:t>1/18/2026</a:t>
            </a:fld>
            <a:endParaRPr lang="en-US"/>
          </a:p>
        </p:txBody>
      </p:sp>
      <p:sp>
        <p:nvSpPr>
          <p:cNvPr id="4" name="Footer Placeholder 3">
            <a:extLst>
              <a:ext uri="{FF2B5EF4-FFF2-40B4-BE49-F238E27FC236}">
                <a16:creationId xmlns:a16="http://schemas.microsoft.com/office/drawing/2014/main" id="{3D937C64-A502-192A-8E32-135AA36CA4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DE2735-5BBD-DFB2-0FE7-AF81DB292A31}"/>
              </a:ext>
            </a:extLst>
          </p:cNvPr>
          <p:cNvSpPr>
            <a:spLocks noGrp="1"/>
          </p:cNvSpPr>
          <p:nvPr>
            <p:ph type="sldNum" sz="quarter" idx="12"/>
          </p:nvPr>
        </p:nvSpPr>
        <p:spPr/>
        <p:txBody>
          <a:bodyPr/>
          <a:lstStyle/>
          <a:p>
            <a:fld id="{E199BF8C-199A-420E-AD47-765295E635DE}" type="slidenum">
              <a:rPr lang="en-US" smtClean="0"/>
              <a:t>‹#›</a:t>
            </a:fld>
            <a:endParaRPr lang="en-US"/>
          </a:p>
        </p:txBody>
      </p:sp>
    </p:spTree>
    <p:extLst>
      <p:ext uri="{BB962C8B-B14F-4D97-AF65-F5344CB8AC3E}">
        <p14:creationId xmlns:p14="http://schemas.microsoft.com/office/powerpoint/2010/main" val="1909315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9FFA1D-3F39-9D0E-3470-7CE62557597E}"/>
              </a:ext>
            </a:extLst>
          </p:cNvPr>
          <p:cNvSpPr>
            <a:spLocks noGrp="1"/>
          </p:cNvSpPr>
          <p:nvPr>
            <p:ph type="dt" sz="half" idx="10"/>
          </p:nvPr>
        </p:nvSpPr>
        <p:spPr/>
        <p:txBody>
          <a:bodyPr/>
          <a:lstStyle/>
          <a:p>
            <a:fld id="{CE41289E-E45A-4C80-BB84-7EC5952FE76B}" type="datetimeFigureOut">
              <a:rPr lang="en-US" smtClean="0"/>
              <a:t>1/18/2026</a:t>
            </a:fld>
            <a:endParaRPr lang="en-US"/>
          </a:p>
        </p:txBody>
      </p:sp>
      <p:sp>
        <p:nvSpPr>
          <p:cNvPr id="3" name="Footer Placeholder 2">
            <a:extLst>
              <a:ext uri="{FF2B5EF4-FFF2-40B4-BE49-F238E27FC236}">
                <a16:creationId xmlns:a16="http://schemas.microsoft.com/office/drawing/2014/main" id="{326A6BC9-C1E2-5FF2-E463-F819DB612DC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7FD7480-FE9E-F04F-9FFD-EC9A4B574336}"/>
              </a:ext>
            </a:extLst>
          </p:cNvPr>
          <p:cNvSpPr>
            <a:spLocks noGrp="1"/>
          </p:cNvSpPr>
          <p:nvPr>
            <p:ph type="sldNum" sz="quarter" idx="12"/>
          </p:nvPr>
        </p:nvSpPr>
        <p:spPr/>
        <p:txBody>
          <a:bodyPr/>
          <a:lstStyle/>
          <a:p>
            <a:fld id="{E199BF8C-199A-420E-AD47-765295E635DE}" type="slidenum">
              <a:rPr lang="en-US" smtClean="0"/>
              <a:t>‹#›</a:t>
            </a:fld>
            <a:endParaRPr lang="en-US"/>
          </a:p>
        </p:txBody>
      </p:sp>
    </p:spTree>
    <p:extLst>
      <p:ext uri="{BB962C8B-B14F-4D97-AF65-F5344CB8AC3E}">
        <p14:creationId xmlns:p14="http://schemas.microsoft.com/office/powerpoint/2010/main" val="1925326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7CFDD-EB61-C133-23C2-E12DC64448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983CB9A-198E-5DC7-D016-60399DA296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1075C1B-F211-0F21-EEF5-30C3715969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6B3AA3-DFA9-2128-4B54-64CFB85C3FD5}"/>
              </a:ext>
            </a:extLst>
          </p:cNvPr>
          <p:cNvSpPr>
            <a:spLocks noGrp="1"/>
          </p:cNvSpPr>
          <p:nvPr>
            <p:ph type="dt" sz="half" idx="10"/>
          </p:nvPr>
        </p:nvSpPr>
        <p:spPr/>
        <p:txBody>
          <a:bodyPr/>
          <a:lstStyle/>
          <a:p>
            <a:fld id="{CE41289E-E45A-4C80-BB84-7EC5952FE76B}" type="datetimeFigureOut">
              <a:rPr lang="en-US" smtClean="0"/>
              <a:t>1/18/2026</a:t>
            </a:fld>
            <a:endParaRPr lang="en-US"/>
          </a:p>
        </p:txBody>
      </p:sp>
      <p:sp>
        <p:nvSpPr>
          <p:cNvPr id="6" name="Footer Placeholder 5">
            <a:extLst>
              <a:ext uri="{FF2B5EF4-FFF2-40B4-BE49-F238E27FC236}">
                <a16:creationId xmlns:a16="http://schemas.microsoft.com/office/drawing/2014/main" id="{D07A3595-E790-FF9F-B02A-C0F257C17E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DFD15B-AB07-AB44-07E4-CA9705B3147B}"/>
              </a:ext>
            </a:extLst>
          </p:cNvPr>
          <p:cNvSpPr>
            <a:spLocks noGrp="1"/>
          </p:cNvSpPr>
          <p:nvPr>
            <p:ph type="sldNum" sz="quarter" idx="12"/>
          </p:nvPr>
        </p:nvSpPr>
        <p:spPr/>
        <p:txBody>
          <a:bodyPr/>
          <a:lstStyle/>
          <a:p>
            <a:fld id="{E199BF8C-199A-420E-AD47-765295E635DE}" type="slidenum">
              <a:rPr lang="en-US" smtClean="0"/>
              <a:t>‹#›</a:t>
            </a:fld>
            <a:endParaRPr lang="en-US"/>
          </a:p>
        </p:txBody>
      </p:sp>
    </p:spTree>
    <p:extLst>
      <p:ext uri="{BB962C8B-B14F-4D97-AF65-F5344CB8AC3E}">
        <p14:creationId xmlns:p14="http://schemas.microsoft.com/office/powerpoint/2010/main" val="2608242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7DDE3-CC70-7D66-9A21-4E955999EA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FBDBB4-11E1-36DA-EC21-A807FC9BD7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5E6F971-1021-7FA6-22A4-B7B1FF527B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51FE62-7809-C9EE-DC17-1225FFE45209}"/>
              </a:ext>
            </a:extLst>
          </p:cNvPr>
          <p:cNvSpPr>
            <a:spLocks noGrp="1"/>
          </p:cNvSpPr>
          <p:nvPr>
            <p:ph type="dt" sz="half" idx="10"/>
          </p:nvPr>
        </p:nvSpPr>
        <p:spPr/>
        <p:txBody>
          <a:bodyPr/>
          <a:lstStyle/>
          <a:p>
            <a:fld id="{CE41289E-E45A-4C80-BB84-7EC5952FE76B}" type="datetimeFigureOut">
              <a:rPr lang="en-US" smtClean="0"/>
              <a:t>1/18/2026</a:t>
            </a:fld>
            <a:endParaRPr lang="en-US"/>
          </a:p>
        </p:txBody>
      </p:sp>
      <p:sp>
        <p:nvSpPr>
          <p:cNvPr id="6" name="Footer Placeholder 5">
            <a:extLst>
              <a:ext uri="{FF2B5EF4-FFF2-40B4-BE49-F238E27FC236}">
                <a16:creationId xmlns:a16="http://schemas.microsoft.com/office/drawing/2014/main" id="{8B263811-35EA-D69D-9703-A149FF7ED6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BDA5B4-EF99-39F6-BF6F-FC963C149440}"/>
              </a:ext>
            </a:extLst>
          </p:cNvPr>
          <p:cNvSpPr>
            <a:spLocks noGrp="1"/>
          </p:cNvSpPr>
          <p:nvPr>
            <p:ph type="sldNum" sz="quarter" idx="12"/>
          </p:nvPr>
        </p:nvSpPr>
        <p:spPr/>
        <p:txBody>
          <a:bodyPr/>
          <a:lstStyle/>
          <a:p>
            <a:fld id="{E199BF8C-199A-420E-AD47-765295E635DE}" type="slidenum">
              <a:rPr lang="en-US" smtClean="0"/>
              <a:t>‹#›</a:t>
            </a:fld>
            <a:endParaRPr lang="en-US"/>
          </a:p>
        </p:txBody>
      </p:sp>
    </p:spTree>
    <p:extLst>
      <p:ext uri="{BB962C8B-B14F-4D97-AF65-F5344CB8AC3E}">
        <p14:creationId xmlns:p14="http://schemas.microsoft.com/office/powerpoint/2010/main" val="12574273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C8389-99EE-F1B2-C7F4-9A676335873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BEAAFD6-F006-27A1-A117-7461E3CD87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4253E5-C2EE-46E0-14A1-0730661E29FE}"/>
              </a:ext>
            </a:extLst>
          </p:cNvPr>
          <p:cNvSpPr>
            <a:spLocks noGrp="1"/>
          </p:cNvSpPr>
          <p:nvPr>
            <p:ph type="dt" sz="half" idx="10"/>
          </p:nvPr>
        </p:nvSpPr>
        <p:spPr/>
        <p:txBody>
          <a:bodyPr/>
          <a:lstStyle/>
          <a:p>
            <a:fld id="{CE41289E-E45A-4C80-BB84-7EC5952FE76B}" type="datetimeFigureOut">
              <a:rPr lang="en-US" smtClean="0"/>
              <a:t>1/18/2026</a:t>
            </a:fld>
            <a:endParaRPr lang="en-US"/>
          </a:p>
        </p:txBody>
      </p:sp>
      <p:sp>
        <p:nvSpPr>
          <p:cNvPr id="5" name="Footer Placeholder 4">
            <a:extLst>
              <a:ext uri="{FF2B5EF4-FFF2-40B4-BE49-F238E27FC236}">
                <a16:creationId xmlns:a16="http://schemas.microsoft.com/office/drawing/2014/main" id="{76097061-F268-74D2-0CF4-A6D479E621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405A30-A027-27C9-9A6E-25839C8650F6}"/>
              </a:ext>
            </a:extLst>
          </p:cNvPr>
          <p:cNvSpPr>
            <a:spLocks noGrp="1"/>
          </p:cNvSpPr>
          <p:nvPr>
            <p:ph type="sldNum" sz="quarter" idx="12"/>
          </p:nvPr>
        </p:nvSpPr>
        <p:spPr/>
        <p:txBody>
          <a:bodyPr/>
          <a:lstStyle/>
          <a:p>
            <a:fld id="{E199BF8C-199A-420E-AD47-765295E635DE}" type="slidenum">
              <a:rPr lang="en-US" smtClean="0"/>
              <a:t>‹#›</a:t>
            </a:fld>
            <a:endParaRPr lang="en-US"/>
          </a:p>
        </p:txBody>
      </p:sp>
    </p:spTree>
    <p:extLst>
      <p:ext uri="{BB962C8B-B14F-4D97-AF65-F5344CB8AC3E}">
        <p14:creationId xmlns:p14="http://schemas.microsoft.com/office/powerpoint/2010/main" val="16726041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221C61-421D-FC1F-7244-54E9A10E25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5D8FDF-A85A-9B98-6464-CB3590E44A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305F2D-A0E2-999F-A12C-75E1CB432800}"/>
              </a:ext>
            </a:extLst>
          </p:cNvPr>
          <p:cNvSpPr>
            <a:spLocks noGrp="1"/>
          </p:cNvSpPr>
          <p:nvPr>
            <p:ph type="dt" sz="half" idx="10"/>
          </p:nvPr>
        </p:nvSpPr>
        <p:spPr/>
        <p:txBody>
          <a:bodyPr/>
          <a:lstStyle/>
          <a:p>
            <a:fld id="{CE41289E-E45A-4C80-BB84-7EC5952FE76B}" type="datetimeFigureOut">
              <a:rPr lang="en-US" smtClean="0"/>
              <a:t>1/18/2026</a:t>
            </a:fld>
            <a:endParaRPr lang="en-US"/>
          </a:p>
        </p:txBody>
      </p:sp>
      <p:sp>
        <p:nvSpPr>
          <p:cNvPr id="5" name="Footer Placeholder 4">
            <a:extLst>
              <a:ext uri="{FF2B5EF4-FFF2-40B4-BE49-F238E27FC236}">
                <a16:creationId xmlns:a16="http://schemas.microsoft.com/office/drawing/2014/main" id="{C75823BD-87D1-B842-C576-99256AB353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E1F7BA-1B23-7AA4-79CF-1300842904AA}"/>
              </a:ext>
            </a:extLst>
          </p:cNvPr>
          <p:cNvSpPr>
            <a:spLocks noGrp="1"/>
          </p:cNvSpPr>
          <p:nvPr>
            <p:ph type="sldNum" sz="quarter" idx="12"/>
          </p:nvPr>
        </p:nvSpPr>
        <p:spPr/>
        <p:txBody>
          <a:bodyPr/>
          <a:lstStyle/>
          <a:p>
            <a:fld id="{E199BF8C-199A-420E-AD47-765295E635DE}" type="slidenum">
              <a:rPr lang="en-US" smtClean="0"/>
              <a:t>‹#›</a:t>
            </a:fld>
            <a:endParaRPr lang="en-US"/>
          </a:p>
        </p:txBody>
      </p:sp>
    </p:spTree>
    <p:extLst>
      <p:ext uri="{BB962C8B-B14F-4D97-AF65-F5344CB8AC3E}">
        <p14:creationId xmlns:p14="http://schemas.microsoft.com/office/powerpoint/2010/main" val="167214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4975EF-4F41-E50C-3FFA-89BC80AF02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5967CEA-1F24-33C9-A26A-1CC5907307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57147C-47D9-7370-DBCA-13A9C37F27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41289E-E45A-4C80-BB84-7EC5952FE76B}" type="datetimeFigureOut">
              <a:rPr lang="en-US" smtClean="0"/>
              <a:t>1/18/2026</a:t>
            </a:fld>
            <a:endParaRPr lang="en-US"/>
          </a:p>
        </p:txBody>
      </p:sp>
      <p:sp>
        <p:nvSpPr>
          <p:cNvPr id="5" name="Footer Placeholder 4">
            <a:extLst>
              <a:ext uri="{FF2B5EF4-FFF2-40B4-BE49-F238E27FC236}">
                <a16:creationId xmlns:a16="http://schemas.microsoft.com/office/drawing/2014/main" id="{E7B52AD8-897D-31D1-337B-B548640664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F8121EA-D5F4-9A2F-D492-32AB4FC226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99BF8C-199A-420E-AD47-765295E635DE}" type="slidenum">
              <a:rPr lang="en-US" smtClean="0"/>
              <a:t>‹#›</a:t>
            </a:fld>
            <a:endParaRPr lang="en-US"/>
          </a:p>
        </p:txBody>
      </p:sp>
    </p:spTree>
    <p:extLst>
      <p:ext uri="{BB962C8B-B14F-4D97-AF65-F5344CB8AC3E}">
        <p14:creationId xmlns:p14="http://schemas.microsoft.com/office/powerpoint/2010/main" val="24641611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customXml" Target="../ink/ink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customXml" Target="../ink/ink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06BA711-228E-B45C-8179-D76B6A5490E1}"/>
              </a:ext>
            </a:extLst>
          </p:cNvPr>
          <p:cNvSpPr>
            <a:spLocks noGrp="1"/>
          </p:cNvSpPr>
          <p:nvPr>
            <p:ph type="dt" sz="half" idx="10"/>
          </p:nvPr>
        </p:nvSpPr>
        <p:spPr/>
        <p:txBody>
          <a:bodyPr/>
          <a:lstStyle/>
          <a:p>
            <a:fld id="{C1CDDB05-7545-485D-BAE6-2CE87714CF19}" type="datetime1">
              <a:rPr lang="en-US" smtClean="0"/>
              <a:t>1/18/2026</a:t>
            </a:fld>
            <a:endParaRPr lang="en-US"/>
          </a:p>
        </p:txBody>
      </p:sp>
      <p:sp>
        <p:nvSpPr>
          <p:cNvPr id="5" name="Slide Number Placeholder 4">
            <a:extLst>
              <a:ext uri="{FF2B5EF4-FFF2-40B4-BE49-F238E27FC236}">
                <a16:creationId xmlns:a16="http://schemas.microsoft.com/office/drawing/2014/main" id="{2C96A1E9-DA17-11CA-721D-75EA6BD1D733}"/>
              </a:ext>
            </a:extLst>
          </p:cNvPr>
          <p:cNvSpPr>
            <a:spLocks noGrp="1"/>
          </p:cNvSpPr>
          <p:nvPr>
            <p:ph type="sldNum" sz="quarter" idx="12"/>
          </p:nvPr>
        </p:nvSpPr>
        <p:spPr/>
        <p:txBody>
          <a:bodyPr/>
          <a:lstStyle/>
          <a:p>
            <a:fld id="{E199BF8C-199A-420E-AD47-765295E635DE}" type="slidenum">
              <a:rPr lang="en-US" smtClean="0"/>
              <a:t>1</a:t>
            </a:fld>
            <a:endParaRPr lang="en-US"/>
          </a:p>
        </p:txBody>
      </p:sp>
      <p:sp>
        <p:nvSpPr>
          <p:cNvPr id="6" name="Rectangle 5">
            <a:extLst>
              <a:ext uri="{FF2B5EF4-FFF2-40B4-BE49-F238E27FC236}">
                <a16:creationId xmlns:a16="http://schemas.microsoft.com/office/drawing/2014/main" id="{31B29D6B-8476-9005-EFFF-DDC8C87BB079}"/>
              </a:ext>
            </a:extLst>
          </p:cNvPr>
          <p:cNvSpPr/>
          <p:nvPr/>
        </p:nvSpPr>
        <p:spPr>
          <a:xfrm>
            <a:off x="0" y="0"/>
            <a:ext cx="12192000" cy="3917617"/>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F9CDF43-DD5E-2948-4D8D-276BFA133A56}"/>
              </a:ext>
            </a:extLst>
          </p:cNvPr>
          <p:cNvSpPr txBox="1"/>
          <p:nvPr/>
        </p:nvSpPr>
        <p:spPr>
          <a:xfrm>
            <a:off x="1747934" y="2303997"/>
            <a:ext cx="8696131" cy="707886"/>
          </a:xfrm>
          <a:prstGeom prst="rect">
            <a:avLst/>
          </a:prstGeom>
          <a:noFill/>
        </p:spPr>
        <p:txBody>
          <a:bodyPr wrap="square" rtlCol="0">
            <a:spAutoFit/>
          </a:bodyPr>
          <a:lstStyle/>
          <a:p>
            <a:pPr algn="ctr"/>
            <a:r>
              <a:rPr lang="en-US" sz="4000" dirty="0" smtClean="0"/>
              <a:t>CSE302||Database Systems</a:t>
            </a:r>
            <a:endParaRPr lang="en-US" sz="4000" dirty="0"/>
          </a:p>
        </p:txBody>
      </p:sp>
      <p:sp>
        <p:nvSpPr>
          <p:cNvPr id="8" name="TextBox 7">
            <a:extLst>
              <a:ext uri="{FF2B5EF4-FFF2-40B4-BE49-F238E27FC236}">
                <a16:creationId xmlns:a16="http://schemas.microsoft.com/office/drawing/2014/main" id="{8C42BC90-E106-42E6-E851-4B940F35A807}"/>
              </a:ext>
            </a:extLst>
          </p:cNvPr>
          <p:cNvSpPr txBox="1"/>
          <p:nvPr/>
        </p:nvSpPr>
        <p:spPr>
          <a:xfrm>
            <a:off x="5612904" y="4048998"/>
            <a:ext cx="6395441" cy="1569660"/>
          </a:xfrm>
          <a:prstGeom prst="rect">
            <a:avLst/>
          </a:prstGeom>
          <a:noFill/>
        </p:spPr>
        <p:txBody>
          <a:bodyPr wrap="square" rtlCol="0">
            <a:spAutoFit/>
          </a:bodyPr>
          <a:lstStyle/>
          <a:p>
            <a:pPr algn="r"/>
            <a:r>
              <a:rPr lang="en-US" sz="2400" dirty="0" err="1" smtClean="0"/>
              <a:t>Antu</a:t>
            </a:r>
            <a:r>
              <a:rPr lang="en-US" sz="2400" dirty="0" smtClean="0"/>
              <a:t> Chowdhury</a:t>
            </a:r>
          </a:p>
          <a:p>
            <a:pPr algn="r"/>
            <a:r>
              <a:rPr lang="en-US" sz="2400" dirty="0" smtClean="0"/>
              <a:t>Lecturer</a:t>
            </a:r>
            <a:r>
              <a:rPr lang="en-US" sz="2400" dirty="0"/>
              <a:t>, </a:t>
            </a:r>
          </a:p>
          <a:p>
            <a:pPr algn="r"/>
            <a:r>
              <a:rPr lang="en-US" sz="2400" dirty="0"/>
              <a:t>Dept. of CSE</a:t>
            </a:r>
          </a:p>
          <a:p>
            <a:pPr algn="r"/>
            <a:r>
              <a:rPr lang="en-US" sz="2400" dirty="0" smtClean="0"/>
              <a:t>East West University</a:t>
            </a:r>
            <a:endParaRPr lang="en-US" sz="2400" dirty="0"/>
          </a:p>
        </p:txBody>
      </p:sp>
    </p:spTree>
    <p:extLst>
      <p:ext uri="{BB962C8B-B14F-4D97-AF65-F5344CB8AC3E}">
        <p14:creationId xmlns:p14="http://schemas.microsoft.com/office/powerpoint/2010/main" val="8699364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06BA711-228E-B45C-8179-D76B6A5490E1}"/>
              </a:ext>
            </a:extLst>
          </p:cNvPr>
          <p:cNvSpPr>
            <a:spLocks noGrp="1"/>
          </p:cNvSpPr>
          <p:nvPr>
            <p:ph type="dt" sz="half" idx="10"/>
          </p:nvPr>
        </p:nvSpPr>
        <p:spPr/>
        <p:txBody>
          <a:bodyPr/>
          <a:lstStyle/>
          <a:p>
            <a:fld id="{C1CDDB05-7545-485D-BAE6-2CE87714CF19}" type="datetime1">
              <a:rPr lang="en-US" smtClean="0"/>
              <a:t>1/18/2026</a:t>
            </a:fld>
            <a:endParaRPr lang="en-US"/>
          </a:p>
        </p:txBody>
      </p:sp>
      <p:sp>
        <p:nvSpPr>
          <p:cNvPr id="5" name="Slide Number Placeholder 4">
            <a:extLst>
              <a:ext uri="{FF2B5EF4-FFF2-40B4-BE49-F238E27FC236}">
                <a16:creationId xmlns:a16="http://schemas.microsoft.com/office/drawing/2014/main" id="{2C96A1E9-DA17-11CA-721D-75EA6BD1D733}"/>
              </a:ext>
            </a:extLst>
          </p:cNvPr>
          <p:cNvSpPr>
            <a:spLocks noGrp="1"/>
          </p:cNvSpPr>
          <p:nvPr>
            <p:ph type="sldNum" sz="quarter" idx="12"/>
          </p:nvPr>
        </p:nvSpPr>
        <p:spPr/>
        <p:txBody>
          <a:bodyPr/>
          <a:lstStyle/>
          <a:p>
            <a:fld id="{E199BF8C-199A-420E-AD47-765295E635DE}" type="slidenum">
              <a:rPr lang="en-US" smtClean="0"/>
              <a:t>2</a:t>
            </a:fld>
            <a:endParaRPr lang="en-US"/>
          </a:p>
        </p:txBody>
      </p:sp>
      <p:sp>
        <p:nvSpPr>
          <p:cNvPr id="6" name="Rectangle 5">
            <a:extLst>
              <a:ext uri="{FF2B5EF4-FFF2-40B4-BE49-F238E27FC236}">
                <a16:creationId xmlns:a16="http://schemas.microsoft.com/office/drawing/2014/main" id="{31B29D6B-8476-9005-EFFF-DDC8C87BB079}"/>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684940F-9C63-A9F3-B799-406354FB04D1}"/>
              </a:ext>
            </a:extLst>
          </p:cNvPr>
          <p:cNvSpPr txBox="1"/>
          <p:nvPr/>
        </p:nvSpPr>
        <p:spPr>
          <a:xfrm>
            <a:off x="708529" y="121919"/>
            <a:ext cx="11402191" cy="707886"/>
          </a:xfrm>
          <a:prstGeom prst="rect">
            <a:avLst/>
          </a:prstGeom>
          <a:noFill/>
        </p:spPr>
        <p:txBody>
          <a:bodyPr wrap="square" rtlCol="0">
            <a:spAutoFit/>
          </a:bodyPr>
          <a:lstStyle/>
          <a:p>
            <a:r>
              <a:rPr lang="en-US" sz="4000" b="1" dirty="0"/>
              <a:t>DBMS Architecture</a:t>
            </a:r>
          </a:p>
        </p:txBody>
      </p:sp>
      <p:sp>
        <p:nvSpPr>
          <p:cNvPr id="2" name="TextBox 1">
            <a:extLst>
              <a:ext uri="{FF2B5EF4-FFF2-40B4-BE49-F238E27FC236}">
                <a16:creationId xmlns:a16="http://schemas.microsoft.com/office/drawing/2014/main" id="{308CA695-4812-5E27-2A2F-1C13469EF6C1}"/>
              </a:ext>
            </a:extLst>
          </p:cNvPr>
          <p:cNvSpPr txBox="1"/>
          <p:nvPr/>
        </p:nvSpPr>
        <p:spPr>
          <a:xfrm>
            <a:off x="838201" y="1229518"/>
            <a:ext cx="10766898" cy="3785652"/>
          </a:xfrm>
          <a:prstGeom prst="rect">
            <a:avLst/>
          </a:prstGeom>
          <a:noFill/>
        </p:spPr>
        <p:txBody>
          <a:bodyPr wrap="square">
            <a:spAutoFit/>
          </a:bodyPr>
          <a:lstStyle/>
          <a:p>
            <a:pPr marL="342900" indent="-342900" algn="just">
              <a:buFont typeface="Arial" panose="020B0604020202020204" pitchFamily="34" charset="0"/>
              <a:buChar char="•"/>
            </a:pPr>
            <a:r>
              <a:rPr lang="en-US" sz="2400" dirty="0"/>
              <a:t>A DBMS architecture defines how users interact with the database to read, write, or update information. A well-designed architecture and schema (a blueprint detailing tables, fields and relationships) ensure data consistency, improve performance and keep data secure</a:t>
            </a:r>
            <a:r>
              <a:rPr lang="en-US" sz="2400" dirty="0" smtClean="0"/>
              <a:t>.</a:t>
            </a:r>
          </a:p>
          <a:p>
            <a:r>
              <a:rPr lang="en-US" sz="2400" b="1" dirty="0"/>
              <a:t>Types of DBMS Architecture</a:t>
            </a:r>
          </a:p>
          <a:p>
            <a:r>
              <a:rPr lang="en-US" sz="2400" dirty="0"/>
              <a:t>There are several types of DBMS Architecture that we use according to the usage requirements</a:t>
            </a:r>
            <a:r>
              <a:rPr lang="en-US" sz="2400" dirty="0" smtClean="0"/>
              <a:t>.</a:t>
            </a:r>
            <a:endParaRPr lang="en-US" sz="2400" dirty="0"/>
          </a:p>
          <a:p>
            <a:pPr marL="342900" indent="-342900">
              <a:buFont typeface="Arial" panose="020B0604020202020204" pitchFamily="34" charset="0"/>
              <a:buChar char="•"/>
            </a:pPr>
            <a:r>
              <a:rPr lang="en-US" sz="2400" dirty="0"/>
              <a:t>2-Tier Architecture</a:t>
            </a:r>
          </a:p>
          <a:p>
            <a:pPr marL="342900" indent="-342900">
              <a:buFont typeface="Arial" panose="020B0604020202020204" pitchFamily="34" charset="0"/>
              <a:buChar char="•"/>
            </a:pPr>
            <a:r>
              <a:rPr lang="en-US" sz="2400" dirty="0"/>
              <a:t>3-Tier Architecture</a:t>
            </a:r>
          </a:p>
          <a:p>
            <a:pPr marL="342900" indent="-342900" algn="just">
              <a:buFont typeface="Arial" panose="020B0604020202020204" pitchFamily="34" charset="0"/>
              <a:buChar char="•"/>
            </a:pPr>
            <a:endParaRPr lang="en-US" sz="2400" i="0" dirty="0">
              <a:effectLst/>
              <a:latin typeface="inter-regular"/>
            </a:endParaRPr>
          </a:p>
        </p:txBody>
      </p:sp>
    </p:spTree>
    <p:extLst>
      <p:ext uri="{BB962C8B-B14F-4D97-AF65-F5344CB8AC3E}">
        <p14:creationId xmlns:p14="http://schemas.microsoft.com/office/powerpoint/2010/main" val="6448987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06BA711-228E-B45C-8179-D76B6A5490E1}"/>
              </a:ext>
            </a:extLst>
          </p:cNvPr>
          <p:cNvSpPr>
            <a:spLocks noGrp="1"/>
          </p:cNvSpPr>
          <p:nvPr>
            <p:ph type="dt" sz="half" idx="10"/>
          </p:nvPr>
        </p:nvSpPr>
        <p:spPr/>
        <p:txBody>
          <a:bodyPr/>
          <a:lstStyle/>
          <a:p>
            <a:fld id="{C1CDDB05-7545-485D-BAE6-2CE87714CF19}" type="datetime1">
              <a:rPr lang="en-US" smtClean="0"/>
              <a:t>1/18/2026</a:t>
            </a:fld>
            <a:endParaRPr lang="en-US"/>
          </a:p>
        </p:txBody>
      </p:sp>
      <p:sp>
        <p:nvSpPr>
          <p:cNvPr id="5" name="Slide Number Placeholder 4">
            <a:extLst>
              <a:ext uri="{FF2B5EF4-FFF2-40B4-BE49-F238E27FC236}">
                <a16:creationId xmlns:a16="http://schemas.microsoft.com/office/drawing/2014/main" id="{2C96A1E9-DA17-11CA-721D-75EA6BD1D733}"/>
              </a:ext>
            </a:extLst>
          </p:cNvPr>
          <p:cNvSpPr>
            <a:spLocks noGrp="1"/>
          </p:cNvSpPr>
          <p:nvPr>
            <p:ph type="sldNum" sz="quarter" idx="12"/>
          </p:nvPr>
        </p:nvSpPr>
        <p:spPr/>
        <p:txBody>
          <a:bodyPr/>
          <a:lstStyle/>
          <a:p>
            <a:fld id="{E199BF8C-199A-420E-AD47-765295E635DE}" type="slidenum">
              <a:rPr lang="en-US" smtClean="0"/>
              <a:t>3</a:t>
            </a:fld>
            <a:endParaRPr lang="en-US"/>
          </a:p>
        </p:txBody>
      </p:sp>
      <p:sp>
        <p:nvSpPr>
          <p:cNvPr id="6" name="Rectangle 5">
            <a:extLst>
              <a:ext uri="{FF2B5EF4-FFF2-40B4-BE49-F238E27FC236}">
                <a16:creationId xmlns:a16="http://schemas.microsoft.com/office/drawing/2014/main" id="{31B29D6B-8476-9005-EFFF-DDC8C87BB079}"/>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684940F-9C63-A9F3-B799-406354FB04D1}"/>
              </a:ext>
            </a:extLst>
          </p:cNvPr>
          <p:cNvSpPr txBox="1"/>
          <p:nvPr/>
        </p:nvSpPr>
        <p:spPr>
          <a:xfrm>
            <a:off x="708529" y="121919"/>
            <a:ext cx="11402191" cy="707886"/>
          </a:xfrm>
          <a:prstGeom prst="rect">
            <a:avLst/>
          </a:prstGeom>
          <a:noFill/>
        </p:spPr>
        <p:txBody>
          <a:bodyPr wrap="square" rtlCol="0">
            <a:spAutoFit/>
          </a:bodyPr>
          <a:lstStyle/>
          <a:p>
            <a:r>
              <a:rPr lang="en-US" sz="4000" b="1" dirty="0"/>
              <a:t>2-Tier Architecture </a:t>
            </a:r>
            <a:endParaRPr lang="en-US" sz="4000" b="1" dirty="0">
              <a:effectLst/>
            </a:endParaRPr>
          </a:p>
        </p:txBody>
      </p:sp>
      <p:sp>
        <p:nvSpPr>
          <p:cNvPr id="2" name="TextBox 1">
            <a:extLst>
              <a:ext uri="{FF2B5EF4-FFF2-40B4-BE49-F238E27FC236}">
                <a16:creationId xmlns:a16="http://schemas.microsoft.com/office/drawing/2014/main" id="{308CA695-4812-5E27-2A2F-1C13469EF6C1}"/>
              </a:ext>
            </a:extLst>
          </p:cNvPr>
          <p:cNvSpPr txBox="1"/>
          <p:nvPr/>
        </p:nvSpPr>
        <p:spPr>
          <a:xfrm>
            <a:off x="838201" y="1229518"/>
            <a:ext cx="10766898" cy="1938992"/>
          </a:xfrm>
          <a:prstGeom prst="rect">
            <a:avLst/>
          </a:prstGeom>
          <a:noFill/>
        </p:spPr>
        <p:txBody>
          <a:bodyPr wrap="square">
            <a:spAutoFit/>
          </a:bodyPr>
          <a:lstStyle/>
          <a:p>
            <a:pPr marL="342900" indent="-342900" algn="just">
              <a:buFont typeface="Arial" panose="020B0604020202020204" pitchFamily="34" charset="0"/>
              <a:buChar char="•"/>
            </a:pPr>
            <a:r>
              <a:rPr lang="en-US" sz="2400" dirty="0"/>
              <a:t>The 2-tier architecture is similar to a basic client-server model. The application at the client end directly communicates with the database on the server side. APIs like ODBC and JDBC are used for this interaction. The server side is responsible for providing query processing and transaction management functionalities. </a:t>
            </a:r>
          </a:p>
          <a:p>
            <a:pPr marL="342900" indent="-342900" algn="just">
              <a:buFont typeface="Arial" panose="020B0604020202020204" pitchFamily="34" charset="0"/>
              <a:buChar char="•"/>
            </a:pPr>
            <a:endParaRPr lang="en-US" sz="2400" i="0" dirty="0">
              <a:effectLst/>
              <a:latin typeface="inter-regular"/>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0350" y="2941233"/>
            <a:ext cx="6591300" cy="3415117"/>
          </a:xfrm>
          <a:prstGeom prst="rect">
            <a:avLst/>
          </a:prstGeom>
        </p:spPr>
      </p:pic>
    </p:spTree>
    <p:extLst>
      <p:ext uri="{BB962C8B-B14F-4D97-AF65-F5344CB8AC3E}">
        <p14:creationId xmlns:p14="http://schemas.microsoft.com/office/powerpoint/2010/main" val="2851379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06BA711-228E-B45C-8179-D76B6A5490E1}"/>
              </a:ext>
            </a:extLst>
          </p:cNvPr>
          <p:cNvSpPr>
            <a:spLocks noGrp="1"/>
          </p:cNvSpPr>
          <p:nvPr>
            <p:ph type="dt" sz="half" idx="10"/>
          </p:nvPr>
        </p:nvSpPr>
        <p:spPr/>
        <p:txBody>
          <a:bodyPr/>
          <a:lstStyle/>
          <a:p>
            <a:fld id="{C1CDDB05-7545-485D-BAE6-2CE87714CF19}" type="datetime1">
              <a:rPr lang="en-US" smtClean="0"/>
              <a:t>1/18/2026</a:t>
            </a:fld>
            <a:endParaRPr lang="en-US"/>
          </a:p>
        </p:txBody>
      </p:sp>
      <p:sp>
        <p:nvSpPr>
          <p:cNvPr id="5" name="Slide Number Placeholder 4">
            <a:extLst>
              <a:ext uri="{FF2B5EF4-FFF2-40B4-BE49-F238E27FC236}">
                <a16:creationId xmlns:a16="http://schemas.microsoft.com/office/drawing/2014/main" id="{2C96A1E9-DA17-11CA-721D-75EA6BD1D733}"/>
              </a:ext>
            </a:extLst>
          </p:cNvPr>
          <p:cNvSpPr>
            <a:spLocks noGrp="1"/>
          </p:cNvSpPr>
          <p:nvPr>
            <p:ph type="sldNum" sz="quarter" idx="12"/>
          </p:nvPr>
        </p:nvSpPr>
        <p:spPr/>
        <p:txBody>
          <a:bodyPr/>
          <a:lstStyle/>
          <a:p>
            <a:fld id="{E199BF8C-199A-420E-AD47-765295E635DE}" type="slidenum">
              <a:rPr lang="en-US" smtClean="0"/>
              <a:t>4</a:t>
            </a:fld>
            <a:endParaRPr lang="en-US"/>
          </a:p>
        </p:txBody>
      </p:sp>
      <p:sp>
        <p:nvSpPr>
          <p:cNvPr id="6" name="Rectangle 5">
            <a:extLst>
              <a:ext uri="{FF2B5EF4-FFF2-40B4-BE49-F238E27FC236}">
                <a16:creationId xmlns:a16="http://schemas.microsoft.com/office/drawing/2014/main" id="{31B29D6B-8476-9005-EFFF-DDC8C87BB079}"/>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684940F-9C63-A9F3-B799-406354FB04D1}"/>
              </a:ext>
            </a:extLst>
          </p:cNvPr>
          <p:cNvSpPr txBox="1"/>
          <p:nvPr/>
        </p:nvSpPr>
        <p:spPr>
          <a:xfrm>
            <a:off x="708529" y="121919"/>
            <a:ext cx="11402191" cy="707886"/>
          </a:xfrm>
          <a:prstGeom prst="rect">
            <a:avLst/>
          </a:prstGeom>
          <a:noFill/>
        </p:spPr>
        <p:txBody>
          <a:bodyPr wrap="square" rtlCol="0">
            <a:spAutoFit/>
          </a:bodyPr>
          <a:lstStyle/>
          <a:p>
            <a:r>
              <a:rPr lang="en-US" sz="4000" b="1" dirty="0"/>
              <a:t>2-Tier </a:t>
            </a:r>
            <a:r>
              <a:rPr lang="en-US" sz="4000" b="1" dirty="0" smtClean="0"/>
              <a:t>Architecture Contd. </a:t>
            </a:r>
            <a:endParaRPr lang="en-US" sz="4000" b="1" dirty="0">
              <a:effectLst/>
            </a:endParaRPr>
          </a:p>
        </p:txBody>
      </p:sp>
      <p:sp>
        <p:nvSpPr>
          <p:cNvPr id="2" name="TextBox 1">
            <a:extLst>
              <a:ext uri="{FF2B5EF4-FFF2-40B4-BE49-F238E27FC236}">
                <a16:creationId xmlns:a16="http://schemas.microsoft.com/office/drawing/2014/main" id="{308CA695-4812-5E27-2A2F-1C13469EF6C1}"/>
              </a:ext>
            </a:extLst>
          </p:cNvPr>
          <p:cNvSpPr txBox="1"/>
          <p:nvPr/>
        </p:nvSpPr>
        <p:spPr>
          <a:xfrm>
            <a:off x="838201" y="1229518"/>
            <a:ext cx="10766898" cy="4524315"/>
          </a:xfrm>
          <a:prstGeom prst="rect">
            <a:avLst/>
          </a:prstGeom>
          <a:noFill/>
        </p:spPr>
        <p:txBody>
          <a:bodyPr wrap="square">
            <a:spAutoFit/>
          </a:bodyPr>
          <a:lstStyle/>
          <a:p>
            <a:pPr algn="just"/>
            <a:r>
              <a:rPr lang="en-US" sz="2400" b="1" dirty="0"/>
              <a:t>Applications:</a:t>
            </a:r>
          </a:p>
          <a:p>
            <a:pPr marL="342900" indent="-342900" algn="just">
              <a:buFont typeface="Arial" panose="020B0604020202020204" pitchFamily="34" charset="0"/>
              <a:buChar char="•"/>
            </a:pPr>
            <a:r>
              <a:rPr lang="en-US" sz="2400" dirty="0"/>
              <a:t>Going back to our </a:t>
            </a:r>
            <a:r>
              <a:rPr lang="en-US" sz="2400" i="1" dirty="0"/>
              <a:t>Railway Ticket Reservation</a:t>
            </a:r>
            <a:r>
              <a:rPr lang="en-US" sz="2400" dirty="0"/>
              <a:t> example, we usually use a web </a:t>
            </a:r>
            <a:r>
              <a:rPr lang="en-US" sz="2400" dirty="0" smtClean="0"/>
              <a:t>browser to book a ticket, in such a case our device acts as a client and the whole Railways database acts as the server which stores the information of every passenger. Another way of booking a ticket is by physically going to the Railway Station and filling the form, in such a case the ticket counter machine acts as a client that sends data to the Server.</a:t>
            </a:r>
          </a:p>
          <a:p>
            <a:pPr marL="342900" indent="-342900" algn="just">
              <a:buFont typeface="Arial" panose="020B0604020202020204" pitchFamily="34" charset="0"/>
              <a:buChar char="•"/>
            </a:pPr>
            <a:r>
              <a:rPr lang="en-US" sz="2400" b="1" i="1" dirty="0" smtClean="0"/>
              <a:t>Major advantages</a:t>
            </a:r>
            <a:r>
              <a:rPr lang="en-US" sz="2400" b="1" dirty="0" smtClean="0"/>
              <a:t> of two-tier architecture :</a:t>
            </a:r>
          </a:p>
          <a:p>
            <a:pPr algn="just"/>
            <a:r>
              <a:rPr lang="en-US" sz="2400" dirty="0" smtClean="0"/>
              <a:t>simplicity in design and maintenance, high performance.</a:t>
            </a:r>
          </a:p>
          <a:p>
            <a:pPr algn="just"/>
            <a:r>
              <a:rPr lang="en-US" sz="2400" b="1" i="1" dirty="0" smtClean="0"/>
              <a:t>Major disadvantages</a:t>
            </a:r>
            <a:r>
              <a:rPr lang="en-US" sz="2400" b="1" dirty="0" smtClean="0"/>
              <a:t> of two-tier architecture :</a:t>
            </a:r>
          </a:p>
          <a:p>
            <a:pPr marL="342900" indent="-342900" algn="just">
              <a:buFont typeface="Arial" panose="020B0604020202020204" pitchFamily="34" charset="0"/>
              <a:buChar char="•"/>
            </a:pPr>
            <a:r>
              <a:rPr lang="en-US" sz="2400" dirty="0" smtClean="0"/>
              <a:t>Limited Scalability and Security issues.</a:t>
            </a:r>
          </a:p>
          <a:p>
            <a:pPr marL="342900" indent="-342900" algn="just">
              <a:buFont typeface="Arial" panose="020B0604020202020204" pitchFamily="34" charset="0"/>
              <a:buChar char="•"/>
            </a:pPr>
            <a:r>
              <a:rPr lang="en-US" sz="2400" dirty="0"/>
              <a:t>Not suitable for </a:t>
            </a:r>
            <a:r>
              <a:rPr lang="en-US" sz="2400" b="1" dirty="0"/>
              <a:t>large or web-based enterprise applications</a:t>
            </a:r>
            <a:endParaRPr lang="en-US" sz="2400" dirty="0"/>
          </a:p>
        </p:txBody>
      </p:sp>
    </p:spTree>
    <p:extLst>
      <p:ext uri="{BB962C8B-B14F-4D97-AF65-F5344CB8AC3E}">
        <p14:creationId xmlns:p14="http://schemas.microsoft.com/office/powerpoint/2010/main" val="2057905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06BA711-228E-B45C-8179-D76B6A5490E1}"/>
              </a:ext>
            </a:extLst>
          </p:cNvPr>
          <p:cNvSpPr>
            <a:spLocks noGrp="1"/>
          </p:cNvSpPr>
          <p:nvPr>
            <p:ph type="dt" sz="half" idx="10"/>
          </p:nvPr>
        </p:nvSpPr>
        <p:spPr/>
        <p:txBody>
          <a:bodyPr/>
          <a:lstStyle/>
          <a:p>
            <a:fld id="{C1CDDB05-7545-485D-BAE6-2CE87714CF19}" type="datetime1">
              <a:rPr lang="en-US" smtClean="0"/>
              <a:t>1/18/2026</a:t>
            </a:fld>
            <a:endParaRPr lang="en-US"/>
          </a:p>
        </p:txBody>
      </p:sp>
      <p:sp>
        <p:nvSpPr>
          <p:cNvPr id="5" name="Slide Number Placeholder 4">
            <a:extLst>
              <a:ext uri="{FF2B5EF4-FFF2-40B4-BE49-F238E27FC236}">
                <a16:creationId xmlns:a16="http://schemas.microsoft.com/office/drawing/2014/main" id="{2C96A1E9-DA17-11CA-721D-75EA6BD1D733}"/>
              </a:ext>
            </a:extLst>
          </p:cNvPr>
          <p:cNvSpPr>
            <a:spLocks noGrp="1"/>
          </p:cNvSpPr>
          <p:nvPr>
            <p:ph type="sldNum" sz="quarter" idx="12"/>
          </p:nvPr>
        </p:nvSpPr>
        <p:spPr/>
        <p:txBody>
          <a:bodyPr/>
          <a:lstStyle/>
          <a:p>
            <a:fld id="{E199BF8C-199A-420E-AD47-765295E635DE}" type="slidenum">
              <a:rPr lang="en-US" smtClean="0"/>
              <a:t>5</a:t>
            </a:fld>
            <a:endParaRPr lang="en-US"/>
          </a:p>
        </p:txBody>
      </p:sp>
      <p:sp>
        <p:nvSpPr>
          <p:cNvPr id="6" name="Rectangle 5">
            <a:extLst>
              <a:ext uri="{FF2B5EF4-FFF2-40B4-BE49-F238E27FC236}">
                <a16:creationId xmlns:a16="http://schemas.microsoft.com/office/drawing/2014/main" id="{31B29D6B-8476-9005-EFFF-DDC8C87BB079}"/>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684940F-9C63-A9F3-B799-406354FB04D1}"/>
              </a:ext>
            </a:extLst>
          </p:cNvPr>
          <p:cNvSpPr txBox="1"/>
          <p:nvPr/>
        </p:nvSpPr>
        <p:spPr>
          <a:xfrm>
            <a:off x="708529" y="121919"/>
            <a:ext cx="11402191" cy="707886"/>
          </a:xfrm>
          <a:prstGeom prst="rect">
            <a:avLst/>
          </a:prstGeom>
          <a:noFill/>
        </p:spPr>
        <p:txBody>
          <a:bodyPr wrap="square" rtlCol="0">
            <a:spAutoFit/>
          </a:bodyPr>
          <a:lstStyle/>
          <a:p>
            <a:r>
              <a:rPr lang="en-US" sz="4000" b="1" dirty="0" smtClean="0"/>
              <a:t>3-Tier Architecture  </a:t>
            </a:r>
            <a:endParaRPr lang="en-US" sz="4000" b="1" dirty="0">
              <a:effectLst/>
            </a:endParaRPr>
          </a:p>
        </p:txBody>
      </p:sp>
      <p:sp>
        <p:nvSpPr>
          <p:cNvPr id="2" name="TextBox 1">
            <a:extLst>
              <a:ext uri="{FF2B5EF4-FFF2-40B4-BE49-F238E27FC236}">
                <a16:creationId xmlns:a16="http://schemas.microsoft.com/office/drawing/2014/main" id="{308CA695-4812-5E27-2A2F-1C13469EF6C1}"/>
              </a:ext>
            </a:extLst>
          </p:cNvPr>
          <p:cNvSpPr txBox="1"/>
          <p:nvPr/>
        </p:nvSpPr>
        <p:spPr>
          <a:xfrm>
            <a:off x="708529" y="994246"/>
            <a:ext cx="10766898" cy="2308324"/>
          </a:xfrm>
          <a:prstGeom prst="rect">
            <a:avLst/>
          </a:prstGeom>
          <a:noFill/>
        </p:spPr>
        <p:txBody>
          <a:bodyPr wrap="square">
            <a:spAutoFit/>
          </a:bodyPr>
          <a:lstStyle/>
          <a:p>
            <a:pPr marL="342900" indent="-342900" algn="just">
              <a:buFont typeface="Arial" panose="020B0604020202020204" pitchFamily="34" charset="0"/>
              <a:buChar char="•"/>
            </a:pPr>
            <a:r>
              <a:rPr lang="en-US" sz="2400" dirty="0"/>
              <a:t>In 3-Tier Architecture, there is another layer between the client and the server. The client does not directly communicate with the server. Instead, it interacts with an application server which further communicates with the </a:t>
            </a:r>
            <a:r>
              <a:rPr lang="en-US" sz="2400" dirty="0" smtClean="0"/>
              <a:t>database. This </a:t>
            </a:r>
            <a:r>
              <a:rPr lang="en-US" sz="2400" dirty="0"/>
              <a:t>intermediate layer acts as a medium for the exchange of partially processed data between the server and the client. </a:t>
            </a:r>
            <a:r>
              <a:rPr lang="en-US" sz="2400" dirty="0">
                <a:solidFill>
                  <a:srgbClr val="FF0000"/>
                </a:solidFill>
              </a:rPr>
              <a:t>This type of architecture is used in the case of large web applications</a:t>
            </a:r>
            <a:r>
              <a:rPr lang="en-US" sz="2400" dirty="0" smtClean="0">
                <a:solidFill>
                  <a:srgbClr val="FF0000"/>
                </a:solidFill>
              </a:rPr>
              <a:t>.</a:t>
            </a:r>
            <a:endParaRPr lang="en-US" sz="2400" dirty="0">
              <a:solidFill>
                <a:srgbClr val="FF0000"/>
              </a:solidFill>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0787" y="3321798"/>
            <a:ext cx="6922381" cy="3399677"/>
          </a:xfrm>
          <a:prstGeom prst="rect">
            <a:avLst/>
          </a:prstGeom>
        </p:spPr>
      </p:pic>
    </p:spTree>
    <p:extLst>
      <p:ext uri="{BB962C8B-B14F-4D97-AF65-F5344CB8AC3E}">
        <p14:creationId xmlns:p14="http://schemas.microsoft.com/office/powerpoint/2010/main" val="41040173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06BA711-228E-B45C-8179-D76B6A5490E1}"/>
              </a:ext>
            </a:extLst>
          </p:cNvPr>
          <p:cNvSpPr>
            <a:spLocks noGrp="1"/>
          </p:cNvSpPr>
          <p:nvPr>
            <p:ph type="dt" sz="half" idx="10"/>
          </p:nvPr>
        </p:nvSpPr>
        <p:spPr/>
        <p:txBody>
          <a:bodyPr/>
          <a:lstStyle/>
          <a:p>
            <a:fld id="{C1CDDB05-7545-485D-BAE6-2CE87714CF19}" type="datetime1">
              <a:rPr lang="en-US" smtClean="0"/>
              <a:t>1/18/2026</a:t>
            </a:fld>
            <a:endParaRPr lang="en-US"/>
          </a:p>
        </p:txBody>
      </p:sp>
      <p:sp>
        <p:nvSpPr>
          <p:cNvPr id="5" name="Slide Number Placeholder 4">
            <a:extLst>
              <a:ext uri="{FF2B5EF4-FFF2-40B4-BE49-F238E27FC236}">
                <a16:creationId xmlns:a16="http://schemas.microsoft.com/office/drawing/2014/main" id="{2C96A1E9-DA17-11CA-721D-75EA6BD1D733}"/>
              </a:ext>
            </a:extLst>
          </p:cNvPr>
          <p:cNvSpPr>
            <a:spLocks noGrp="1"/>
          </p:cNvSpPr>
          <p:nvPr>
            <p:ph type="sldNum" sz="quarter" idx="12"/>
          </p:nvPr>
        </p:nvSpPr>
        <p:spPr/>
        <p:txBody>
          <a:bodyPr/>
          <a:lstStyle/>
          <a:p>
            <a:fld id="{E199BF8C-199A-420E-AD47-765295E635DE}" type="slidenum">
              <a:rPr lang="en-US" smtClean="0"/>
              <a:t>6</a:t>
            </a:fld>
            <a:endParaRPr lang="en-US"/>
          </a:p>
        </p:txBody>
      </p:sp>
      <p:sp>
        <p:nvSpPr>
          <p:cNvPr id="6" name="Rectangle 5">
            <a:extLst>
              <a:ext uri="{FF2B5EF4-FFF2-40B4-BE49-F238E27FC236}">
                <a16:creationId xmlns:a16="http://schemas.microsoft.com/office/drawing/2014/main" id="{31B29D6B-8476-9005-EFFF-DDC8C87BB079}"/>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684940F-9C63-A9F3-B799-406354FB04D1}"/>
              </a:ext>
            </a:extLst>
          </p:cNvPr>
          <p:cNvSpPr txBox="1"/>
          <p:nvPr/>
        </p:nvSpPr>
        <p:spPr>
          <a:xfrm>
            <a:off x="708529" y="121919"/>
            <a:ext cx="11402191" cy="707886"/>
          </a:xfrm>
          <a:prstGeom prst="rect">
            <a:avLst/>
          </a:prstGeom>
          <a:noFill/>
        </p:spPr>
        <p:txBody>
          <a:bodyPr wrap="square" rtlCol="0">
            <a:spAutoFit/>
          </a:bodyPr>
          <a:lstStyle/>
          <a:p>
            <a:r>
              <a:rPr lang="en-US" sz="4000" b="1" dirty="0" smtClean="0"/>
              <a:t>3-Tier Architecture Contd.  </a:t>
            </a:r>
            <a:endParaRPr lang="en-US" sz="4000" b="1" dirty="0">
              <a:effectLst/>
            </a:endParaRPr>
          </a:p>
        </p:txBody>
      </p:sp>
      <p:sp>
        <p:nvSpPr>
          <p:cNvPr id="7" name="Rectangle 6"/>
          <p:cNvSpPr/>
          <p:nvPr/>
        </p:nvSpPr>
        <p:spPr>
          <a:xfrm>
            <a:off x="0" y="1410574"/>
            <a:ext cx="6096000" cy="2308324"/>
          </a:xfrm>
          <a:prstGeom prst="rect">
            <a:avLst/>
          </a:prstGeom>
          <a:solidFill>
            <a:schemeClr val="accent1">
              <a:lumMod val="40000"/>
              <a:lumOff val="60000"/>
            </a:schemeClr>
          </a:solidFill>
        </p:spPr>
        <p:txBody>
          <a:bodyPr>
            <a:spAutoFit/>
          </a:bodyPr>
          <a:lstStyle/>
          <a:p>
            <a:r>
              <a:rPr lang="en-US" b="1" dirty="0"/>
              <a:t>Presentation Layer (Client Layer)</a:t>
            </a:r>
          </a:p>
          <a:p>
            <a:pPr>
              <a:buFont typeface="Arial" panose="020B0604020202020204" pitchFamily="34" charset="0"/>
              <a:buChar char="•"/>
            </a:pPr>
            <a:r>
              <a:rPr lang="en-US" b="1" dirty="0"/>
              <a:t>Purpose:</a:t>
            </a:r>
            <a:r>
              <a:rPr lang="en-US" dirty="0"/>
              <a:t> It’s the user interface that interacts directly with end users.</a:t>
            </a:r>
          </a:p>
          <a:p>
            <a:pPr>
              <a:buFont typeface="Arial" panose="020B0604020202020204" pitchFamily="34" charset="0"/>
              <a:buChar char="•"/>
            </a:pPr>
            <a:r>
              <a:rPr lang="en-US" b="1" dirty="0" smtClean="0"/>
              <a:t>Functions</a:t>
            </a:r>
            <a:r>
              <a:rPr lang="en-US" b="1" dirty="0"/>
              <a:t>:</a:t>
            </a:r>
            <a:endParaRPr lang="en-US" dirty="0"/>
          </a:p>
          <a:p>
            <a:pPr marL="742950" lvl="1" indent="-285750">
              <a:buFont typeface="Arial" panose="020B0604020202020204" pitchFamily="34" charset="0"/>
              <a:buChar char="•"/>
            </a:pPr>
            <a:r>
              <a:rPr lang="en-US" dirty="0"/>
              <a:t>Display data to users.</a:t>
            </a:r>
          </a:p>
          <a:p>
            <a:pPr marL="742950" lvl="1" indent="-285750">
              <a:buFont typeface="Arial" panose="020B0604020202020204" pitchFamily="34" charset="0"/>
              <a:buChar char="•"/>
            </a:pPr>
            <a:r>
              <a:rPr lang="en-US" dirty="0"/>
              <a:t>Collect user inputs.</a:t>
            </a:r>
          </a:p>
          <a:p>
            <a:pPr marL="742950" lvl="1" indent="-285750">
              <a:buFont typeface="Arial" panose="020B0604020202020204" pitchFamily="34" charset="0"/>
              <a:buChar char="•"/>
            </a:pPr>
            <a:r>
              <a:rPr lang="en-US" dirty="0"/>
              <a:t>Send requests to the application server via HTTP or API calls.</a:t>
            </a:r>
          </a:p>
        </p:txBody>
      </p:sp>
      <p:sp>
        <p:nvSpPr>
          <p:cNvPr id="9" name="Rectangle 8"/>
          <p:cNvSpPr/>
          <p:nvPr/>
        </p:nvSpPr>
        <p:spPr>
          <a:xfrm>
            <a:off x="6096000" y="2454045"/>
            <a:ext cx="6096000" cy="2862322"/>
          </a:xfrm>
          <a:prstGeom prst="rect">
            <a:avLst/>
          </a:prstGeom>
          <a:solidFill>
            <a:schemeClr val="accent6">
              <a:lumMod val="40000"/>
              <a:lumOff val="60000"/>
            </a:schemeClr>
          </a:solidFill>
        </p:spPr>
        <p:txBody>
          <a:bodyPr>
            <a:spAutoFit/>
          </a:bodyPr>
          <a:lstStyle/>
          <a:p>
            <a:r>
              <a:rPr lang="en-US" b="1" dirty="0" smtClean="0"/>
              <a:t>Application Layer (Business Logic Layer / Middleware)</a:t>
            </a:r>
          </a:p>
          <a:p>
            <a:pPr>
              <a:buFont typeface="Arial" panose="020B0604020202020204" pitchFamily="34" charset="0"/>
              <a:buChar char="•"/>
            </a:pPr>
            <a:r>
              <a:rPr lang="en-US" b="1" dirty="0" smtClean="0"/>
              <a:t>Purpose:</a:t>
            </a:r>
            <a:r>
              <a:rPr lang="en-US" dirty="0" smtClean="0"/>
              <a:t> Acts as a </a:t>
            </a:r>
            <a:r>
              <a:rPr lang="en-US" b="1" dirty="0" smtClean="0"/>
              <a:t>bridge</a:t>
            </a:r>
            <a:r>
              <a:rPr lang="en-US" dirty="0" smtClean="0"/>
              <a:t> between the presentation layer and the database layer.</a:t>
            </a:r>
          </a:p>
          <a:p>
            <a:pPr>
              <a:buFont typeface="Arial" panose="020B0604020202020204" pitchFamily="34" charset="0"/>
              <a:buChar char="•"/>
            </a:pPr>
            <a:r>
              <a:rPr lang="en-US" b="1" dirty="0" smtClean="0"/>
              <a:t>Functions:</a:t>
            </a:r>
            <a:endParaRPr lang="en-US" dirty="0" smtClean="0"/>
          </a:p>
          <a:p>
            <a:pPr marL="742950" lvl="1" indent="-285750">
              <a:buFont typeface="Arial" panose="020B0604020202020204" pitchFamily="34" charset="0"/>
              <a:buChar char="•"/>
            </a:pPr>
            <a:r>
              <a:rPr lang="en-US" dirty="0" smtClean="0"/>
              <a:t>Contains business logic (rules, validations, calculations).</a:t>
            </a:r>
          </a:p>
          <a:p>
            <a:pPr marL="742950" lvl="1" indent="-285750">
              <a:buFont typeface="Arial" panose="020B0604020202020204" pitchFamily="34" charset="0"/>
              <a:buChar char="•"/>
            </a:pPr>
            <a:r>
              <a:rPr lang="en-US" dirty="0" smtClean="0"/>
              <a:t>Processes user requests and queries.</a:t>
            </a:r>
          </a:p>
          <a:p>
            <a:pPr marL="742950" lvl="1" indent="-285750">
              <a:buFont typeface="Arial" panose="020B0604020202020204" pitchFamily="34" charset="0"/>
              <a:buChar char="•"/>
            </a:pPr>
            <a:r>
              <a:rPr lang="en-US" dirty="0" smtClean="0"/>
              <a:t>Communicates with the database layer to fetch or update data.</a:t>
            </a:r>
          </a:p>
          <a:p>
            <a:pPr marL="742950" lvl="1" indent="-285750">
              <a:buFont typeface="Arial" panose="020B0604020202020204" pitchFamily="34" charset="0"/>
              <a:buChar char="•"/>
            </a:pPr>
            <a:r>
              <a:rPr lang="en-US" dirty="0" smtClean="0"/>
              <a:t>Ensures data consistency and security before sending back to the client.</a:t>
            </a:r>
            <a:endParaRPr lang="en-US" dirty="0"/>
          </a:p>
        </p:txBody>
      </p:sp>
      <p:sp>
        <p:nvSpPr>
          <p:cNvPr id="10" name="Rectangle 9"/>
          <p:cNvSpPr/>
          <p:nvPr/>
        </p:nvSpPr>
        <p:spPr>
          <a:xfrm>
            <a:off x="0" y="4080536"/>
            <a:ext cx="6096000" cy="2308324"/>
          </a:xfrm>
          <a:prstGeom prst="rect">
            <a:avLst/>
          </a:prstGeom>
          <a:solidFill>
            <a:schemeClr val="accent4">
              <a:lumMod val="40000"/>
              <a:lumOff val="60000"/>
            </a:schemeClr>
          </a:solidFill>
        </p:spPr>
        <p:txBody>
          <a:bodyPr>
            <a:spAutoFit/>
          </a:bodyPr>
          <a:lstStyle/>
          <a:p>
            <a:r>
              <a:rPr lang="en-US" b="1" dirty="0"/>
              <a:t>Data Layer (Database Layer)</a:t>
            </a:r>
          </a:p>
          <a:p>
            <a:pPr>
              <a:buFont typeface="Arial" panose="020B0604020202020204" pitchFamily="34" charset="0"/>
              <a:buChar char="•"/>
            </a:pPr>
            <a:r>
              <a:rPr lang="en-US" b="1" dirty="0"/>
              <a:t>Purpose:</a:t>
            </a:r>
            <a:r>
              <a:rPr lang="en-US" dirty="0"/>
              <a:t> Responsible for </a:t>
            </a:r>
            <a:r>
              <a:rPr lang="en-US" b="1" dirty="0"/>
              <a:t>data storage, retrieval, and management</a:t>
            </a:r>
            <a:r>
              <a:rPr lang="en-US" dirty="0"/>
              <a:t>.</a:t>
            </a:r>
          </a:p>
          <a:p>
            <a:pPr>
              <a:buFont typeface="Arial" panose="020B0604020202020204" pitchFamily="34" charset="0"/>
              <a:buChar char="•"/>
            </a:pPr>
            <a:r>
              <a:rPr lang="en-US" b="1" dirty="0"/>
              <a:t>Functions:</a:t>
            </a:r>
            <a:endParaRPr lang="en-US" dirty="0"/>
          </a:p>
          <a:p>
            <a:pPr marL="742950" lvl="1" indent="-285750">
              <a:buFont typeface="Arial" panose="020B0604020202020204" pitchFamily="34" charset="0"/>
              <a:buChar char="•"/>
            </a:pPr>
            <a:r>
              <a:rPr lang="en-US" dirty="0"/>
              <a:t>Stores all persistent data (e.g., user profiles, product catalogs, transaction records).</a:t>
            </a:r>
          </a:p>
          <a:p>
            <a:pPr marL="742950" lvl="1" indent="-285750">
              <a:buFont typeface="Arial" panose="020B0604020202020204" pitchFamily="34" charset="0"/>
              <a:buChar char="•"/>
            </a:pPr>
            <a:r>
              <a:rPr lang="en-US" dirty="0"/>
              <a:t>Executes queries received from the application layer.</a:t>
            </a:r>
          </a:p>
          <a:p>
            <a:pPr marL="742950" lvl="1" indent="-285750">
              <a:buFont typeface="Arial" panose="020B0604020202020204" pitchFamily="34" charset="0"/>
              <a:buChar char="•"/>
            </a:pPr>
            <a:r>
              <a:rPr lang="en-US" dirty="0"/>
              <a:t>Returns results securely and efficiently.</a:t>
            </a:r>
          </a:p>
        </p:txBody>
      </p:sp>
    </p:spTree>
    <p:extLst>
      <p:ext uri="{BB962C8B-B14F-4D97-AF65-F5344CB8AC3E}">
        <p14:creationId xmlns:p14="http://schemas.microsoft.com/office/powerpoint/2010/main" val="309161608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06BA711-228E-B45C-8179-D76B6A5490E1}"/>
              </a:ext>
            </a:extLst>
          </p:cNvPr>
          <p:cNvSpPr>
            <a:spLocks noGrp="1"/>
          </p:cNvSpPr>
          <p:nvPr>
            <p:ph type="dt" sz="half" idx="10"/>
          </p:nvPr>
        </p:nvSpPr>
        <p:spPr/>
        <p:txBody>
          <a:bodyPr/>
          <a:lstStyle/>
          <a:p>
            <a:fld id="{C1CDDB05-7545-485D-BAE6-2CE87714CF19}" type="datetime1">
              <a:rPr lang="en-US" smtClean="0"/>
              <a:t>1/18/2026</a:t>
            </a:fld>
            <a:endParaRPr lang="en-US"/>
          </a:p>
        </p:txBody>
      </p:sp>
      <p:sp>
        <p:nvSpPr>
          <p:cNvPr id="5" name="Slide Number Placeholder 4">
            <a:extLst>
              <a:ext uri="{FF2B5EF4-FFF2-40B4-BE49-F238E27FC236}">
                <a16:creationId xmlns:a16="http://schemas.microsoft.com/office/drawing/2014/main" id="{2C96A1E9-DA17-11CA-721D-75EA6BD1D733}"/>
              </a:ext>
            </a:extLst>
          </p:cNvPr>
          <p:cNvSpPr>
            <a:spLocks noGrp="1"/>
          </p:cNvSpPr>
          <p:nvPr>
            <p:ph type="sldNum" sz="quarter" idx="12"/>
          </p:nvPr>
        </p:nvSpPr>
        <p:spPr/>
        <p:txBody>
          <a:bodyPr/>
          <a:lstStyle/>
          <a:p>
            <a:fld id="{E199BF8C-199A-420E-AD47-765295E635DE}" type="slidenum">
              <a:rPr lang="en-US" smtClean="0"/>
              <a:t>7</a:t>
            </a:fld>
            <a:endParaRPr lang="en-US"/>
          </a:p>
        </p:txBody>
      </p:sp>
      <p:sp>
        <p:nvSpPr>
          <p:cNvPr id="6" name="Rectangle 5">
            <a:extLst>
              <a:ext uri="{FF2B5EF4-FFF2-40B4-BE49-F238E27FC236}">
                <a16:creationId xmlns:a16="http://schemas.microsoft.com/office/drawing/2014/main" id="{31B29D6B-8476-9005-EFFF-DDC8C87BB079}"/>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684940F-9C63-A9F3-B799-406354FB04D1}"/>
              </a:ext>
            </a:extLst>
          </p:cNvPr>
          <p:cNvSpPr txBox="1"/>
          <p:nvPr/>
        </p:nvSpPr>
        <p:spPr>
          <a:xfrm>
            <a:off x="708529" y="121919"/>
            <a:ext cx="11402191" cy="707886"/>
          </a:xfrm>
          <a:prstGeom prst="rect">
            <a:avLst/>
          </a:prstGeom>
          <a:noFill/>
        </p:spPr>
        <p:txBody>
          <a:bodyPr wrap="square" rtlCol="0">
            <a:spAutoFit/>
          </a:bodyPr>
          <a:lstStyle/>
          <a:p>
            <a:r>
              <a:rPr lang="en-US" sz="4000" b="1" dirty="0" smtClean="0"/>
              <a:t>3-Tier Architecture Contd.  </a:t>
            </a:r>
            <a:endParaRPr lang="en-US" sz="4000" b="1" dirty="0">
              <a:effectLst/>
            </a:endParaRPr>
          </a:p>
        </p:txBody>
      </p:sp>
      <p:sp>
        <p:nvSpPr>
          <p:cNvPr id="8" name="Rectangle 7"/>
          <p:cNvSpPr/>
          <p:nvPr/>
        </p:nvSpPr>
        <p:spPr>
          <a:xfrm>
            <a:off x="418016" y="920621"/>
            <a:ext cx="11673654" cy="3416320"/>
          </a:xfrm>
          <a:prstGeom prst="rect">
            <a:avLst/>
          </a:prstGeom>
        </p:spPr>
        <p:txBody>
          <a:bodyPr wrap="square">
            <a:spAutoFit/>
          </a:bodyPr>
          <a:lstStyle/>
          <a:p>
            <a:pPr algn="just"/>
            <a:r>
              <a:rPr lang="en-US" sz="2400" b="1" dirty="0" smtClean="0"/>
              <a:t>Applications:</a:t>
            </a:r>
          </a:p>
          <a:p>
            <a:pPr marL="342900" indent="-342900" algn="just">
              <a:buFont typeface="Arial" panose="020B0604020202020204" pitchFamily="34" charset="0"/>
              <a:buChar char="•"/>
            </a:pPr>
            <a:r>
              <a:rPr lang="en-US" sz="2400" b="1" dirty="0" smtClean="0"/>
              <a:t>User </a:t>
            </a:r>
            <a:r>
              <a:rPr lang="en-US" sz="2400" b="1" dirty="0"/>
              <a:t>Request: </a:t>
            </a:r>
            <a:r>
              <a:rPr lang="en-US" sz="2400" dirty="0"/>
              <a:t>A customer searches for “wireless headphones” on the website (Presentation Layer</a:t>
            </a:r>
            <a:r>
              <a:rPr lang="en-US" sz="2400" dirty="0" smtClean="0"/>
              <a:t>).</a:t>
            </a:r>
            <a:endParaRPr lang="en-US" sz="2400" dirty="0"/>
          </a:p>
          <a:p>
            <a:pPr marL="342900" indent="-342900" algn="just">
              <a:buFont typeface="Arial" panose="020B0604020202020204" pitchFamily="34" charset="0"/>
              <a:buChar char="•"/>
            </a:pPr>
            <a:r>
              <a:rPr lang="en-US" sz="2400" b="1" dirty="0"/>
              <a:t>Business Logic: </a:t>
            </a:r>
            <a:r>
              <a:rPr lang="en-US" sz="2400" dirty="0"/>
              <a:t>The search request is sent to the Application Server, which processes it, applies filters, and checks availability (Application Layer</a:t>
            </a:r>
            <a:r>
              <a:rPr lang="en-US" sz="2400" dirty="0" smtClean="0"/>
              <a:t>).</a:t>
            </a:r>
            <a:endParaRPr lang="en-US" sz="2400" dirty="0"/>
          </a:p>
          <a:p>
            <a:pPr marL="342900" indent="-342900" algn="just">
              <a:buFont typeface="Arial" panose="020B0604020202020204" pitchFamily="34" charset="0"/>
              <a:buChar char="•"/>
            </a:pPr>
            <a:r>
              <a:rPr lang="en-US" sz="2400" b="1" dirty="0"/>
              <a:t>Database Query: </a:t>
            </a:r>
            <a:r>
              <a:rPr lang="en-US" sz="2400" dirty="0"/>
              <a:t>The Application Layer queries the database for products matching “wireless headphones” (Data Layer</a:t>
            </a:r>
            <a:r>
              <a:rPr lang="en-US" sz="2400" dirty="0" smtClean="0"/>
              <a:t>).</a:t>
            </a:r>
            <a:endParaRPr lang="en-US" sz="2400" dirty="0"/>
          </a:p>
          <a:p>
            <a:pPr marL="342900" indent="-342900" algn="just">
              <a:buFont typeface="Arial" panose="020B0604020202020204" pitchFamily="34" charset="0"/>
              <a:buChar char="•"/>
            </a:pPr>
            <a:r>
              <a:rPr lang="en-US" sz="2400" b="1" dirty="0"/>
              <a:t>Response: </a:t>
            </a:r>
            <a:r>
              <a:rPr lang="en-US" sz="2400" dirty="0"/>
              <a:t>The database returns results → the Application Layer formats them → the Presentation Layer displays them to the user.</a:t>
            </a:r>
          </a:p>
        </p:txBody>
      </p:sp>
      <p:sp>
        <p:nvSpPr>
          <p:cNvPr id="11" name="Rectangle 10"/>
          <p:cNvSpPr/>
          <p:nvPr/>
        </p:nvSpPr>
        <p:spPr>
          <a:xfrm>
            <a:off x="418016" y="4230589"/>
            <a:ext cx="11692704" cy="2308324"/>
          </a:xfrm>
          <a:prstGeom prst="rect">
            <a:avLst/>
          </a:prstGeom>
        </p:spPr>
        <p:txBody>
          <a:bodyPr wrap="square">
            <a:spAutoFit/>
          </a:bodyPr>
          <a:lstStyle/>
          <a:p>
            <a:pPr algn="just"/>
            <a:r>
              <a:rPr lang="en-US" sz="2400" b="1" i="1" dirty="0"/>
              <a:t>Major advantages</a:t>
            </a:r>
            <a:r>
              <a:rPr lang="en-US" sz="2400" b="1" dirty="0"/>
              <a:t> of </a:t>
            </a:r>
            <a:r>
              <a:rPr lang="en-US" sz="2400" b="1" dirty="0" smtClean="0"/>
              <a:t>three-tier </a:t>
            </a:r>
            <a:r>
              <a:rPr lang="en-US" sz="2400" b="1" dirty="0"/>
              <a:t>architecture :</a:t>
            </a:r>
          </a:p>
          <a:p>
            <a:pPr marL="342900" indent="-342900" algn="just">
              <a:buFont typeface="Arial" panose="020B0604020202020204" pitchFamily="34" charset="0"/>
              <a:buChar char="•"/>
            </a:pPr>
            <a:r>
              <a:rPr lang="en-US" sz="2400" dirty="0"/>
              <a:t>R</a:t>
            </a:r>
            <a:r>
              <a:rPr lang="en-US" sz="2400" dirty="0" smtClean="0"/>
              <a:t>educed </a:t>
            </a:r>
            <a:r>
              <a:rPr lang="en-US" sz="2400" dirty="0"/>
              <a:t>load on the Query processor enhancing the Database Design and </a:t>
            </a:r>
            <a:r>
              <a:rPr lang="en-US" sz="2400" dirty="0" smtClean="0"/>
              <a:t>security.</a:t>
            </a:r>
          </a:p>
          <a:p>
            <a:pPr marL="342900" indent="-342900" algn="just">
              <a:buFont typeface="Arial" panose="020B0604020202020204" pitchFamily="34" charset="0"/>
              <a:buChar char="•"/>
            </a:pPr>
            <a:r>
              <a:rPr lang="en-US" sz="2400" dirty="0" smtClean="0"/>
              <a:t>Scalability</a:t>
            </a:r>
          </a:p>
          <a:p>
            <a:pPr marL="342900" indent="-342900" algn="just">
              <a:buFont typeface="Arial" panose="020B0604020202020204" pitchFamily="34" charset="0"/>
              <a:buChar char="•"/>
            </a:pPr>
            <a:r>
              <a:rPr lang="en-US" sz="2400" dirty="0" smtClean="0"/>
              <a:t>Security</a:t>
            </a:r>
            <a:endParaRPr lang="en-US" sz="2400" dirty="0"/>
          </a:p>
          <a:p>
            <a:pPr algn="just"/>
            <a:r>
              <a:rPr lang="en-US" sz="2400" b="1" i="1" dirty="0"/>
              <a:t>Major disadvantages</a:t>
            </a:r>
            <a:r>
              <a:rPr lang="en-US" sz="2400" b="1" dirty="0"/>
              <a:t> of two-tier architecture </a:t>
            </a:r>
            <a:r>
              <a:rPr lang="en-US" sz="2400" b="1" dirty="0" smtClean="0"/>
              <a:t>:</a:t>
            </a:r>
          </a:p>
          <a:p>
            <a:pPr marL="342900" indent="-342900" algn="just">
              <a:buFont typeface="Arial" panose="020B0604020202020204" pitchFamily="34" charset="0"/>
              <a:buChar char="•"/>
            </a:pPr>
            <a:r>
              <a:rPr lang="en-US" sz="2400" dirty="0" smtClean="0"/>
              <a:t>Increased </a:t>
            </a:r>
            <a:r>
              <a:rPr lang="en-US" sz="2400" dirty="0"/>
              <a:t>complexity, higher infrastructure and development costs</a:t>
            </a:r>
            <a:endParaRPr lang="en-US" sz="2400" b="1" dirty="0"/>
          </a:p>
        </p:txBody>
      </p:sp>
    </p:spTree>
    <p:extLst>
      <p:ext uri="{BB962C8B-B14F-4D97-AF65-F5344CB8AC3E}">
        <p14:creationId xmlns:p14="http://schemas.microsoft.com/office/powerpoint/2010/main" val="387850616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06BA711-228E-B45C-8179-D76B6A5490E1}"/>
              </a:ext>
            </a:extLst>
          </p:cNvPr>
          <p:cNvSpPr>
            <a:spLocks noGrp="1"/>
          </p:cNvSpPr>
          <p:nvPr>
            <p:ph type="dt" sz="half" idx="10"/>
          </p:nvPr>
        </p:nvSpPr>
        <p:spPr/>
        <p:txBody>
          <a:bodyPr/>
          <a:lstStyle/>
          <a:p>
            <a:fld id="{C1CDDB05-7545-485D-BAE6-2CE87714CF19}" type="datetime1">
              <a:rPr lang="en-US" smtClean="0"/>
              <a:t>1/18/2026</a:t>
            </a:fld>
            <a:endParaRPr lang="en-US"/>
          </a:p>
        </p:txBody>
      </p:sp>
      <p:sp>
        <p:nvSpPr>
          <p:cNvPr id="5" name="Slide Number Placeholder 4">
            <a:extLst>
              <a:ext uri="{FF2B5EF4-FFF2-40B4-BE49-F238E27FC236}">
                <a16:creationId xmlns:a16="http://schemas.microsoft.com/office/drawing/2014/main" id="{2C96A1E9-DA17-11CA-721D-75EA6BD1D733}"/>
              </a:ext>
            </a:extLst>
          </p:cNvPr>
          <p:cNvSpPr>
            <a:spLocks noGrp="1"/>
          </p:cNvSpPr>
          <p:nvPr>
            <p:ph type="sldNum" sz="quarter" idx="12"/>
          </p:nvPr>
        </p:nvSpPr>
        <p:spPr/>
        <p:txBody>
          <a:bodyPr/>
          <a:lstStyle/>
          <a:p>
            <a:fld id="{E199BF8C-199A-420E-AD47-765295E635DE}" type="slidenum">
              <a:rPr lang="en-US" smtClean="0"/>
              <a:t>8</a:t>
            </a:fld>
            <a:endParaRPr lang="en-US"/>
          </a:p>
        </p:txBody>
      </p:sp>
      <p:sp>
        <p:nvSpPr>
          <p:cNvPr id="6" name="Rectangle 5">
            <a:extLst>
              <a:ext uri="{FF2B5EF4-FFF2-40B4-BE49-F238E27FC236}">
                <a16:creationId xmlns:a16="http://schemas.microsoft.com/office/drawing/2014/main" id="{31B29D6B-8476-9005-EFFF-DDC8C87BB079}"/>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684940F-9C63-A9F3-B799-406354FB04D1}"/>
              </a:ext>
            </a:extLst>
          </p:cNvPr>
          <p:cNvSpPr txBox="1"/>
          <p:nvPr/>
        </p:nvSpPr>
        <p:spPr>
          <a:xfrm>
            <a:off x="708529" y="121919"/>
            <a:ext cx="11402191" cy="707886"/>
          </a:xfrm>
          <a:prstGeom prst="rect">
            <a:avLst/>
          </a:prstGeom>
          <a:noFill/>
        </p:spPr>
        <p:txBody>
          <a:bodyPr wrap="square" rtlCol="0">
            <a:spAutoFit/>
          </a:bodyPr>
          <a:lstStyle/>
          <a:p>
            <a:r>
              <a:rPr lang="en-US" sz="4000" b="1" dirty="0" smtClean="0"/>
              <a:t>3-Tier Architecture Contd.  </a:t>
            </a:r>
            <a:endParaRPr lang="en-US" sz="4000" b="1" dirty="0">
              <a:effectLst/>
            </a:endParaRPr>
          </a:p>
        </p:txBody>
      </p:sp>
      <p:graphicFrame>
        <p:nvGraphicFramePr>
          <p:cNvPr id="2" name="Table 1"/>
          <p:cNvGraphicFramePr>
            <a:graphicFrameLocks noGrp="1"/>
          </p:cNvGraphicFramePr>
          <p:nvPr>
            <p:extLst>
              <p:ext uri="{D42A27DB-BD31-4B8C-83A1-F6EECF244321}">
                <p14:modId xmlns:p14="http://schemas.microsoft.com/office/powerpoint/2010/main" val="4185559246"/>
              </p:ext>
            </p:extLst>
          </p:nvPr>
        </p:nvGraphicFramePr>
        <p:xfrm>
          <a:off x="708529" y="1969612"/>
          <a:ext cx="10645275" cy="2253118"/>
        </p:xfrm>
        <a:graphic>
          <a:graphicData uri="http://schemas.openxmlformats.org/drawingml/2006/table">
            <a:tbl>
              <a:tblPr>
                <a:tableStyleId>{3B4B98B0-60AC-42C2-AFA5-B58CD77FA1E5}</a:tableStyleId>
              </a:tblPr>
              <a:tblGrid>
                <a:gridCol w="4049213">
                  <a:extLst>
                    <a:ext uri="{9D8B030D-6E8A-4147-A177-3AD203B41FA5}">
                      <a16:colId xmlns:a16="http://schemas.microsoft.com/office/drawing/2014/main" val="1705318355"/>
                    </a:ext>
                  </a:extLst>
                </a:gridCol>
                <a:gridCol w="6596062">
                  <a:extLst>
                    <a:ext uri="{9D8B030D-6E8A-4147-A177-3AD203B41FA5}">
                      <a16:colId xmlns:a16="http://schemas.microsoft.com/office/drawing/2014/main" val="3606497248"/>
                    </a:ext>
                  </a:extLst>
                </a:gridCol>
              </a:tblGrid>
              <a:tr h="440961">
                <a:tc>
                  <a:txBody>
                    <a:bodyPr/>
                    <a:lstStyle/>
                    <a:p>
                      <a:r>
                        <a:rPr lang="en-US" sz="2400" b="1"/>
                        <a:t>Layer</a:t>
                      </a:r>
                    </a:p>
                  </a:txBody>
                  <a:tcPr anchor="ctr">
                    <a:solidFill>
                      <a:schemeClr val="accent1">
                        <a:lumMod val="20000"/>
                        <a:lumOff val="80000"/>
                      </a:schemeClr>
                    </a:solidFill>
                  </a:tcPr>
                </a:tc>
                <a:tc>
                  <a:txBody>
                    <a:bodyPr/>
                    <a:lstStyle/>
                    <a:p>
                      <a:r>
                        <a:rPr lang="en-US" sz="2400" b="1" dirty="0"/>
                        <a:t>Common Technologies</a:t>
                      </a:r>
                    </a:p>
                  </a:txBody>
                  <a:tcPr anchor="ctr">
                    <a:solidFill>
                      <a:schemeClr val="accent1">
                        <a:lumMod val="20000"/>
                        <a:lumOff val="80000"/>
                      </a:schemeClr>
                    </a:solidFill>
                  </a:tcPr>
                </a:tc>
                <a:extLst>
                  <a:ext uri="{0D108BD9-81ED-4DB2-BD59-A6C34878D82A}">
                    <a16:rowId xmlns:a16="http://schemas.microsoft.com/office/drawing/2014/main" val="584436764"/>
                  </a:ext>
                </a:extLst>
              </a:tr>
              <a:tr h="440961">
                <a:tc>
                  <a:txBody>
                    <a:bodyPr/>
                    <a:lstStyle/>
                    <a:p>
                      <a:r>
                        <a:rPr lang="en-US" sz="2400"/>
                        <a:t>Presentation</a:t>
                      </a:r>
                    </a:p>
                  </a:txBody>
                  <a:tcPr anchor="ctr">
                    <a:solidFill>
                      <a:schemeClr val="accent1">
                        <a:lumMod val="20000"/>
                        <a:lumOff val="80000"/>
                      </a:schemeClr>
                    </a:solidFill>
                  </a:tcPr>
                </a:tc>
                <a:tc>
                  <a:txBody>
                    <a:bodyPr/>
                    <a:lstStyle/>
                    <a:p>
                      <a:r>
                        <a:rPr lang="en-US" sz="2400" dirty="0"/>
                        <a:t>HTML, CSS, JavaScript, </a:t>
                      </a:r>
                      <a:r>
                        <a:rPr lang="en-US" sz="2400" dirty="0" smtClean="0"/>
                        <a:t>React</a:t>
                      </a:r>
                      <a:endParaRPr lang="en-US" sz="2400" dirty="0"/>
                    </a:p>
                  </a:txBody>
                  <a:tcPr anchor="ctr">
                    <a:solidFill>
                      <a:schemeClr val="accent1">
                        <a:lumMod val="20000"/>
                        <a:lumOff val="80000"/>
                      </a:schemeClr>
                    </a:solidFill>
                  </a:tcPr>
                </a:tc>
                <a:extLst>
                  <a:ext uri="{0D108BD9-81ED-4DB2-BD59-A6C34878D82A}">
                    <a16:rowId xmlns:a16="http://schemas.microsoft.com/office/drawing/2014/main" val="1272281573"/>
                  </a:ext>
                </a:extLst>
              </a:tr>
              <a:tr h="544988">
                <a:tc>
                  <a:txBody>
                    <a:bodyPr/>
                    <a:lstStyle/>
                    <a:p>
                      <a:r>
                        <a:rPr lang="en-US" sz="2400"/>
                        <a:t>Application</a:t>
                      </a:r>
                    </a:p>
                  </a:txBody>
                  <a:tcPr anchor="ctr">
                    <a:solidFill>
                      <a:schemeClr val="accent1">
                        <a:lumMod val="20000"/>
                        <a:lumOff val="80000"/>
                      </a:schemeClr>
                    </a:solidFill>
                  </a:tcPr>
                </a:tc>
                <a:tc>
                  <a:txBody>
                    <a:bodyPr/>
                    <a:lstStyle/>
                    <a:p>
                      <a:r>
                        <a:rPr lang="nl-NL" sz="2400" dirty="0"/>
                        <a:t>Node.js, Django, Spring </a:t>
                      </a:r>
                      <a:r>
                        <a:rPr lang="nl-NL" sz="2400" dirty="0" smtClean="0"/>
                        <a:t>Boot</a:t>
                      </a:r>
                      <a:endParaRPr lang="nl-NL" sz="2400" dirty="0"/>
                    </a:p>
                  </a:txBody>
                  <a:tcPr anchor="ctr">
                    <a:solidFill>
                      <a:schemeClr val="accent1">
                        <a:lumMod val="20000"/>
                        <a:lumOff val="80000"/>
                      </a:schemeClr>
                    </a:solidFill>
                  </a:tcPr>
                </a:tc>
                <a:extLst>
                  <a:ext uri="{0D108BD9-81ED-4DB2-BD59-A6C34878D82A}">
                    <a16:rowId xmlns:a16="http://schemas.microsoft.com/office/drawing/2014/main" val="434389166"/>
                  </a:ext>
                </a:extLst>
              </a:tr>
              <a:tr h="793730">
                <a:tc>
                  <a:txBody>
                    <a:bodyPr/>
                    <a:lstStyle/>
                    <a:p>
                      <a:r>
                        <a:rPr lang="en-US" sz="2400"/>
                        <a:t>Database</a:t>
                      </a:r>
                    </a:p>
                  </a:txBody>
                  <a:tcPr anchor="ctr">
                    <a:solidFill>
                      <a:schemeClr val="accent1">
                        <a:lumMod val="20000"/>
                        <a:lumOff val="80000"/>
                      </a:schemeClr>
                    </a:solidFill>
                  </a:tcPr>
                </a:tc>
                <a:tc>
                  <a:txBody>
                    <a:bodyPr/>
                    <a:lstStyle/>
                    <a:p>
                      <a:r>
                        <a:rPr lang="en-US" sz="2400" dirty="0"/>
                        <a:t>MySQL, PostgreSQL, Oracle, MongoDB</a:t>
                      </a:r>
                    </a:p>
                  </a:txBody>
                  <a:tcPr anchor="ctr">
                    <a:solidFill>
                      <a:schemeClr val="accent1">
                        <a:lumMod val="20000"/>
                        <a:lumOff val="80000"/>
                      </a:schemeClr>
                    </a:solidFill>
                  </a:tcPr>
                </a:tc>
                <a:extLst>
                  <a:ext uri="{0D108BD9-81ED-4DB2-BD59-A6C34878D82A}">
                    <a16:rowId xmlns:a16="http://schemas.microsoft.com/office/drawing/2014/main" val="3843320011"/>
                  </a:ext>
                </a:extLst>
              </a:tr>
            </a:tbl>
          </a:graphicData>
        </a:graphic>
      </p:graphicFrame>
      <p:sp>
        <p:nvSpPr>
          <p:cNvPr id="7" name="Rectangle 6"/>
          <p:cNvSpPr/>
          <p:nvPr/>
        </p:nvSpPr>
        <p:spPr>
          <a:xfrm>
            <a:off x="565654" y="1294933"/>
            <a:ext cx="4492121" cy="461665"/>
          </a:xfrm>
          <a:prstGeom prst="rect">
            <a:avLst/>
          </a:prstGeom>
        </p:spPr>
        <p:txBody>
          <a:bodyPr wrap="square">
            <a:spAutoFit/>
          </a:bodyPr>
          <a:lstStyle/>
          <a:p>
            <a:pPr marL="342900" indent="-342900">
              <a:buFont typeface="Arial" panose="020B0604020202020204" pitchFamily="34" charset="0"/>
              <a:buChar char="•"/>
            </a:pPr>
            <a:r>
              <a:rPr lang="en-US" sz="2400" b="1" dirty="0"/>
              <a:t>Example Technologies Used</a:t>
            </a:r>
          </a:p>
        </p:txBody>
      </p:sp>
    </p:spTree>
    <p:extLst>
      <p:ext uri="{BB962C8B-B14F-4D97-AF65-F5344CB8AC3E}">
        <p14:creationId xmlns:p14="http://schemas.microsoft.com/office/powerpoint/2010/main" val="55110477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06BA711-228E-B45C-8179-D76B6A5490E1}"/>
              </a:ext>
            </a:extLst>
          </p:cNvPr>
          <p:cNvSpPr>
            <a:spLocks noGrp="1"/>
          </p:cNvSpPr>
          <p:nvPr>
            <p:ph type="dt" sz="half" idx="10"/>
          </p:nvPr>
        </p:nvSpPr>
        <p:spPr/>
        <p:txBody>
          <a:bodyPr/>
          <a:lstStyle/>
          <a:p>
            <a:fld id="{C1CDDB05-7545-485D-BAE6-2CE87714CF19}" type="datetime1">
              <a:rPr lang="en-US" smtClean="0"/>
              <a:t>1/18/2026</a:t>
            </a:fld>
            <a:endParaRPr lang="en-US"/>
          </a:p>
        </p:txBody>
      </p:sp>
      <p:sp>
        <p:nvSpPr>
          <p:cNvPr id="5" name="Slide Number Placeholder 4">
            <a:extLst>
              <a:ext uri="{FF2B5EF4-FFF2-40B4-BE49-F238E27FC236}">
                <a16:creationId xmlns:a16="http://schemas.microsoft.com/office/drawing/2014/main" id="{2C96A1E9-DA17-11CA-721D-75EA6BD1D733}"/>
              </a:ext>
            </a:extLst>
          </p:cNvPr>
          <p:cNvSpPr>
            <a:spLocks noGrp="1"/>
          </p:cNvSpPr>
          <p:nvPr>
            <p:ph type="sldNum" sz="quarter" idx="12"/>
          </p:nvPr>
        </p:nvSpPr>
        <p:spPr/>
        <p:txBody>
          <a:bodyPr/>
          <a:lstStyle/>
          <a:p>
            <a:fld id="{E199BF8C-199A-420E-AD47-765295E635DE}" type="slidenum">
              <a:rPr lang="en-US" smtClean="0"/>
              <a:t>9</a:t>
            </a:fld>
            <a:endParaRPr lang="en-US"/>
          </a:p>
        </p:txBody>
      </p:sp>
      <p:sp>
        <p:nvSpPr>
          <p:cNvPr id="6" name="Rectangle 5">
            <a:extLst>
              <a:ext uri="{FF2B5EF4-FFF2-40B4-BE49-F238E27FC236}">
                <a16:creationId xmlns:a16="http://schemas.microsoft.com/office/drawing/2014/main" id="{31B29D6B-8476-9005-EFFF-DDC8C87BB079}"/>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684940F-9C63-A9F3-B799-406354FB04D1}"/>
              </a:ext>
            </a:extLst>
          </p:cNvPr>
          <p:cNvSpPr txBox="1"/>
          <p:nvPr/>
        </p:nvSpPr>
        <p:spPr>
          <a:xfrm>
            <a:off x="708529" y="121919"/>
            <a:ext cx="11402191" cy="707886"/>
          </a:xfrm>
          <a:prstGeom prst="rect">
            <a:avLst/>
          </a:prstGeom>
          <a:noFill/>
        </p:spPr>
        <p:txBody>
          <a:bodyPr wrap="square" rtlCol="0">
            <a:spAutoFit/>
          </a:bodyPr>
          <a:lstStyle/>
          <a:p>
            <a:pPr algn="just"/>
            <a:r>
              <a:rPr lang="en-US" sz="4000" b="0" i="0" dirty="0">
                <a:effectLst/>
                <a:latin typeface="erdana"/>
              </a:rPr>
              <a:t>Schema</a:t>
            </a:r>
          </a:p>
        </p:txBody>
      </p:sp>
      <p:sp>
        <p:nvSpPr>
          <p:cNvPr id="2" name="TextBox 1">
            <a:extLst>
              <a:ext uri="{FF2B5EF4-FFF2-40B4-BE49-F238E27FC236}">
                <a16:creationId xmlns:a16="http://schemas.microsoft.com/office/drawing/2014/main" id="{308CA695-4812-5E27-2A2F-1C13469EF6C1}"/>
              </a:ext>
            </a:extLst>
          </p:cNvPr>
          <p:cNvSpPr txBox="1"/>
          <p:nvPr/>
        </p:nvSpPr>
        <p:spPr>
          <a:xfrm>
            <a:off x="838201" y="1079292"/>
            <a:ext cx="10406974" cy="2308324"/>
          </a:xfrm>
          <a:prstGeom prst="rect">
            <a:avLst/>
          </a:prstGeom>
          <a:noFill/>
        </p:spPr>
        <p:txBody>
          <a:bodyPr wrap="square">
            <a:spAutoFit/>
          </a:bodyPr>
          <a:lstStyle/>
          <a:p>
            <a:pPr marL="342900" indent="-342900" algn="just">
              <a:buFont typeface="Arial" panose="020B0604020202020204" pitchFamily="34" charset="0"/>
              <a:buChar char="•"/>
            </a:pPr>
            <a:r>
              <a:rPr lang="en-US" sz="2400" b="1" i="1" dirty="0">
                <a:solidFill>
                  <a:srgbClr val="333333"/>
                </a:solidFill>
                <a:latin typeface="inter-bold"/>
              </a:rPr>
              <a:t>A database schema is the skeleton structure that represents the logical view of the entire database.</a:t>
            </a:r>
          </a:p>
          <a:p>
            <a:pPr marL="342900" indent="-342900" algn="just">
              <a:buFont typeface="Arial" panose="020B0604020202020204" pitchFamily="34" charset="0"/>
              <a:buChar char="•"/>
            </a:pPr>
            <a:endParaRPr lang="en-US" sz="2400" i="0" dirty="0">
              <a:solidFill>
                <a:srgbClr val="333333"/>
              </a:solidFill>
              <a:effectLst/>
              <a:latin typeface="inter-bold"/>
            </a:endParaRPr>
          </a:p>
          <a:p>
            <a:pPr marL="342900" indent="-342900" algn="just">
              <a:buFont typeface="Arial" panose="020B0604020202020204" pitchFamily="34" charset="0"/>
              <a:buChar char="•"/>
            </a:pPr>
            <a:r>
              <a:rPr lang="en-US" sz="2400" i="0" dirty="0">
                <a:solidFill>
                  <a:srgbClr val="000000"/>
                </a:solidFill>
                <a:effectLst/>
                <a:latin typeface="inter-regular"/>
              </a:rPr>
              <a:t>It defines how the data is organized and how the relations among them are associated.</a:t>
            </a:r>
          </a:p>
          <a:p>
            <a:pPr algn="just"/>
            <a:r>
              <a:rPr lang="en-US" sz="2400" i="0" dirty="0" smtClean="0">
                <a:solidFill>
                  <a:srgbClr val="000000"/>
                </a:solidFill>
                <a:effectLst/>
                <a:latin typeface="inter-regular"/>
              </a:rPr>
              <a:t>.</a:t>
            </a:r>
            <a:endParaRPr lang="en-US" sz="2400" i="0" dirty="0">
              <a:solidFill>
                <a:srgbClr val="000000"/>
              </a:solidFill>
              <a:effectLst/>
              <a:latin typeface="inter-regular"/>
            </a:endParaRPr>
          </a:p>
        </p:txBody>
      </p:sp>
    </p:spTree>
    <p:extLst>
      <p:ext uri="{BB962C8B-B14F-4D97-AF65-F5344CB8AC3E}">
        <p14:creationId xmlns:p14="http://schemas.microsoft.com/office/powerpoint/2010/main" val="38040195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06BA711-228E-B45C-8179-D76B6A5490E1}"/>
              </a:ext>
            </a:extLst>
          </p:cNvPr>
          <p:cNvSpPr>
            <a:spLocks noGrp="1"/>
          </p:cNvSpPr>
          <p:nvPr>
            <p:ph type="dt" sz="half" idx="10"/>
          </p:nvPr>
        </p:nvSpPr>
        <p:spPr/>
        <p:txBody>
          <a:bodyPr/>
          <a:lstStyle/>
          <a:p>
            <a:fld id="{C1CDDB05-7545-485D-BAE6-2CE87714CF19}" type="datetime1">
              <a:rPr lang="en-US" smtClean="0"/>
              <a:t>1/18/2026</a:t>
            </a:fld>
            <a:endParaRPr lang="en-US"/>
          </a:p>
        </p:txBody>
      </p:sp>
      <p:sp>
        <p:nvSpPr>
          <p:cNvPr id="5" name="Slide Number Placeholder 4">
            <a:extLst>
              <a:ext uri="{FF2B5EF4-FFF2-40B4-BE49-F238E27FC236}">
                <a16:creationId xmlns:a16="http://schemas.microsoft.com/office/drawing/2014/main" id="{2C96A1E9-DA17-11CA-721D-75EA6BD1D733}"/>
              </a:ext>
            </a:extLst>
          </p:cNvPr>
          <p:cNvSpPr>
            <a:spLocks noGrp="1"/>
          </p:cNvSpPr>
          <p:nvPr>
            <p:ph type="sldNum" sz="quarter" idx="12"/>
          </p:nvPr>
        </p:nvSpPr>
        <p:spPr/>
        <p:txBody>
          <a:bodyPr/>
          <a:lstStyle/>
          <a:p>
            <a:fld id="{E199BF8C-199A-420E-AD47-765295E635DE}" type="slidenum">
              <a:rPr lang="en-US" smtClean="0"/>
              <a:t>10</a:t>
            </a:fld>
            <a:endParaRPr lang="en-US"/>
          </a:p>
        </p:txBody>
      </p:sp>
      <p:sp>
        <p:nvSpPr>
          <p:cNvPr id="6" name="Rectangle 5">
            <a:extLst>
              <a:ext uri="{FF2B5EF4-FFF2-40B4-BE49-F238E27FC236}">
                <a16:creationId xmlns:a16="http://schemas.microsoft.com/office/drawing/2014/main" id="{31B29D6B-8476-9005-EFFF-DDC8C87BB079}"/>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684940F-9C63-A9F3-B799-406354FB04D1}"/>
              </a:ext>
            </a:extLst>
          </p:cNvPr>
          <p:cNvSpPr txBox="1"/>
          <p:nvPr/>
        </p:nvSpPr>
        <p:spPr>
          <a:xfrm>
            <a:off x="708529" y="121919"/>
            <a:ext cx="11402191" cy="707886"/>
          </a:xfrm>
          <a:prstGeom prst="rect">
            <a:avLst/>
          </a:prstGeom>
          <a:noFill/>
        </p:spPr>
        <p:txBody>
          <a:bodyPr wrap="square" rtlCol="0">
            <a:spAutoFit/>
          </a:bodyPr>
          <a:lstStyle/>
          <a:p>
            <a:pPr algn="just"/>
            <a:r>
              <a:rPr lang="en-US" sz="4000" b="0" i="0" dirty="0">
                <a:effectLst/>
                <a:latin typeface="erdana"/>
              </a:rPr>
              <a:t>Schema</a:t>
            </a:r>
          </a:p>
        </p:txBody>
      </p:sp>
      <p:sp>
        <p:nvSpPr>
          <p:cNvPr id="2" name="TextBox 1">
            <a:extLst>
              <a:ext uri="{FF2B5EF4-FFF2-40B4-BE49-F238E27FC236}">
                <a16:creationId xmlns:a16="http://schemas.microsoft.com/office/drawing/2014/main" id="{308CA695-4812-5E27-2A2F-1C13469EF6C1}"/>
              </a:ext>
            </a:extLst>
          </p:cNvPr>
          <p:cNvSpPr txBox="1"/>
          <p:nvPr/>
        </p:nvSpPr>
        <p:spPr>
          <a:xfrm>
            <a:off x="838201" y="1079292"/>
            <a:ext cx="10406974" cy="4893647"/>
          </a:xfrm>
          <a:prstGeom prst="rect">
            <a:avLst/>
          </a:prstGeom>
          <a:noFill/>
        </p:spPr>
        <p:txBody>
          <a:bodyPr wrap="square">
            <a:spAutoFit/>
          </a:bodyPr>
          <a:lstStyle/>
          <a:p>
            <a:pPr marL="342900" indent="-342900" algn="just">
              <a:buFont typeface="Arial" panose="020B0604020202020204" pitchFamily="34" charset="0"/>
              <a:buChar char="•"/>
            </a:pPr>
            <a:r>
              <a:rPr lang="en-US" sz="2400" i="0" dirty="0">
                <a:solidFill>
                  <a:srgbClr val="000000"/>
                </a:solidFill>
                <a:effectLst/>
                <a:latin typeface="inter-regular"/>
              </a:rPr>
              <a:t>Student</a:t>
            </a:r>
          </a:p>
          <a:p>
            <a:pPr marL="800100" lvl="1" indent="-342900" algn="just">
              <a:buFont typeface="Arial" panose="020B0604020202020204" pitchFamily="34" charset="0"/>
              <a:buChar char="•"/>
            </a:pPr>
            <a:r>
              <a:rPr lang="en-US" sz="2400" i="0" dirty="0">
                <a:solidFill>
                  <a:srgbClr val="000000"/>
                </a:solidFill>
                <a:effectLst/>
                <a:latin typeface="inter-regular"/>
              </a:rPr>
              <a:t>roll no</a:t>
            </a:r>
          </a:p>
          <a:p>
            <a:pPr marL="800100" lvl="1" indent="-342900" algn="just">
              <a:buFont typeface="Arial" panose="020B0604020202020204" pitchFamily="34" charset="0"/>
              <a:buChar char="•"/>
            </a:pPr>
            <a:r>
              <a:rPr lang="en-US" sz="2400" dirty="0">
                <a:solidFill>
                  <a:srgbClr val="000000"/>
                </a:solidFill>
                <a:latin typeface="inter-regular"/>
              </a:rPr>
              <a:t>reg no</a:t>
            </a:r>
          </a:p>
          <a:p>
            <a:pPr marL="800100" lvl="1" indent="-342900" algn="just">
              <a:buFont typeface="Arial" panose="020B0604020202020204" pitchFamily="34" charset="0"/>
              <a:buChar char="•"/>
            </a:pPr>
            <a:r>
              <a:rPr lang="en-US" sz="2400" dirty="0">
                <a:solidFill>
                  <a:srgbClr val="000000"/>
                </a:solidFill>
                <a:latin typeface="inter-regular"/>
              </a:rPr>
              <a:t>e</a:t>
            </a:r>
            <a:r>
              <a:rPr lang="en-US" sz="2400" i="0" dirty="0">
                <a:solidFill>
                  <a:srgbClr val="000000"/>
                </a:solidFill>
                <a:effectLst/>
                <a:latin typeface="inter-regular"/>
              </a:rPr>
              <a:t>mail</a:t>
            </a:r>
          </a:p>
          <a:p>
            <a:pPr marL="800100" lvl="1" indent="-342900" algn="just">
              <a:buFont typeface="Arial" panose="020B0604020202020204" pitchFamily="34" charset="0"/>
              <a:buChar char="•"/>
            </a:pPr>
            <a:r>
              <a:rPr lang="en-US" sz="2400" i="0" dirty="0">
                <a:solidFill>
                  <a:srgbClr val="000000"/>
                </a:solidFill>
                <a:effectLst/>
                <a:latin typeface="inter-regular"/>
              </a:rPr>
              <a:t>name</a:t>
            </a:r>
          </a:p>
          <a:p>
            <a:pPr marL="342900" indent="-342900" algn="just">
              <a:buFont typeface="Arial" panose="020B0604020202020204" pitchFamily="34" charset="0"/>
              <a:buChar char="•"/>
            </a:pPr>
            <a:r>
              <a:rPr lang="en-US" sz="2400" dirty="0">
                <a:solidFill>
                  <a:srgbClr val="000000"/>
                </a:solidFill>
                <a:latin typeface="inter-regular"/>
              </a:rPr>
              <a:t>Course</a:t>
            </a:r>
          </a:p>
          <a:p>
            <a:pPr marL="800100" lvl="1" indent="-342900" algn="just">
              <a:buFont typeface="Arial" panose="020B0604020202020204" pitchFamily="34" charset="0"/>
              <a:buChar char="•"/>
            </a:pPr>
            <a:r>
              <a:rPr lang="en-US" sz="2400" dirty="0">
                <a:solidFill>
                  <a:srgbClr val="000000"/>
                </a:solidFill>
                <a:latin typeface="inter-regular"/>
              </a:rPr>
              <a:t>Course code or id</a:t>
            </a:r>
          </a:p>
          <a:p>
            <a:pPr marL="800100" lvl="1" indent="-342900" algn="just">
              <a:buFont typeface="Arial" panose="020B0604020202020204" pitchFamily="34" charset="0"/>
              <a:buChar char="•"/>
            </a:pPr>
            <a:r>
              <a:rPr lang="en-US" sz="2400" dirty="0">
                <a:solidFill>
                  <a:srgbClr val="000000"/>
                </a:solidFill>
                <a:latin typeface="inter-regular"/>
              </a:rPr>
              <a:t>Course title</a:t>
            </a:r>
          </a:p>
          <a:p>
            <a:pPr marL="800100" lvl="1" indent="-342900" algn="just">
              <a:buFont typeface="Arial" panose="020B0604020202020204" pitchFamily="34" charset="0"/>
              <a:buChar char="•"/>
            </a:pPr>
            <a:r>
              <a:rPr lang="en-US" sz="2400" dirty="0">
                <a:solidFill>
                  <a:srgbClr val="000000"/>
                </a:solidFill>
                <a:latin typeface="inter-regular"/>
              </a:rPr>
              <a:t>Credit </a:t>
            </a:r>
          </a:p>
          <a:p>
            <a:pPr marL="342900" indent="-342900" algn="just">
              <a:buFont typeface="Arial" panose="020B0604020202020204" pitchFamily="34" charset="0"/>
              <a:buChar char="•"/>
            </a:pPr>
            <a:r>
              <a:rPr lang="en-US" sz="2400" i="0" dirty="0">
                <a:solidFill>
                  <a:srgbClr val="000000"/>
                </a:solidFill>
                <a:effectLst/>
                <a:latin typeface="inter-regular"/>
              </a:rPr>
              <a:t>Teacher</a:t>
            </a:r>
          </a:p>
          <a:p>
            <a:pPr marL="800100" lvl="1" indent="-342900" algn="just">
              <a:buFont typeface="Arial" panose="020B0604020202020204" pitchFamily="34" charset="0"/>
              <a:buChar char="•"/>
            </a:pPr>
            <a:r>
              <a:rPr lang="en-US" sz="2400" dirty="0">
                <a:solidFill>
                  <a:srgbClr val="000000"/>
                </a:solidFill>
                <a:latin typeface="inter-regular"/>
              </a:rPr>
              <a:t>Name</a:t>
            </a:r>
          </a:p>
          <a:p>
            <a:pPr marL="800100" lvl="1" indent="-342900" algn="just">
              <a:buFont typeface="Arial" panose="020B0604020202020204" pitchFamily="34" charset="0"/>
              <a:buChar char="•"/>
            </a:pPr>
            <a:r>
              <a:rPr lang="en-US" sz="2400" i="0" dirty="0">
                <a:solidFill>
                  <a:srgbClr val="000000"/>
                </a:solidFill>
                <a:effectLst/>
                <a:latin typeface="inter-regular"/>
              </a:rPr>
              <a:t>Email</a:t>
            </a:r>
          </a:p>
          <a:p>
            <a:pPr marL="800100" lvl="1" indent="-342900" algn="just">
              <a:buFont typeface="Arial" panose="020B0604020202020204" pitchFamily="34" charset="0"/>
              <a:buChar char="•"/>
            </a:pPr>
            <a:r>
              <a:rPr lang="en-US" sz="2400" dirty="0">
                <a:solidFill>
                  <a:srgbClr val="000000"/>
                </a:solidFill>
                <a:latin typeface="inter-regular"/>
              </a:rPr>
              <a:t>Designation</a:t>
            </a:r>
            <a:endParaRPr lang="en-US" sz="2400" i="0" dirty="0">
              <a:solidFill>
                <a:srgbClr val="000000"/>
              </a:solidFill>
              <a:effectLst/>
              <a:latin typeface="inter-regular"/>
            </a:endParaRPr>
          </a:p>
        </p:txBody>
      </p:sp>
      <p:sp>
        <p:nvSpPr>
          <p:cNvPr id="8" name="TextBox 7">
            <a:extLst>
              <a:ext uri="{FF2B5EF4-FFF2-40B4-BE49-F238E27FC236}">
                <a16:creationId xmlns:a16="http://schemas.microsoft.com/office/drawing/2014/main" id="{EEA662A4-4E34-3C95-7F93-4E0A6E05C4AA}"/>
              </a:ext>
            </a:extLst>
          </p:cNvPr>
          <p:cNvSpPr txBox="1"/>
          <p:nvPr/>
        </p:nvSpPr>
        <p:spPr>
          <a:xfrm>
            <a:off x="5068111" y="2642596"/>
            <a:ext cx="6741268" cy="1200329"/>
          </a:xfrm>
          <a:prstGeom prst="rect">
            <a:avLst/>
          </a:prstGeom>
          <a:noFill/>
        </p:spPr>
        <p:txBody>
          <a:bodyPr wrap="square">
            <a:spAutoFit/>
          </a:bodyPr>
          <a:lstStyle/>
          <a:p>
            <a:pPr marL="342900" indent="-342900" algn="just">
              <a:buFont typeface="Arial" panose="020B0604020202020204" pitchFamily="34" charset="0"/>
              <a:buChar char="•"/>
            </a:pPr>
            <a:r>
              <a:rPr lang="en-US" sz="2400" i="0" dirty="0">
                <a:solidFill>
                  <a:srgbClr val="000000"/>
                </a:solidFill>
                <a:effectLst/>
                <a:latin typeface="inter-regular"/>
              </a:rPr>
              <a:t>Logical representation of the DB</a:t>
            </a:r>
          </a:p>
          <a:p>
            <a:pPr marL="342900" indent="-342900" algn="just">
              <a:buFont typeface="Arial" panose="020B0604020202020204" pitchFamily="34" charset="0"/>
              <a:buChar char="•"/>
            </a:pPr>
            <a:endParaRPr lang="en-US" sz="2400" dirty="0">
              <a:solidFill>
                <a:srgbClr val="000000"/>
              </a:solidFill>
              <a:latin typeface="inter-regular"/>
            </a:endParaRPr>
          </a:p>
          <a:p>
            <a:pPr marL="342900" indent="-342900" algn="just">
              <a:buFont typeface="Arial" panose="020B0604020202020204" pitchFamily="34" charset="0"/>
              <a:buChar char="•"/>
            </a:pPr>
            <a:r>
              <a:rPr lang="en-US" sz="2400" i="0" dirty="0">
                <a:solidFill>
                  <a:srgbClr val="000000"/>
                </a:solidFill>
                <a:effectLst/>
                <a:latin typeface="inter-regular"/>
              </a:rPr>
              <a:t>It can have a single table or a collection of tables </a:t>
            </a:r>
          </a:p>
        </p:txBody>
      </p:sp>
      <p:grpSp>
        <p:nvGrpSpPr>
          <p:cNvPr id="11" name="Group 10">
            <a:extLst>
              <a:ext uri="{FF2B5EF4-FFF2-40B4-BE49-F238E27FC236}">
                <a16:creationId xmlns:a16="http://schemas.microsoft.com/office/drawing/2014/main" id="{AA8F7E49-6BB7-2F06-FFCC-FB4395798A2D}"/>
              </a:ext>
            </a:extLst>
          </p:cNvPr>
          <p:cNvGrpSpPr/>
          <p:nvPr/>
        </p:nvGrpSpPr>
        <p:grpSpPr>
          <a:xfrm>
            <a:off x="2655460" y="515053"/>
            <a:ext cx="2355480" cy="1965240"/>
            <a:chOff x="2655460" y="515053"/>
            <a:chExt cx="2355480" cy="1965240"/>
          </a:xfrm>
        </p:grpSpPr>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46D639E8-E024-55BC-2814-2BD062AFB3AF}"/>
                    </a:ext>
                  </a:extLst>
                </p14:cNvPr>
                <p14:cNvContentPartPr/>
                <p14:nvPr/>
              </p14:nvContentPartPr>
              <p14:xfrm>
                <a:off x="2655460" y="515053"/>
                <a:ext cx="2316240" cy="1965240"/>
              </p14:xfrm>
            </p:contentPart>
          </mc:Choice>
          <mc:Fallback xmlns="">
            <p:pic>
              <p:nvPicPr>
                <p:cNvPr id="9" name="Ink 8">
                  <a:extLst>
                    <a:ext uri="{FF2B5EF4-FFF2-40B4-BE49-F238E27FC236}">
                      <a16:creationId xmlns:a16="http://schemas.microsoft.com/office/drawing/2014/main" id="{46D639E8-E024-55BC-2814-2BD062AFB3AF}"/>
                    </a:ext>
                  </a:extLst>
                </p:cNvPr>
                <p:cNvPicPr/>
                <p:nvPr/>
              </p:nvPicPr>
              <p:blipFill>
                <a:blip r:embed="rId3"/>
                <a:stretch>
                  <a:fillRect/>
                </a:stretch>
              </p:blipFill>
              <p:spPr>
                <a:xfrm>
                  <a:off x="2649340" y="508933"/>
                  <a:ext cx="2328480" cy="19774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AE80343B-A5F0-FB42-5470-60AF3FE6FE7A}"/>
                    </a:ext>
                  </a:extLst>
                </p14:cNvPr>
                <p14:cNvContentPartPr/>
                <p14:nvPr/>
              </p14:nvContentPartPr>
              <p14:xfrm>
                <a:off x="4659220" y="1965493"/>
                <a:ext cx="351720" cy="503280"/>
              </p14:xfrm>
            </p:contentPart>
          </mc:Choice>
          <mc:Fallback xmlns="">
            <p:pic>
              <p:nvPicPr>
                <p:cNvPr id="10" name="Ink 9">
                  <a:extLst>
                    <a:ext uri="{FF2B5EF4-FFF2-40B4-BE49-F238E27FC236}">
                      <a16:creationId xmlns:a16="http://schemas.microsoft.com/office/drawing/2014/main" id="{AE80343B-A5F0-FB42-5470-60AF3FE6FE7A}"/>
                    </a:ext>
                  </a:extLst>
                </p:cNvPr>
                <p:cNvPicPr/>
                <p:nvPr/>
              </p:nvPicPr>
              <p:blipFill>
                <a:blip r:embed="rId5"/>
                <a:stretch>
                  <a:fillRect/>
                </a:stretch>
              </p:blipFill>
              <p:spPr>
                <a:xfrm>
                  <a:off x="4653100" y="1959373"/>
                  <a:ext cx="363960" cy="515520"/>
                </a:xfrm>
                <a:prstGeom prst="rect">
                  <a:avLst/>
                </a:prstGeom>
              </p:spPr>
            </p:pic>
          </mc:Fallback>
        </mc:AlternateContent>
      </p:grpSp>
    </p:spTree>
    <p:extLst>
      <p:ext uri="{BB962C8B-B14F-4D97-AF65-F5344CB8AC3E}">
        <p14:creationId xmlns:p14="http://schemas.microsoft.com/office/powerpoint/2010/main" val="30447172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06BA711-228E-B45C-8179-D76B6A5490E1}"/>
              </a:ext>
            </a:extLst>
          </p:cNvPr>
          <p:cNvSpPr>
            <a:spLocks noGrp="1"/>
          </p:cNvSpPr>
          <p:nvPr>
            <p:ph type="dt" sz="half" idx="10"/>
          </p:nvPr>
        </p:nvSpPr>
        <p:spPr/>
        <p:txBody>
          <a:bodyPr/>
          <a:lstStyle/>
          <a:p>
            <a:fld id="{C1CDDB05-7545-485D-BAE6-2CE87714CF19}" type="datetime1">
              <a:rPr lang="en-US" smtClean="0"/>
              <a:t>1/18/2026</a:t>
            </a:fld>
            <a:endParaRPr lang="en-US"/>
          </a:p>
        </p:txBody>
      </p:sp>
      <p:sp>
        <p:nvSpPr>
          <p:cNvPr id="5" name="Slide Number Placeholder 4">
            <a:extLst>
              <a:ext uri="{FF2B5EF4-FFF2-40B4-BE49-F238E27FC236}">
                <a16:creationId xmlns:a16="http://schemas.microsoft.com/office/drawing/2014/main" id="{2C96A1E9-DA17-11CA-721D-75EA6BD1D733}"/>
              </a:ext>
            </a:extLst>
          </p:cNvPr>
          <p:cNvSpPr>
            <a:spLocks noGrp="1"/>
          </p:cNvSpPr>
          <p:nvPr>
            <p:ph type="sldNum" sz="quarter" idx="12"/>
          </p:nvPr>
        </p:nvSpPr>
        <p:spPr/>
        <p:txBody>
          <a:bodyPr/>
          <a:lstStyle/>
          <a:p>
            <a:fld id="{E199BF8C-199A-420E-AD47-765295E635DE}" type="slidenum">
              <a:rPr lang="en-US" smtClean="0"/>
              <a:t>11</a:t>
            </a:fld>
            <a:endParaRPr lang="en-US"/>
          </a:p>
        </p:txBody>
      </p:sp>
      <p:sp>
        <p:nvSpPr>
          <p:cNvPr id="6" name="Rectangle 5">
            <a:extLst>
              <a:ext uri="{FF2B5EF4-FFF2-40B4-BE49-F238E27FC236}">
                <a16:creationId xmlns:a16="http://schemas.microsoft.com/office/drawing/2014/main" id="{31B29D6B-8476-9005-EFFF-DDC8C87BB079}"/>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684940F-9C63-A9F3-B799-406354FB04D1}"/>
              </a:ext>
            </a:extLst>
          </p:cNvPr>
          <p:cNvSpPr txBox="1"/>
          <p:nvPr/>
        </p:nvSpPr>
        <p:spPr>
          <a:xfrm>
            <a:off x="708529" y="121919"/>
            <a:ext cx="11402191" cy="707886"/>
          </a:xfrm>
          <a:prstGeom prst="rect">
            <a:avLst/>
          </a:prstGeom>
          <a:noFill/>
        </p:spPr>
        <p:txBody>
          <a:bodyPr wrap="square" rtlCol="0">
            <a:spAutoFit/>
          </a:bodyPr>
          <a:lstStyle/>
          <a:p>
            <a:pPr algn="just"/>
            <a:r>
              <a:rPr lang="en-US" sz="4000" b="0" i="0" dirty="0">
                <a:effectLst/>
                <a:latin typeface="erdana"/>
              </a:rPr>
              <a:t>Schema</a:t>
            </a:r>
          </a:p>
        </p:txBody>
      </p:sp>
      <p:sp>
        <p:nvSpPr>
          <p:cNvPr id="2" name="TextBox 1">
            <a:extLst>
              <a:ext uri="{FF2B5EF4-FFF2-40B4-BE49-F238E27FC236}">
                <a16:creationId xmlns:a16="http://schemas.microsoft.com/office/drawing/2014/main" id="{308CA695-4812-5E27-2A2F-1C13469EF6C1}"/>
              </a:ext>
            </a:extLst>
          </p:cNvPr>
          <p:cNvSpPr txBox="1"/>
          <p:nvPr/>
        </p:nvSpPr>
        <p:spPr>
          <a:xfrm>
            <a:off x="838201" y="1079292"/>
            <a:ext cx="10406974" cy="461665"/>
          </a:xfrm>
          <a:prstGeom prst="rect">
            <a:avLst/>
          </a:prstGeom>
          <a:noFill/>
        </p:spPr>
        <p:txBody>
          <a:bodyPr wrap="square">
            <a:spAutoFit/>
          </a:bodyPr>
          <a:lstStyle/>
          <a:p>
            <a:pPr marL="342900" indent="-342900" algn="just">
              <a:buFont typeface="Arial" panose="020B0604020202020204" pitchFamily="34" charset="0"/>
              <a:buChar char="•"/>
            </a:pPr>
            <a:r>
              <a:rPr lang="en-US" sz="2400" dirty="0">
                <a:solidFill>
                  <a:srgbClr val="333333"/>
                </a:solidFill>
                <a:latin typeface="inter-bold"/>
              </a:rPr>
              <a:t>A database schema can be divided broadly into two categories −</a:t>
            </a:r>
            <a:endParaRPr lang="en-US" sz="2400" dirty="0">
              <a:solidFill>
                <a:srgbClr val="000000"/>
              </a:solidFill>
              <a:effectLst/>
              <a:latin typeface="inter-regular"/>
            </a:endParaRPr>
          </a:p>
        </p:txBody>
      </p:sp>
      <p:pic>
        <p:nvPicPr>
          <p:cNvPr id="8" name="Picture 7">
            <a:extLst>
              <a:ext uri="{FF2B5EF4-FFF2-40B4-BE49-F238E27FC236}">
                <a16:creationId xmlns:a16="http://schemas.microsoft.com/office/drawing/2014/main" id="{54634D35-F1F4-BF62-56A1-ECB9C91835CF}"/>
              </a:ext>
            </a:extLst>
          </p:cNvPr>
          <p:cNvPicPr>
            <a:picLocks noChangeAspect="1"/>
          </p:cNvPicPr>
          <p:nvPr/>
        </p:nvPicPr>
        <p:blipFill>
          <a:blip r:embed="rId2"/>
          <a:stretch>
            <a:fillRect/>
          </a:stretch>
        </p:blipFill>
        <p:spPr>
          <a:xfrm>
            <a:off x="838200" y="2121071"/>
            <a:ext cx="5024701" cy="2636667"/>
          </a:xfrm>
          <a:prstGeom prst="rect">
            <a:avLst/>
          </a:prstGeom>
        </p:spPr>
      </p:pic>
      <p:sp>
        <p:nvSpPr>
          <p:cNvPr id="7" name="Rectangle 6"/>
          <p:cNvSpPr/>
          <p:nvPr/>
        </p:nvSpPr>
        <p:spPr>
          <a:xfrm>
            <a:off x="6014720" y="1835321"/>
            <a:ext cx="5743893" cy="3416320"/>
          </a:xfrm>
          <a:prstGeom prst="rect">
            <a:avLst/>
          </a:prstGeom>
        </p:spPr>
        <p:txBody>
          <a:bodyPr wrap="square">
            <a:spAutoFit/>
          </a:bodyPr>
          <a:lstStyle/>
          <a:p>
            <a:pPr algn="just"/>
            <a:r>
              <a:rPr lang="en-US" sz="2400" b="1" dirty="0">
                <a:solidFill>
                  <a:srgbClr val="333333"/>
                </a:solidFill>
              </a:rPr>
              <a:t>Physical Database Schema </a:t>
            </a:r>
            <a:r>
              <a:rPr lang="en-US" sz="2400" dirty="0">
                <a:solidFill>
                  <a:srgbClr val="333333"/>
                </a:solidFill>
              </a:rPr>
              <a:t>− This schema pertains to the actual storage of data and its form of storage like files, indices, etc. It defines how the data will be stored in a secondary storage.</a:t>
            </a:r>
          </a:p>
          <a:p>
            <a:pPr algn="just"/>
            <a:r>
              <a:rPr lang="en-US" sz="2400" b="1" dirty="0">
                <a:solidFill>
                  <a:srgbClr val="333333"/>
                </a:solidFill>
              </a:rPr>
              <a:t>Logical Database Schema </a:t>
            </a:r>
            <a:r>
              <a:rPr lang="en-US" sz="2400" dirty="0">
                <a:solidFill>
                  <a:srgbClr val="333333"/>
                </a:solidFill>
              </a:rPr>
              <a:t>− This schema defines all the logical constraints that need to be applied on the data stored. It defines tables, views, and integrity constraints.</a:t>
            </a:r>
          </a:p>
        </p:txBody>
      </p:sp>
    </p:spTree>
    <p:extLst>
      <p:ext uri="{BB962C8B-B14F-4D97-AF65-F5344CB8AC3E}">
        <p14:creationId xmlns:p14="http://schemas.microsoft.com/office/powerpoint/2010/main" val="1082754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06BA711-228E-B45C-8179-D76B6A5490E1}"/>
              </a:ext>
            </a:extLst>
          </p:cNvPr>
          <p:cNvSpPr>
            <a:spLocks noGrp="1"/>
          </p:cNvSpPr>
          <p:nvPr>
            <p:ph type="dt" sz="half" idx="10"/>
          </p:nvPr>
        </p:nvSpPr>
        <p:spPr/>
        <p:txBody>
          <a:bodyPr/>
          <a:lstStyle/>
          <a:p>
            <a:fld id="{C1CDDB05-7545-485D-BAE6-2CE87714CF19}" type="datetime1">
              <a:rPr lang="en-US" smtClean="0"/>
              <a:t>1/18/2026</a:t>
            </a:fld>
            <a:endParaRPr lang="en-US"/>
          </a:p>
        </p:txBody>
      </p:sp>
      <p:sp>
        <p:nvSpPr>
          <p:cNvPr id="5" name="Slide Number Placeholder 4">
            <a:extLst>
              <a:ext uri="{FF2B5EF4-FFF2-40B4-BE49-F238E27FC236}">
                <a16:creationId xmlns:a16="http://schemas.microsoft.com/office/drawing/2014/main" id="{2C96A1E9-DA17-11CA-721D-75EA6BD1D733}"/>
              </a:ext>
            </a:extLst>
          </p:cNvPr>
          <p:cNvSpPr>
            <a:spLocks noGrp="1"/>
          </p:cNvSpPr>
          <p:nvPr>
            <p:ph type="sldNum" sz="quarter" idx="12"/>
          </p:nvPr>
        </p:nvSpPr>
        <p:spPr/>
        <p:txBody>
          <a:bodyPr/>
          <a:lstStyle/>
          <a:p>
            <a:fld id="{E199BF8C-199A-420E-AD47-765295E635DE}" type="slidenum">
              <a:rPr lang="en-US" smtClean="0"/>
              <a:t>12</a:t>
            </a:fld>
            <a:endParaRPr lang="en-US"/>
          </a:p>
        </p:txBody>
      </p:sp>
      <p:sp>
        <p:nvSpPr>
          <p:cNvPr id="6" name="Rectangle 5">
            <a:extLst>
              <a:ext uri="{FF2B5EF4-FFF2-40B4-BE49-F238E27FC236}">
                <a16:creationId xmlns:a16="http://schemas.microsoft.com/office/drawing/2014/main" id="{31B29D6B-8476-9005-EFFF-DDC8C87BB079}"/>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684940F-9C63-A9F3-B799-406354FB04D1}"/>
              </a:ext>
            </a:extLst>
          </p:cNvPr>
          <p:cNvSpPr txBox="1"/>
          <p:nvPr/>
        </p:nvSpPr>
        <p:spPr>
          <a:xfrm>
            <a:off x="708529" y="121919"/>
            <a:ext cx="11402191" cy="707886"/>
          </a:xfrm>
          <a:prstGeom prst="rect">
            <a:avLst/>
          </a:prstGeom>
          <a:noFill/>
        </p:spPr>
        <p:txBody>
          <a:bodyPr wrap="square" rtlCol="0">
            <a:spAutoFit/>
          </a:bodyPr>
          <a:lstStyle/>
          <a:p>
            <a:pPr algn="just"/>
            <a:r>
              <a:rPr lang="en-US" sz="4000" b="1" dirty="0"/>
              <a:t>Database Instance</a:t>
            </a:r>
          </a:p>
        </p:txBody>
      </p:sp>
      <p:sp>
        <p:nvSpPr>
          <p:cNvPr id="2" name="TextBox 1">
            <a:extLst>
              <a:ext uri="{FF2B5EF4-FFF2-40B4-BE49-F238E27FC236}">
                <a16:creationId xmlns:a16="http://schemas.microsoft.com/office/drawing/2014/main" id="{308CA695-4812-5E27-2A2F-1C13469EF6C1}"/>
              </a:ext>
            </a:extLst>
          </p:cNvPr>
          <p:cNvSpPr txBox="1"/>
          <p:nvPr/>
        </p:nvSpPr>
        <p:spPr>
          <a:xfrm>
            <a:off x="586902" y="1042540"/>
            <a:ext cx="10766898" cy="2677656"/>
          </a:xfrm>
          <a:prstGeom prst="rect">
            <a:avLst/>
          </a:prstGeom>
          <a:noFill/>
        </p:spPr>
        <p:txBody>
          <a:bodyPr wrap="square">
            <a:spAutoFit/>
          </a:bodyPr>
          <a:lstStyle/>
          <a:p>
            <a:pPr marL="342900" indent="-342900" algn="just">
              <a:buFont typeface="Arial" panose="020B0604020202020204" pitchFamily="34" charset="0"/>
              <a:buChar char="•"/>
            </a:pPr>
            <a:r>
              <a:rPr lang="en-US" sz="2400" dirty="0" smtClean="0"/>
              <a:t>A </a:t>
            </a:r>
            <a:r>
              <a:rPr lang="en-US" sz="2400" b="1" dirty="0"/>
              <a:t>database instance</a:t>
            </a:r>
            <a:r>
              <a:rPr lang="en-US" sz="2400" dirty="0"/>
              <a:t> refers to the </a:t>
            </a:r>
            <a:r>
              <a:rPr lang="en-US" sz="2400" b="1" dirty="0"/>
              <a:t>state or snapshot of a database</a:t>
            </a:r>
            <a:r>
              <a:rPr lang="en-US" sz="2400" dirty="0"/>
              <a:t> at a specific moment in time. It represents all the data stored in the database at that instant. As data changes due to insertions, deletions, or updates, the database instance also changes continuously.</a:t>
            </a:r>
          </a:p>
          <a:p>
            <a:pPr marL="342900" indent="-342900" algn="just">
              <a:buFont typeface="Arial" panose="020B0604020202020204" pitchFamily="34" charset="0"/>
              <a:buChar char="•"/>
            </a:pPr>
            <a:r>
              <a:rPr lang="en-US" sz="2400" dirty="0"/>
              <a:t>A </a:t>
            </a:r>
            <a:r>
              <a:rPr lang="en-US" sz="2400" b="1" dirty="0"/>
              <a:t>DBMS (Database Management System)</a:t>
            </a:r>
            <a:r>
              <a:rPr lang="en-US" sz="2400" dirty="0"/>
              <a:t> ensures that every database instance remains </a:t>
            </a:r>
            <a:r>
              <a:rPr lang="en-US" sz="2400" b="1" dirty="0"/>
              <a:t>valid and consistent</a:t>
            </a:r>
            <a:r>
              <a:rPr lang="en-US" sz="2400" dirty="0"/>
              <a:t> by enforcing all the defined </a:t>
            </a:r>
            <a:r>
              <a:rPr lang="en-US" sz="2400" b="1" dirty="0"/>
              <a:t>constraints, validations, and integrity rules</a:t>
            </a:r>
            <a:r>
              <a:rPr lang="en-US" sz="2400" dirty="0"/>
              <a:t> from the database schema.</a:t>
            </a:r>
          </a:p>
        </p:txBody>
      </p:sp>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9489" t="50001" r="7870" b="4167"/>
          <a:stretch/>
        </p:blipFill>
        <p:spPr>
          <a:xfrm>
            <a:off x="1871663" y="3700462"/>
            <a:ext cx="8501062" cy="3143251"/>
          </a:xfrm>
          <a:prstGeom prst="rect">
            <a:avLst/>
          </a:prstGeom>
        </p:spPr>
      </p:pic>
    </p:spTree>
    <p:extLst>
      <p:ext uri="{BB962C8B-B14F-4D97-AF65-F5344CB8AC3E}">
        <p14:creationId xmlns:p14="http://schemas.microsoft.com/office/powerpoint/2010/main" val="3225414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06BA711-228E-B45C-8179-D76B6A5490E1}"/>
              </a:ext>
            </a:extLst>
          </p:cNvPr>
          <p:cNvSpPr>
            <a:spLocks noGrp="1"/>
          </p:cNvSpPr>
          <p:nvPr>
            <p:ph type="dt" sz="half" idx="10"/>
          </p:nvPr>
        </p:nvSpPr>
        <p:spPr/>
        <p:txBody>
          <a:bodyPr/>
          <a:lstStyle/>
          <a:p>
            <a:fld id="{C1CDDB05-7545-485D-BAE6-2CE87714CF19}" type="datetime1">
              <a:rPr lang="en-US" smtClean="0"/>
              <a:t>1/18/2026</a:t>
            </a:fld>
            <a:endParaRPr lang="en-US"/>
          </a:p>
        </p:txBody>
      </p:sp>
      <p:sp>
        <p:nvSpPr>
          <p:cNvPr id="5" name="Slide Number Placeholder 4">
            <a:extLst>
              <a:ext uri="{FF2B5EF4-FFF2-40B4-BE49-F238E27FC236}">
                <a16:creationId xmlns:a16="http://schemas.microsoft.com/office/drawing/2014/main" id="{2C96A1E9-DA17-11CA-721D-75EA6BD1D733}"/>
              </a:ext>
            </a:extLst>
          </p:cNvPr>
          <p:cNvSpPr>
            <a:spLocks noGrp="1"/>
          </p:cNvSpPr>
          <p:nvPr>
            <p:ph type="sldNum" sz="quarter" idx="12"/>
          </p:nvPr>
        </p:nvSpPr>
        <p:spPr/>
        <p:txBody>
          <a:bodyPr/>
          <a:lstStyle/>
          <a:p>
            <a:fld id="{E199BF8C-199A-420E-AD47-765295E635DE}" type="slidenum">
              <a:rPr lang="en-US" smtClean="0"/>
              <a:t>13</a:t>
            </a:fld>
            <a:endParaRPr lang="en-US"/>
          </a:p>
        </p:txBody>
      </p:sp>
      <p:sp>
        <p:nvSpPr>
          <p:cNvPr id="6" name="Rectangle 5">
            <a:extLst>
              <a:ext uri="{FF2B5EF4-FFF2-40B4-BE49-F238E27FC236}">
                <a16:creationId xmlns:a16="http://schemas.microsoft.com/office/drawing/2014/main" id="{31B29D6B-8476-9005-EFFF-DDC8C87BB079}"/>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684940F-9C63-A9F3-B799-406354FB04D1}"/>
              </a:ext>
            </a:extLst>
          </p:cNvPr>
          <p:cNvSpPr txBox="1"/>
          <p:nvPr/>
        </p:nvSpPr>
        <p:spPr>
          <a:xfrm>
            <a:off x="708529" y="121919"/>
            <a:ext cx="11402191" cy="707886"/>
          </a:xfrm>
          <a:prstGeom prst="rect">
            <a:avLst/>
          </a:prstGeom>
          <a:noFill/>
        </p:spPr>
        <p:txBody>
          <a:bodyPr wrap="square" rtlCol="0">
            <a:spAutoFit/>
          </a:bodyPr>
          <a:lstStyle/>
          <a:p>
            <a:pPr algn="just"/>
            <a:r>
              <a:rPr lang="en-US" sz="4000" dirty="0">
                <a:latin typeface="erdana"/>
              </a:rPr>
              <a:t>3-Schema architecture</a:t>
            </a:r>
            <a:endParaRPr lang="en-US" sz="4000" b="0" i="0" dirty="0">
              <a:effectLst/>
              <a:latin typeface="erdana"/>
            </a:endParaRPr>
          </a:p>
        </p:txBody>
      </p:sp>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l="668" t="22708" r="3068" b="1394"/>
          <a:stretch/>
        </p:blipFill>
        <p:spPr>
          <a:xfrm>
            <a:off x="5281614" y="1042540"/>
            <a:ext cx="6862761" cy="4786760"/>
          </a:xfrm>
          <a:prstGeom prst="rect">
            <a:avLst/>
          </a:prstGeom>
        </p:spPr>
      </p:pic>
      <p:sp>
        <p:nvSpPr>
          <p:cNvPr id="2" name="TextBox 1">
            <a:extLst>
              <a:ext uri="{FF2B5EF4-FFF2-40B4-BE49-F238E27FC236}">
                <a16:creationId xmlns:a16="http://schemas.microsoft.com/office/drawing/2014/main" id="{308CA695-4812-5E27-2A2F-1C13469EF6C1}"/>
              </a:ext>
            </a:extLst>
          </p:cNvPr>
          <p:cNvSpPr txBox="1"/>
          <p:nvPr/>
        </p:nvSpPr>
        <p:spPr>
          <a:xfrm>
            <a:off x="-52385" y="986520"/>
            <a:ext cx="5553073" cy="4893647"/>
          </a:xfrm>
          <a:prstGeom prst="rect">
            <a:avLst/>
          </a:prstGeom>
          <a:noFill/>
        </p:spPr>
        <p:txBody>
          <a:bodyPr wrap="square">
            <a:spAutoFit/>
          </a:bodyPr>
          <a:lstStyle/>
          <a:p>
            <a:pPr marL="342900" indent="-342900" algn="just">
              <a:buFont typeface="Arial" panose="020B0604020202020204" pitchFamily="34" charset="0"/>
              <a:buChar char="•"/>
            </a:pPr>
            <a:r>
              <a:rPr lang="en-US" sz="2400" i="0" dirty="0">
                <a:solidFill>
                  <a:srgbClr val="333333"/>
                </a:solidFill>
                <a:effectLst/>
              </a:rPr>
              <a:t>The three schema architecture is also </a:t>
            </a:r>
            <a:r>
              <a:rPr lang="en-US" sz="2400" i="0" dirty="0" smtClean="0">
                <a:solidFill>
                  <a:srgbClr val="333333"/>
                </a:solidFill>
                <a:effectLst/>
              </a:rPr>
              <a:t>three-level architecture or </a:t>
            </a:r>
            <a:r>
              <a:rPr lang="en-US" sz="2400" dirty="0"/>
              <a:t>Three Level of </a:t>
            </a:r>
            <a:r>
              <a:rPr lang="en-US" sz="2400" dirty="0" smtClean="0"/>
              <a:t>Abstraction</a:t>
            </a:r>
            <a:endParaRPr lang="en-US" sz="2400" i="0" dirty="0">
              <a:solidFill>
                <a:srgbClr val="333333"/>
              </a:solidFill>
              <a:effectLst/>
            </a:endParaRPr>
          </a:p>
          <a:p>
            <a:pPr marL="342900" indent="-342900" algn="just">
              <a:buFont typeface="Arial" panose="020B0604020202020204" pitchFamily="34" charset="0"/>
              <a:buChar char="•"/>
            </a:pPr>
            <a:r>
              <a:rPr lang="en-US" sz="2400" i="0" dirty="0">
                <a:solidFill>
                  <a:srgbClr val="333333"/>
                </a:solidFill>
                <a:effectLst/>
              </a:rPr>
              <a:t>This framework is used to describe the structure of a specific database system</a:t>
            </a:r>
            <a:r>
              <a:rPr lang="en-US" sz="2400" i="0" dirty="0" smtClean="0">
                <a:solidFill>
                  <a:srgbClr val="333333"/>
                </a:solidFill>
                <a:effectLst/>
              </a:rPr>
              <a:t>.</a:t>
            </a:r>
            <a:endParaRPr lang="en-US" sz="2400" i="0" dirty="0">
              <a:solidFill>
                <a:srgbClr val="333333"/>
              </a:solidFill>
              <a:effectLst/>
            </a:endParaRPr>
          </a:p>
          <a:p>
            <a:pPr marL="342900" indent="-342900" algn="just">
              <a:buFont typeface="Arial" panose="020B0604020202020204" pitchFamily="34" charset="0"/>
              <a:buChar char="•"/>
            </a:pPr>
            <a:r>
              <a:rPr lang="en-US" sz="2400" i="0" dirty="0">
                <a:solidFill>
                  <a:srgbClr val="333333"/>
                </a:solidFill>
                <a:effectLst/>
              </a:rPr>
              <a:t>The three schema architecture contains </a:t>
            </a:r>
            <a:r>
              <a:rPr lang="en-US" sz="2400" b="1" i="0" dirty="0">
                <a:solidFill>
                  <a:srgbClr val="333333"/>
                </a:solidFill>
                <a:effectLst/>
              </a:rPr>
              <a:t>three-levels</a:t>
            </a:r>
            <a:r>
              <a:rPr lang="en-US" sz="2400" i="0" dirty="0">
                <a:solidFill>
                  <a:srgbClr val="333333"/>
                </a:solidFill>
                <a:effectLst/>
              </a:rPr>
              <a:t>. It breaks the database down into three different categories</a:t>
            </a:r>
            <a:r>
              <a:rPr lang="en-US" sz="2400" i="0" dirty="0" smtClean="0">
                <a:solidFill>
                  <a:srgbClr val="333333"/>
                </a:solidFill>
                <a:effectLst/>
              </a:rPr>
              <a:t>.</a:t>
            </a:r>
          </a:p>
          <a:p>
            <a:pPr marL="342900" indent="-342900" algn="just">
              <a:buFont typeface="Arial" panose="020B0604020202020204" pitchFamily="34" charset="0"/>
              <a:buChar char="•"/>
            </a:pPr>
            <a:endParaRPr lang="en-US" sz="2400" i="0" dirty="0" smtClean="0">
              <a:solidFill>
                <a:srgbClr val="333333"/>
              </a:solidFill>
              <a:effectLst/>
            </a:endParaRPr>
          </a:p>
          <a:p>
            <a:pPr marL="800100" lvl="1" indent="-342900">
              <a:buFont typeface="Arial" panose="020B0604020202020204" pitchFamily="34" charset="0"/>
              <a:buChar char="•"/>
            </a:pPr>
            <a:r>
              <a:rPr lang="en-US" sz="2400" dirty="0"/>
              <a:t>Internal Schema (Physical Level)</a:t>
            </a:r>
          </a:p>
          <a:p>
            <a:pPr marL="800100" lvl="1" indent="-342900">
              <a:buFont typeface="Arial" panose="020B0604020202020204" pitchFamily="34" charset="0"/>
              <a:buChar char="•"/>
            </a:pPr>
            <a:r>
              <a:rPr lang="en-US" sz="2400" dirty="0"/>
              <a:t>Conceptual </a:t>
            </a:r>
            <a:r>
              <a:rPr lang="en-US" sz="2400" dirty="0" smtClean="0"/>
              <a:t>Schema (Logical </a:t>
            </a:r>
            <a:r>
              <a:rPr lang="en-US" sz="2400" dirty="0"/>
              <a:t>Level)</a:t>
            </a:r>
          </a:p>
          <a:p>
            <a:pPr marL="800100" lvl="1" indent="-342900">
              <a:buFont typeface="Arial" panose="020B0604020202020204" pitchFamily="34" charset="0"/>
              <a:buChar char="•"/>
            </a:pPr>
            <a:r>
              <a:rPr lang="en-US" sz="2400" dirty="0"/>
              <a:t>External Schema (View Level)</a:t>
            </a:r>
          </a:p>
          <a:p>
            <a:pPr marL="342900" indent="-342900" algn="just">
              <a:buFont typeface="Arial" panose="020B0604020202020204" pitchFamily="34" charset="0"/>
              <a:buChar char="•"/>
            </a:pPr>
            <a:endParaRPr lang="en-US" sz="2400" i="0" dirty="0">
              <a:solidFill>
                <a:srgbClr val="000000"/>
              </a:solidFill>
              <a:effectLst/>
            </a:endParaRPr>
          </a:p>
        </p:txBody>
      </p:sp>
    </p:spTree>
    <p:extLst>
      <p:ext uri="{BB962C8B-B14F-4D97-AF65-F5344CB8AC3E}">
        <p14:creationId xmlns:p14="http://schemas.microsoft.com/office/powerpoint/2010/main" val="1088888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06BA711-228E-B45C-8179-D76B6A5490E1}"/>
              </a:ext>
            </a:extLst>
          </p:cNvPr>
          <p:cNvSpPr>
            <a:spLocks noGrp="1"/>
          </p:cNvSpPr>
          <p:nvPr>
            <p:ph type="dt" sz="half" idx="10"/>
          </p:nvPr>
        </p:nvSpPr>
        <p:spPr/>
        <p:txBody>
          <a:bodyPr/>
          <a:lstStyle/>
          <a:p>
            <a:fld id="{C1CDDB05-7545-485D-BAE6-2CE87714CF19}" type="datetime1">
              <a:rPr lang="en-US" smtClean="0"/>
              <a:t>1/18/2026</a:t>
            </a:fld>
            <a:endParaRPr lang="en-US"/>
          </a:p>
        </p:txBody>
      </p:sp>
      <p:sp>
        <p:nvSpPr>
          <p:cNvPr id="5" name="Slide Number Placeholder 4">
            <a:extLst>
              <a:ext uri="{FF2B5EF4-FFF2-40B4-BE49-F238E27FC236}">
                <a16:creationId xmlns:a16="http://schemas.microsoft.com/office/drawing/2014/main" id="{2C96A1E9-DA17-11CA-721D-75EA6BD1D733}"/>
              </a:ext>
            </a:extLst>
          </p:cNvPr>
          <p:cNvSpPr>
            <a:spLocks noGrp="1"/>
          </p:cNvSpPr>
          <p:nvPr>
            <p:ph type="sldNum" sz="quarter" idx="12"/>
          </p:nvPr>
        </p:nvSpPr>
        <p:spPr/>
        <p:txBody>
          <a:bodyPr/>
          <a:lstStyle/>
          <a:p>
            <a:fld id="{E199BF8C-199A-420E-AD47-765295E635DE}" type="slidenum">
              <a:rPr lang="en-US" smtClean="0"/>
              <a:t>14</a:t>
            </a:fld>
            <a:endParaRPr lang="en-US"/>
          </a:p>
        </p:txBody>
      </p:sp>
      <p:sp>
        <p:nvSpPr>
          <p:cNvPr id="6" name="Rectangle 5">
            <a:extLst>
              <a:ext uri="{FF2B5EF4-FFF2-40B4-BE49-F238E27FC236}">
                <a16:creationId xmlns:a16="http://schemas.microsoft.com/office/drawing/2014/main" id="{31B29D6B-8476-9005-EFFF-DDC8C87BB079}"/>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684940F-9C63-A9F3-B799-406354FB04D1}"/>
              </a:ext>
            </a:extLst>
          </p:cNvPr>
          <p:cNvSpPr txBox="1"/>
          <p:nvPr/>
        </p:nvSpPr>
        <p:spPr>
          <a:xfrm>
            <a:off x="708529" y="121919"/>
            <a:ext cx="11402191" cy="707886"/>
          </a:xfrm>
          <a:prstGeom prst="rect">
            <a:avLst/>
          </a:prstGeom>
          <a:noFill/>
        </p:spPr>
        <p:txBody>
          <a:bodyPr wrap="square" rtlCol="0">
            <a:spAutoFit/>
          </a:bodyPr>
          <a:lstStyle/>
          <a:p>
            <a:r>
              <a:rPr lang="en-US" sz="4000" b="1" dirty="0"/>
              <a:t>Internal Schema (Physical Level)</a:t>
            </a:r>
          </a:p>
        </p:txBody>
      </p:sp>
      <p:sp>
        <p:nvSpPr>
          <p:cNvPr id="7" name="Rectangle 6"/>
          <p:cNvSpPr/>
          <p:nvPr/>
        </p:nvSpPr>
        <p:spPr>
          <a:xfrm>
            <a:off x="708529" y="1161950"/>
            <a:ext cx="10766899" cy="1569660"/>
          </a:xfrm>
          <a:prstGeom prst="rect">
            <a:avLst/>
          </a:prstGeom>
        </p:spPr>
        <p:txBody>
          <a:bodyPr wrap="square">
            <a:spAutoFit/>
          </a:bodyPr>
          <a:lstStyle/>
          <a:p>
            <a:pPr marL="342900" indent="-342900" algn="just">
              <a:buFont typeface="Arial" panose="020B0604020202020204" pitchFamily="34" charset="0"/>
              <a:buChar char="•"/>
            </a:pPr>
            <a:r>
              <a:rPr lang="en-US" sz="2400" dirty="0" smtClean="0"/>
              <a:t>The </a:t>
            </a:r>
            <a:r>
              <a:rPr lang="en-US" sz="2400" b="1" dirty="0"/>
              <a:t>internal schema</a:t>
            </a:r>
            <a:r>
              <a:rPr lang="en-US" sz="2400" dirty="0"/>
              <a:t>, also known as the </a:t>
            </a:r>
            <a:r>
              <a:rPr lang="en-US" sz="2400" b="1" dirty="0"/>
              <a:t>physical level</a:t>
            </a:r>
            <a:r>
              <a:rPr lang="en-US" sz="2400" dirty="0"/>
              <a:t>, is the </a:t>
            </a:r>
            <a:r>
              <a:rPr lang="en-US" sz="2400" b="1" dirty="0"/>
              <a:t>lowest level of data abstraction</a:t>
            </a:r>
            <a:r>
              <a:rPr lang="en-US" sz="2400" dirty="0"/>
              <a:t> in a database. It describes </a:t>
            </a:r>
            <a:r>
              <a:rPr lang="en-US" sz="2400" b="1" dirty="0"/>
              <a:t>how data is actually stored</a:t>
            </a:r>
            <a:r>
              <a:rPr lang="en-US" sz="2400" dirty="0"/>
              <a:t> in the system — including details about </a:t>
            </a:r>
            <a:r>
              <a:rPr lang="en-US" sz="2400" b="1" dirty="0"/>
              <a:t>file organization, indexing, record placement, and storage structures</a:t>
            </a:r>
            <a:r>
              <a:rPr lang="en-US" sz="2400" dirty="0"/>
              <a:t> on the physical storage device (like hard drives or SSDs).</a:t>
            </a:r>
          </a:p>
        </p:txBody>
      </p:sp>
      <p:pic>
        <p:nvPicPr>
          <p:cNvPr id="9" name="Picture 8"/>
          <p:cNvPicPr>
            <a:picLocks noChangeAspect="1"/>
          </p:cNvPicPr>
          <p:nvPr/>
        </p:nvPicPr>
        <p:blipFill rotWithShape="1">
          <a:blip r:embed="rId2">
            <a:extLst>
              <a:ext uri="{28A0092B-C50C-407E-A947-70E740481C1C}">
                <a14:useLocalDpi xmlns:a14="http://schemas.microsoft.com/office/drawing/2010/main" val="0"/>
              </a:ext>
            </a:extLst>
          </a:blip>
          <a:srcRect l="6098" t="31876" r="5788" b="4999"/>
          <a:stretch/>
        </p:blipFill>
        <p:spPr>
          <a:xfrm>
            <a:off x="917060" y="2831239"/>
            <a:ext cx="5328679" cy="3413508"/>
          </a:xfrm>
          <a:prstGeom prst="rect">
            <a:avLst/>
          </a:prstGeom>
        </p:spPr>
      </p:pic>
      <p:sp>
        <p:nvSpPr>
          <p:cNvPr id="10" name="Rectangle 9"/>
          <p:cNvSpPr/>
          <p:nvPr/>
        </p:nvSpPr>
        <p:spPr>
          <a:xfrm>
            <a:off x="6409624" y="3125629"/>
            <a:ext cx="5510212" cy="2308324"/>
          </a:xfrm>
          <a:prstGeom prst="rect">
            <a:avLst/>
          </a:prstGeom>
        </p:spPr>
        <p:txBody>
          <a:bodyPr wrap="square">
            <a:spAutoFit/>
          </a:bodyPr>
          <a:lstStyle/>
          <a:p>
            <a:pPr algn="just"/>
            <a:r>
              <a:rPr lang="en-US" sz="2400" b="1" dirty="0"/>
              <a:t>Example: </a:t>
            </a:r>
            <a:r>
              <a:rPr lang="en-US" sz="2400" dirty="0"/>
              <a:t>Consider a database storing information about employees. The Internal Schema would describe how employee data is stored in a specific file format or how the data is indexed for fast retrieval (e.g., B-trees, hash indexing).</a:t>
            </a:r>
          </a:p>
        </p:txBody>
      </p:sp>
    </p:spTree>
    <p:extLst>
      <p:ext uri="{BB962C8B-B14F-4D97-AF65-F5344CB8AC3E}">
        <p14:creationId xmlns:p14="http://schemas.microsoft.com/office/powerpoint/2010/main" val="14557099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06BA711-228E-B45C-8179-D76B6A5490E1}"/>
              </a:ext>
            </a:extLst>
          </p:cNvPr>
          <p:cNvSpPr>
            <a:spLocks noGrp="1"/>
          </p:cNvSpPr>
          <p:nvPr>
            <p:ph type="dt" sz="half" idx="10"/>
          </p:nvPr>
        </p:nvSpPr>
        <p:spPr/>
        <p:txBody>
          <a:bodyPr/>
          <a:lstStyle/>
          <a:p>
            <a:fld id="{C1CDDB05-7545-485D-BAE6-2CE87714CF19}" type="datetime1">
              <a:rPr lang="en-US" smtClean="0"/>
              <a:t>1/18/2026</a:t>
            </a:fld>
            <a:endParaRPr lang="en-US"/>
          </a:p>
        </p:txBody>
      </p:sp>
      <p:sp>
        <p:nvSpPr>
          <p:cNvPr id="5" name="Slide Number Placeholder 4">
            <a:extLst>
              <a:ext uri="{FF2B5EF4-FFF2-40B4-BE49-F238E27FC236}">
                <a16:creationId xmlns:a16="http://schemas.microsoft.com/office/drawing/2014/main" id="{2C96A1E9-DA17-11CA-721D-75EA6BD1D733}"/>
              </a:ext>
            </a:extLst>
          </p:cNvPr>
          <p:cNvSpPr>
            <a:spLocks noGrp="1"/>
          </p:cNvSpPr>
          <p:nvPr>
            <p:ph type="sldNum" sz="quarter" idx="12"/>
          </p:nvPr>
        </p:nvSpPr>
        <p:spPr/>
        <p:txBody>
          <a:bodyPr/>
          <a:lstStyle/>
          <a:p>
            <a:fld id="{E199BF8C-199A-420E-AD47-765295E635DE}" type="slidenum">
              <a:rPr lang="en-US" smtClean="0"/>
              <a:t>15</a:t>
            </a:fld>
            <a:endParaRPr lang="en-US"/>
          </a:p>
        </p:txBody>
      </p:sp>
      <p:sp>
        <p:nvSpPr>
          <p:cNvPr id="6" name="Rectangle 5">
            <a:extLst>
              <a:ext uri="{FF2B5EF4-FFF2-40B4-BE49-F238E27FC236}">
                <a16:creationId xmlns:a16="http://schemas.microsoft.com/office/drawing/2014/main" id="{31B29D6B-8476-9005-EFFF-DDC8C87BB079}"/>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684940F-9C63-A9F3-B799-406354FB04D1}"/>
              </a:ext>
            </a:extLst>
          </p:cNvPr>
          <p:cNvSpPr txBox="1"/>
          <p:nvPr/>
        </p:nvSpPr>
        <p:spPr>
          <a:xfrm>
            <a:off x="708529" y="121919"/>
            <a:ext cx="11402191" cy="707886"/>
          </a:xfrm>
          <a:prstGeom prst="rect">
            <a:avLst/>
          </a:prstGeom>
          <a:noFill/>
        </p:spPr>
        <p:txBody>
          <a:bodyPr wrap="square" rtlCol="0">
            <a:spAutoFit/>
          </a:bodyPr>
          <a:lstStyle/>
          <a:p>
            <a:r>
              <a:rPr lang="en-US" sz="4000" b="1" dirty="0" smtClean="0"/>
              <a:t>Conceptual </a:t>
            </a:r>
            <a:r>
              <a:rPr lang="en-US" sz="4000" b="1" dirty="0"/>
              <a:t>Schema </a:t>
            </a:r>
            <a:r>
              <a:rPr lang="en-US" sz="4000" b="1" dirty="0" smtClean="0"/>
              <a:t>(Logical </a:t>
            </a:r>
            <a:r>
              <a:rPr lang="en-US" sz="4000" b="1" dirty="0"/>
              <a:t>Level)</a:t>
            </a:r>
          </a:p>
        </p:txBody>
      </p:sp>
      <p:sp>
        <p:nvSpPr>
          <p:cNvPr id="7" name="Rectangle 6"/>
          <p:cNvSpPr/>
          <p:nvPr/>
        </p:nvSpPr>
        <p:spPr>
          <a:xfrm>
            <a:off x="708529" y="1161950"/>
            <a:ext cx="10766899" cy="1938992"/>
          </a:xfrm>
          <a:prstGeom prst="rect">
            <a:avLst/>
          </a:prstGeom>
        </p:spPr>
        <p:txBody>
          <a:bodyPr wrap="square">
            <a:spAutoFit/>
          </a:bodyPr>
          <a:lstStyle/>
          <a:p>
            <a:pPr marL="342900" indent="-342900" algn="just">
              <a:buFont typeface="Arial" panose="020B0604020202020204" pitchFamily="34" charset="0"/>
              <a:buChar char="•"/>
            </a:pPr>
            <a:r>
              <a:rPr lang="en-US" sz="2400" dirty="0"/>
              <a:t>The </a:t>
            </a:r>
            <a:r>
              <a:rPr lang="en-US" sz="2400" b="1" dirty="0"/>
              <a:t>conceptual schema</a:t>
            </a:r>
            <a:r>
              <a:rPr lang="en-US" sz="2400" dirty="0"/>
              <a:t>, also known as the </a:t>
            </a:r>
            <a:r>
              <a:rPr lang="en-US" sz="2400" b="1" dirty="0"/>
              <a:t>logical level</a:t>
            </a:r>
            <a:r>
              <a:rPr lang="en-US" sz="2400" dirty="0"/>
              <a:t>, represents the </a:t>
            </a:r>
            <a:r>
              <a:rPr lang="en-US" sz="2400" b="1" dirty="0"/>
              <a:t>entire logical structure of the database</a:t>
            </a:r>
            <a:r>
              <a:rPr lang="en-US" sz="2400" dirty="0"/>
              <a:t> as seen by the database administrator.</a:t>
            </a:r>
            <a:br>
              <a:rPr lang="en-US" sz="2400" dirty="0"/>
            </a:br>
            <a:r>
              <a:rPr lang="en-US" sz="2400" dirty="0"/>
              <a:t>It defines </a:t>
            </a:r>
            <a:r>
              <a:rPr lang="en-US" sz="2400" b="1" dirty="0"/>
              <a:t>what data is stored</a:t>
            </a:r>
            <a:r>
              <a:rPr lang="en-US" sz="2400" dirty="0"/>
              <a:t>, the </a:t>
            </a:r>
            <a:r>
              <a:rPr lang="en-US" sz="2400" b="1" dirty="0"/>
              <a:t>relationships</a:t>
            </a:r>
            <a:r>
              <a:rPr lang="en-US" sz="2400" dirty="0"/>
              <a:t> among those data, and the </a:t>
            </a:r>
            <a:r>
              <a:rPr lang="en-US" sz="2400" b="1" dirty="0"/>
              <a:t>constraints</a:t>
            </a:r>
            <a:r>
              <a:rPr lang="en-US" sz="2400" dirty="0"/>
              <a:t> that govern them — but it </a:t>
            </a:r>
            <a:r>
              <a:rPr lang="en-US" sz="2400" b="1" dirty="0"/>
              <a:t>does not deal with how</a:t>
            </a:r>
            <a:r>
              <a:rPr lang="en-US" sz="2400" dirty="0"/>
              <a:t> the data is physically stored.</a:t>
            </a:r>
          </a:p>
        </p:txBody>
      </p:sp>
      <p:sp>
        <p:nvSpPr>
          <p:cNvPr id="10" name="Rectangle 9"/>
          <p:cNvSpPr/>
          <p:nvPr/>
        </p:nvSpPr>
        <p:spPr>
          <a:xfrm>
            <a:off x="5855493" y="3328538"/>
            <a:ext cx="5831681" cy="2300737"/>
          </a:xfrm>
          <a:prstGeom prst="rect">
            <a:avLst/>
          </a:prstGeom>
        </p:spPr>
        <p:txBody>
          <a:bodyPr wrap="square">
            <a:spAutoFit/>
          </a:bodyPr>
          <a:lstStyle/>
          <a:p>
            <a:pPr algn="just"/>
            <a:r>
              <a:rPr lang="en-US" sz="2400" b="1" dirty="0"/>
              <a:t>Example: </a:t>
            </a:r>
            <a:r>
              <a:rPr lang="en-US" sz="2400" dirty="0"/>
              <a:t>In the case of the employee database, the Conceptual Schema would define entities like employees, departments, and projects, and how these entities are related (e.g., each employee belongs to a department).</a:t>
            </a:r>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7775" t="33124" r="7651" b="5834"/>
          <a:stretch/>
        </p:blipFill>
        <p:spPr>
          <a:xfrm>
            <a:off x="708529" y="3052234"/>
            <a:ext cx="5119688" cy="3304116"/>
          </a:xfrm>
          <a:prstGeom prst="rect">
            <a:avLst/>
          </a:prstGeom>
        </p:spPr>
      </p:pic>
    </p:spTree>
    <p:extLst>
      <p:ext uri="{BB962C8B-B14F-4D97-AF65-F5344CB8AC3E}">
        <p14:creationId xmlns:p14="http://schemas.microsoft.com/office/powerpoint/2010/main" val="2016257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06BA711-228E-B45C-8179-D76B6A5490E1}"/>
              </a:ext>
            </a:extLst>
          </p:cNvPr>
          <p:cNvSpPr>
            <a:spLocks noGrp="1"/>
          </p:cNvSpPr>
          <p:nvPr>
            <p:ph type="dt" sz="half" idx="10"/>
          </p:nvPr>
        </p:nvSpPr>
        <p:spPr/>
        <p:txBody>
          <a:bodyPr/>
          <a:lstStyle/>
          <a:p>
            <a:fld id="{C1CDDB05-7545-485D-BAE6-2CE87714CF19}" type="datetime1">
              <a:rPr lang="en-US" smtClean="0"/>
              <a:t>1/18/2026</a:t>
            </a:fld>
            <a:endParaRPr lang="en-US"/>
          </a:p>
        </p:txBody>
      </p:sp>
      <p:sp>
        <p:nvSpPr>
          <p:cNvPr id="5" name="Slide Number Placeholder 4">
            <a:extLst>
              <a:ext uri="{FF2B5EF4-FFF2-40B4-BE49-F238E27FC236}">
                <a16:creationId xmlns:a16="http://schemas.microsoft.com/office/drawing/2014/main" id="{2C96A1E9-DA17-11CA-721D-75EA6BD1D733}"/>
              </a:ext>
            </a:extLst>
          </p:cNvPr>
          <p:cNvSpPr>
            <a:spLocks noGrp="1"/>
          </p:cNvSpPr>
          <p:nvPr>
            <p:ph type="sldNum" sz="quarter" idx="12"/>
          </p:nvPr>
        </p:nvSpPr>
        <p:spPr/>
        <p:txBody>
          <a:bodyPr/>
          <a:lstStyle/>
          <a:p>
            <a:fld id="{E199BF8C-199A-420E-AD47-765295E635DE}" type="slidenum">
              <a:rPr lang="en-US" smtClean="0"/>
              <a:t>16</a:t>
            </a:fld>
            <a:endParaRPr lang="en-US"/>
          </a:p>
        </p:txBody>
      </p:sp>
      <p:sp>
        <p:nvSpPr>
          <p:cNvPr id="6" name="Rectangle 5">
            <a:extLst>
              <a:ext uri="{FF2B5EF4-FFF2-40B4-BE49-F238E27FC236}">
                <a16:creationId xmlns:a16="http://schemas.microsoft.com/office/drawing/2014/main" id="{31B29D6B-8476-9005-EFFF-DDC8C87BB079}"/>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684940F-9C63-A9F3-B799-406354FB04D1}"/>
              </a:ext>
            </a:extLst>
          </p:cNvPr>
          <p:cNvSpPr txBox="1"/>
          <p:nvPr/>
        </p:nvSpPr>
        <p:spPr>
          <a:xfrm>
            <a:off x="708529" y="121919"/>
            <a:ext cx="11402191" cy="707886"/>
          </a:xfrm>
          <a:prstGeom prst="rect">
            <a:avLst/>
          </a:prstGeom>
          <a:noFill/>
        </p:spPr>
        <p:txBody>
          <a:bodyPr wrap="square" rtlCol="0">
            <a:spAutoFit/>
          </a:bodyPr>
          <a:lstStyle/>
          <a:p>
            <a:r>
              <a:rPr lang="en-US" sz="4000" b="1" dirty="0"/>
              <a:t>External Schema (View Level)</a:t>
            </a:r>
          </a:p>
        </p:txBody>
      </p:sp>
      <p:sp>
        <p:nvSpPr>
          <p:cNvPr id="7" name="Rectangle 6"/>
          <p:cNvSpPr/>
          <p:nvPr/>
        </p:nvSpPr>
        <p:spPr>
          <a:xfrm>
            <a:off x="708529" y="1161950"/>
            <a:ext cx="10766899" cy="1200329"/>
          </a:xfrm>
          <a:prstGeom prst="rect">
            <a:avLst/>
          </a:prstGeom>
        </p:spPr>
        <p:txBody>
          <a:bodyPr wrap="square">
            <a:spAutoFit/>
          </a:bodyPr>
          <a:lstStyle/>
          <a:p>
            <a:pPr marL="342900" indent="-342900" algn="just">
              <a:buFont typeface="Arial" panose="020B0604020202020204" pitchFamily="34" charset="0"/>
              <a:buChar char="•"/>
            </a:pPr>
            <a:r>
              <a:rPr lang="en-US" sz="2400" dirty="0" smtClean="0"/>
              <a:t>The </a:t>
            </a:r>
            <a:r>
              <a:rPr lang="en-US" sz="2400" dirty="0"/>
              <a:t>External Schema defines how individual users or user groups view the data. It represents the user perspective and focuses on the specific requirements of users while hiding the rest of the database from that user group. </a:t>
            </a:r>
          </a:p>
        </p:txBody>
      </p:sp>
      <p:sp>
        <p:nvSpPr>
          <p:cNvPr id="10" name="Rectangle 9"/>
          <p:cNvSpPr/>
          <p:nvPr/>
        </p:nvSpPr>
        <p:spPr>
          <a:xfrm>
            <a:off x="708528" y="4205732"/>
            <a:ext cx="10766899" cy="1200329"/>
          </a:xfrm>
          <a:prstGeom prst="rect">
            <a:avLst/>
          </a:prstGeom>
        </p:spPr>
        <p:txBody>
          <a:bodyPr wrap="square">
            <a:spAutoFit/>
          </a:bodyPr>
          <a:lstStyle/>
          <a:p>
            <a:pPr algn="just"/>
            <a:r>
              <a:rPr lang="en-US" sz="2400" b="1" dirty="0"/>
              <a:t>Example:</a:t>
            </a:r>
            <a:r>
              <a:rPr lang="en-US" sz="2400" dirty="0"/>
              <a:t> For an employee database, one user may need to view the employees' personal information, while another may need to access employee performance data. Each of these user views is a part of the External Schema.</a:t>
            </a:r>
          </a:p>
        </p:txBody>
      </p:sp>
      <p:pic>
        <p:nvPicPr>
          <p:cNvPr id="8" name="Picture 7"/>
          <p:cNvPicPr>
            <a:picLocks noChangeAspect="1"/>
          </p:cNvPicPr>
          <p:nvPr/>
        </p:nvPicPr>
        <p:blipFill rotWithShape="1">
          <a:blip r:embed="rId2">
            <a:extLst>
              <a:ext uri="{28A0092B-C50C-407E-A947-70E740481C1C}">
                <a14:useLocalDpi xmlns:a14="http://schemas.microsoft.com/office/drawing/2010/main" val="0"/>
              </a:ext>
            </a:extLst>
          </a:blip>
          <a:srcRect t="36556"/>
          <a:stretch/>
        </p:blipFill>
        <p:spPr>
          <a:xfrm>
            <a:off x="0" y="2537926"/>
            <a:ext cx="12192000" cy="1348511"/>
          </a:xfrm>
          <a:prstGeom prst="rect">
            <a:avLst/>
          </a:prstGeom>
        </p:spPr>
      </p:pic>
    </p:spTree>
    <p:extLst>
      <p:ext uri="{BB962C8B-B14F-4D97-AF65-F5344CB8AC3E}">
        <p14:creationId xmlns:p14="http://schemas.microsoft.com/office/powerpoint/2010/main" val="4734779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06BA711-228E-B45C-8179-D76B6A5490E1}"/>
              </a:ext>
            </a:extLst>
          </p:cNvPr>
          <p:cNvSpPr>
            <a:spLocks noGrp="1"/>
          </p:cNvSpPr>
          <p:nvPr>
            <p:ph type="dt" sz="half" idx="10"/>
          </p:nvPr>
        </p:nvSpPr>
        <p:spPr/>
        <p:txBody>
          <a:bodyPr/>
          <a:lstStyle/>
          <a:p>
            <a:fld id="{C1CDDB05-7545-485D-BAE6-2CE87714CF19}" type="datetime1">
              <a:rPr lang="en-US" smtClean="0"/>
              <a:t>1/18/2026</a:t>
            </a:fld>
            <a:endParaRPr lang="en-US"/>
          </a:p>
        </p:txBody>
      </p:sp>
      <p:sp>
        <p:nvSpPr>
          <p:cNvPr id="5" name="Slide Number Placeholder 4">
            <a:extLst>
              <a:ext uri="{FF2B5EF4-FFF2-40B4-BE49-F238E27FC236}">
                <a16:creationId xmlns:a16="http://schemas.microsoft.com/office/drawing/2014/main" id="{2C96A1E9-DA17-11CA-721D-75EA6BD1D733}"/>
              </a:ext>
            </a:extLst>
          </p:cNvPr>
          <p:cNvSpPr>
            <a:spLocks noGrp="1"/>
          </p:cNvSpPr>
          <p:nvPr>
            <p:ph type="sldNum" sz="quarter" idx="12"/>
          </p:nvPr>
        </p:nvSpPr>
        <p:spPr/>
        <p:txBody>
          <a:bodyPr/>
          <a:lstStyle/>
          <a:p>
            <a:fld id="{E199BF8C-199A-420E-AD47-765295E635DE}" type="slidenum">
              <a:rPr lang="en-US" smtClean="0"/>
              <a:t>17</a:t>
            </a:fld>
            <a:endParaRPr lang="en-US"/>
          </a:p>
        </p:txBody>
      </p:sp>
      <p:sp>
        <p:nvSpPr>
          <p:cNvPr id="6" name="Rectangle 5">
            <a:extLst>
              <a:ext uri="{FF2B5EF4-FFF2-40B4-BE49-F238E27FC236}">
                <a16:creationId xmlns:a16="http://schemas.microsoft.com/office/drawing/2014/main" id="{31B29D6B-8476-9005-EFFF-DDC8C87BB079}"/>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684940F-9C63-A9F3-B799-406354FB04D1}"/>
              </a:ext>
            </a:extLst>
          </p:cNvPr>
          <p:cNvSpPr txBox="1"/>
          <p:nvPr/>
        </p:nvSpPr>
        <p:spPr>
          <a:xfrm>
            <a:off x="708529" y="121919"/>
            <a:ext cx="11402191" cy="707886"/>
          </a:xfrm>
          <a:prstGeom prst="rect">
            <a:avLst/>
          </a:prstGeom>
          <a:noFill/>
        </p:spPr>
        <p:txBody>
          <a:bodyPr wrap="square" rtlCol="0">
            <a:spAutoFit/>
          </a:bodyPr>
          <a:lstStyle/>
          <a:p>
            <a:pPr algn="just"/>
            <a:r>
              <a:rPr lang="en-US" sz="4000" dirty="0">
                <a:latin typeface="erdana"/>
              </a:rPr>
              <a:t>Data Independence</a:t>
            </a:r>
            <a:endParaRPr lang="en-US" sz="4000" b="0" i="0" dirty="0">
              <a:effectLst/>
              <a:latin typeface="erdana"/>
            </a:endParaRPr>
          </a:p>
        </p:txBody>
      </p:sp>
      <p:sp>
        <p:nvSpPr>
          <p:cNvPr id="2" name="TextBox 1">
            <a:extLst>
              <a:ext uri="{FF2B5EF4-FFF2-40B4-BE49-F238E27FC236}">
                <a16:creationId xmlns:a16="http://schemas.microsoft.com/office/drawing/2014/main" id="{308CA695-4812-5E27-2A2F-1C13469EF6C1}"/>
              </a:ext>
            </a:extLst>
          </p:cNvPr>
          <p:cNvSpPr txBox="1"/>
          <p:nvPr/>
        </p:nvSpPr>
        <p:spPr>
          <a:xfrm>
            <a:off x="838201" y="1042540"/>
            <a:ext cx="10766898" cy="3046988"/>
          </a:xfrm>
          <a:prstGeom prst="rect">
            <a:avLst/>
          </a:prstGeom>
          <a:noFill/>
        </p:spPr>
        <p:txBody>
          <a:bodyPr wrap="square">
            <a:spAutoFit/>
          </a:bodyPr>
          <a:lstStyle/>
          <a:p>
            <a:pPr algn="just"/>
            <a:r>
              <a:rPr lang="en-US" sz="2400" i="0" dirty="0">
                <a:solidFill>
                  <a:srgbClr val="333333"/>
                </a:solidFill>
                <a:effectLst/>
              </a:rPr>
              <a:t>Data independence in DBMS refers to the capacity to change the schema (structure) of the database without affecting the application programs or user views that access the data. It is a fundamental concept that simplifies database </a:t>
            </a:r>
            <a:r>
              <a:rPr lang="en-US" sz="2400" i="0" dirty="0" smtClean="0">
                <a:solidFill>
                  <a:srgbClr val="333333"/>
                </a:solidFill>
                <a:effectLst/>
              </a:rPr>
              <a:t>maintenance </a:t>
            </a:r>
            <a:r>
              <a:rPr lang="en-US" sz="2400" i="0" dirty="0">
                <a:solidFill>
                  <a:srgbClr val="333333"/>
                </a:solidFill>
                <a:effectLst/>
              </a:rPr>
              <a:t>and </a:t>
            </a:r>
            <a:r>
              <a:rPr lang="en-US" sz="2400" i="0" dirty="0" smtClean="0">
                <a:solidFill>
                  <a:srgbClr val="333333"/>
                </a:solidFill>
                <a:effectLst/>
              </a:rPr>
              <a:t>enhances transparency.</a:t>
            </a:r>
            <a:endParaRPr lang="en-US" sz="2400" i="0" dirty="0">
              <a:solidFill>
                <a:srgbClr val="333333"/>
              </a:solidFill>
              <a:effectLst/>
            </a:endParaRPr>
          </a:p>
          <a:p>
            <a:pPr algn="just"/>
            <a:endParaRPr lang="en-US" sz="2400" dirty="0">
              <a:solidFill>
                <a:srgbClr val="333333"/>
              </a:solidFill>
            </a:endParaRPr>
          </a:p>
          <a:p>
            <a:pPr algn="just"/>
            <a:endParaRPr lang="en-US" sz="2400" b="1" i="0" dirty="0">
              <a:solidFill>
                <a:schemeClr val="accent1"/>
              </a:solidFill>
              <a:effectLst/>
            </a:endParaRPr>
          </a:p>
          <a:p>
            <a:pPr algn="just"/>
            <a:endParaRPr lang="en-US" sz="2400" b="1" dirty="0">
              <a:solidFill>
                <a:schemeClr val="accent1"/>
              </a:solidFill>
            </a:endParaRPr>
          </a:p>
          <a:p>
            <a:pPr algn="just"/>
            <a:endParaRPr lang="en-US" sz="2400" b="1" i="0" dirty="0">
              <a:solidFill>
                <a:schemeClr val="accent1"/>
              </a:solidFill>
              <a:effectLst/>
            </a:endParaRPr>
          </a:p>
        </p:txBody>
      </p:sp>
      <p:pic>
        <p:nvPicPr>
          <p:cNvPr id="8" name="Picture 7">
            <a:extLst>
              <a:ext uri="{FF2B5EF4-FFF2-40B4-BE49-F238E27FC236}">
                <a16:creationId xmlns:a16="http://schemas.microsoft.com/office/drawing/2014/main" id="{EA6F59E9-E3D2-4A90-6C69-0B48404F0E47}"/>
              </a:ext>
            </a:extLst>
          </p:cNvPr>
          <p:cNvPicPr>
            <a:picLocks noChangeAspect="1"/>
          </p:cNvPicPr>
          <p:nvPr/>
        </p:nvPicPr>
        <p:blipFill>
          <a:blip r:embed="rId2"/>
          <a:stretch>
            <a:fillRect/>
          </a:stretch>
        </p:blipFill>
        <p:spPr>
          <a:xfrm>
            <a:off x="4025587" y="2753726"/>
            <a:ext cx="5569518" cy="3489911"/>
          </a:xfrm>
          <a:prstGeom prst="rect">
            <a:avLst/>
          </a:prstGeom>
        </p:spPr>
      </p:pic>
    </p:spTree>
    <p:extLst>
      <p:ext uri="{BB962C8B-B14F-4D97-AF65-F5344CB8AC3E}">
        <p14:creationId xmlns:p14="http://schemas.microsoft.com/office/powerpoint/2010/main" val="31246020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06BA711-228E-B45C-8179-D76B6A5490E1}"/>
              </a:ext>
            </a:extLst>
          </p:cNvPr>
          <p:cNvSpPr>
            <a:spLocks noGrp="1"/>
          </p:cNvSpPr>
          <p:nvPr>
            <p:ph type="dt" sz="half" idx="10"/>
          </p:nvPr>
        </p:nvSpPr>
        <p:spPr/>
        <p:txBody>
          <a:bodyPr/>
          <a:lstStyle/>
          <a:p>
            <a:fld id="{C1CDDB05-7545-485D-BAE6-2CE87714CF19}" type="datetime1">
              <a:rPr lang="en-US" smtClean="0"/>
              <a:t>1/18/2026</a:t>
            </a:fld>
            <a:endParaRPr lang="en-US"/>
          </a:p>
        </p:txBody>
      </p:sp>
      <p:sp>
        <p:nvSpPr>
          <p:cNvPr id="5" name="Slide Number Placeholder 4">
            <a:extLst>
              <a:ext uri="{FF2B5EF4-FFF2-40B4-BE49-F238E27FC236}">
                <a16:creationId xmlns:a16="http://schemas.microsoft.com/office/drawing/2014/main" id="{2C96A1E9-DA17-11CA-721D-75EA6BD1D733}"/>
              </a:ext>
            </a:extLst>
          </p:cNvPr>
          <p:cNvSpPr>
            <a:spLocks noGrp="1"/>
          </p:cNvSpPr>
          <p:nvPr>
            <p:ph type="sldNum" sz="quarter" idx="12"/>
          </p:nvPr>
        </p:nvSpPr>
        <p:spPr/>
        <p:txBody>
          <a:bodyPr/>
          <a:lstStyle/>
          <a:p>
            <a:fld id="{E199BF8C-199A-420E-AD47-765295E635DE}" type="slidenum">
              <a:rPr lang="en-US" smtClean="0"/>
              <a:t>18</a:t>
            </a:fld>
            <a:endParaRPr lang="en-US"/>
          </a:p>
        </p:txBody>
      </p:sp>
      <p:sp>
        <p:nvSpPr>
          <p:cNvPr id="6" name="Rectangle 5">
            <a:extLst>
              <a:ext uri="{FF2B5EF4-FFF2-40B4-BE49-F238E27FC236}">
                <a16:creationId xmlns:a16="http://schemas.microsoft.com/office/drawing/2014/main" id="{31B29D6B-8476-9005-EFFF-DDC8C87BB079}"/>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684940F-9C63-A9F3-B799-406354FB04D1}"/>
              </a:ext>
            </a:extLst>
          </p:cNvPr>
          <p:cNvSpPr txBox="1"/>
          <p:nvPr/>
        </p:nvSpPr>
        <p:spPr>
          <a:xfrm>
            <a:off x="708529" y="121919"/>
            <a:ext cx="11402191" cy="707886"/>
          </a:xfrm>
          <a:prstGeom prst="rect">
            <a:avLst/>
          </a:prstGeom>
          <a:noFill/>
        </p:spPr>
        <p:txBody>
          <a:bodyPr wrap="square" rtlCol="0">
            <a:spAutoFit/>
          </a:bodyPr>
          <a:lstStyle/>
          <a:p>
            <a:pPr algn="just"/>
            <a:r>
              <a:rPr lang="en-US" sz="4000" dirty="0">
                <a:latin typeface="erdana"/>
              </a:rPr>
              <a:t>Data Independence</a:t>
            </a:r>
            <a:endParaRPr lang="en-US" sz="4000" b="0" i="0" dirty="0">
              <a:effectLst/>
              <a:latin typeface="erdana"/>
            </a:endParaRPr>
          </a:p>
        </p:txBody>
      </p:sp>
      <p:sp>
        <p:nvSpPr>
          <p:cNvPr id="2" name="TextBox 1">
            <a:extLst>
              <a:ext uri="{FF2B5EF4-FFF2-40B4-BE49-F238E27FC236}">
                <a16:creationId xmlns:a16="http://schemas.microsoft.com/office/drawing/2014/main" id="{308CA695-4812-5E27-2A2F-1C13469EF6C1}"/>
              </a:ext>
            </a:extLst>
          </p:cNvPr>
          <p:cNvSpPr txBox="1"/>
          <p:nvPr/>
        </p:nvSpPr>
        <p:spPr>
          <a:xfrm>
            <a:off x="586902" y="1042540"/>
            <a:ext cx="10766898" cy="3046988"/>
          </a:xfrm>
          <a:prstGeom prst="rect">
            <a:avLst/>
          </a:prstGeom>
          <a:noFill/>
        </p:spPr>
        <p:txBody>
          <a:bodyPr wrap="square">
            <a:spAutoFit/>
          </a:bodyPr>
          <a:lstStyle/>
          <a:p>
            <a:pPr marL="342900" indent="-342900" algn="just">
              <a:buFont typeface="Arial" panose="020B0604020202020204" pitchFamily="34" charset="0"/>
              <a:buChar char="•"/>
            </a:pPr>
            <a:r>
              <a:rPr lang="en-US" sz="2400" b="1" i="0" dirty="0">
                <a:solidFill>
                  <a:srgbClr val="333333"/>
                </a:solidFill>
                <a:effectLst/>
              </a:rPr>
              <a:t>Physical Data Independence</a:t>
            </a:r>
            <a:r>
              <a:rPr lang="en-US" sz="2400" i="0" dirty="0">
                <a:solidFill>
                  <a:srgbClr val="333333"/>
                </a:solidFill>
                <a:effectLst/>
              </a:rPr>
              <a:t> can be defined as the ability to change the physical level without affecting the logical or Conceptual level. Physical data independence gives us the freedom to modify the - Storage device, File structure, location of the database, etc. without changing the definition of conceptual or view level.</a:t>
            </a:r>
          </a:p>
          <a:p>
            <a:pPr marL="342900" indent="-342900" algn="just">
              <a:buFont typeface="Arial" panose="020B0604020202020204" pitchFamily="34" charset="0"/>
              <a:buChar char="•"/>
            </a:pPr>
            <a:endParaRPr lang="en-US" sz="2400" i="0" dirty="0">
              <a:solidFill>
                <a:srgbClr val="333333"/>
              </a:solidFill>
              <a:effectLst/>
            </a:endParaRPr>
          </a:p>
          <a:p>
            <a:pPr marL="342900" indent="-342900" algn="just">
              <a:buFont typeface="Arial" panose="020B0604020202020204" pitchFamily="34" charset="0"/>
              <a:buChar char="•"/>
            </a:pPr>
            <a:r>
              <a:rPr lang="en-US" sz="2400" i="0" dirty="0">
                <a:solidFill>
                  <a:srgbClr val="333333"/>
                </a:solidFill>
                <a:effectLst/>
              </a:rPr>
              <a:t>Example: For example, if we take the database of the banking system and we want to scale up the database by changing the storage size and also want to change the file structure, we can do it without affecting any functionality of logical schema.</a:t>
            </a:r>
            <a:endParaRPr lang="en-US" sz="2400" i="0" dirty="0">
              <a:solidFill>
                <a:srgbClr val="000000"/>
              </a:solidFill>
              <a:effectLst/>
            </a:endParaRPr>
          </a:p>
        </p:txBody>
      </p:sp>
    </p:spTree>
    <p:extLst>
      <p:ext uri="{BB962C8B-B14F-4D97-AF65-F5344CB8AC3E}">
        <p14:creationId xmlns:p14="http://schemas.microsoft.com/office/powerpoint/2010/main" val="7541616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06BA711-228E-B45C-8179-D76B6A5490E1}"/>
              </a:ext>
            </a:extLst>
          </p:cNvPr>
          <p:cNvSpPr>
            <a:spLocks noGrp="1"/>
          </p:cNvSpPr>
          <p:nvPr>
            <p:ph type="dt" sz="half" idx="10"/>
          </p:nvPr>
        </p:nvSpPr>
        <p:spPr/>
        <p:txBody>
          <a:bodyPr/>
          <a:lstStyle/>
          <a:p>
            <a:fld id="{C1CDDB05-7545-485D-BAE6-2CE87714CF19}" type="datetime1">
              <a:rPr lang="en-US" smtClean="0"/>
              <a:t>1/18/2026</a:t>
            </a:fld>
            <a:endParaRPr lang="en-US"/>
          </a:p>
        </p:txBody>
      </p:sp>
      <p:sp>
        <p:nvSpPr>
          <p:cNvPr id="5" name="Slide Number Placeholder 4">
            <a:extLst>
              <a:ext uri="{FF2B5EF4-FFF2-40B4-BE49-F238E27FC236}">
                <a16:creationId xmlns:a16="http://schemas.microsoft.com/office/drawing/2014/main" id="{2C96A1E9-DA17-11CA-721D-75EA6BD1D733}"/>
              </a:ext>
            </a:extLst>
          </p:cNvPr>
          <p:cNvSpPr>
            <a:spLocks noGrp="1"/>
          </p:cNvSpPr>
          <p:nvPr>
            <p:ph type="sldNum" sz="quarter" idx="12"/>
          </p:nvPr>
        </p:nvSpPr>
        <p:spPr/>
        <p:txBody>
          <a:bodyPr/>
          <a:lstStyle/>
          <a:p>
            <a:fld id="{E199BF8C-199A-420E-AD47-765295E635DE}" type="slidenum">
              <a:rPr lang="en-US" smtClean="0"/>
              <a:t>19</a:t>
            </a:fld>
            <a:endParaRPr lang="en-US"/>
          </a:p>
        </p:txBody>
      </p:sp>
      <p:sp>
        <p:nvSpPr>
          <p:cNvPr id="6" name="Rectangle 5">
            <a:extLst>
              <a:ext uri="{FF2B5EF4-FFF2-40B4-BE49-F238E27FC236}">
                <a16:creationId xmlns:a16="http://schemas.microsoft.com/office/drawing/2014/main" id="{31B29D6B-8476-9005-EFFF-DDC8C87BB079}"/>
              </a:ext>
            </a:extLst>
          </p:cNvPr>
          <p:cNvSpPr/>
          <p:nvPr/>
        </p:nvSpPr>
        <p:spPr>
          <a:xfrm>
            <a:off x="0" y="0"/>
            <a:ext cx="12192000" cy="920621"/>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684940F-9C63-A9F3-B799-406354FB04D1}"/>
              </a:ext>
            </a:extLst>
          </p:cNvPr>
          <p:cNvSpPr txBox="1"/>
          <p:nvPr/>
        </p:nvSpPr>
        <p:spPr>
          <a:xfrm>
            <a:off x="708529" y="121919"/>
            <a:ext cx="11402191" cy="707886"/>
          </a:xfrm>
          <a:prstGeom prst="rect">
            <a:avLst/>
          </a:prstGeom>
          <a:noFill/>
        </p:spPr>
        <p:txBody>
          <a:bodyPr wrap="square" rtlCol="0">
            <a:spAutoFit/>
          </a:bodyPr>
          <a:lstStyle/>
          <a:p>
            <a:pPr algn="just"/>
            <a:r>
              <a:rPr lang="en-US" sz="4000" dirty="0">
                <a:latin typeface="erdana"/>
              </a:rPr>
              <a:t>Data Independence</a:t>
            </a:r>
            <a:endParaRPr lang="en-US" sz="4000" b="0" i="0" dirty="0">
              <a:effectLst/>
              <a:latin typeface="erdana"/>
            </a:endParaRPr>
          </a:p>
        </p:txBody>
      </p:sp>
      <p:sp>
        <p:nvSpPr>
          <p:cNvPr id="2" name="TextBox 1">
            <a:extLst>
              <a:ext uri="{FF2B5EF4-FFF2-40B4-BE49-F238E27FC236}">
                <a16:creationId xmlns:a16="http://schemas.microsoft.com/office/drawing/2014/main" id="{308CA695-4812-5E27-2A2F-1C13469EF6C1}"/>
              </a:ext>
            </a:extLst>
          </p:cNvPr>
          <p:cNvSpPr txBox="1"/>
          <p:nvPr/>
        </p:nvSpPr>
        <p:spPr>
          <a:xfrm>
            <a:off x="586902" y="1042540"/>
            <a:ext cx="10766898" cy="4154984"/>
          </a:xfrm>
          <a:prstGeom prst="rect">
            <a:avLst/>
          </a:prstGeom>
          <a:noFill/>
        </p:spPr>
        <p:txBody>
          <a:bodyPr wrap="square">
            <a:spAutoFit/>
          </a:bodyPr>
          <a:lstStyle/>
          <a:p>
            <a:pPr marL="342900" indent="-342900" algn="just">
              <a:buFont typeface="Arial" panose="020B0604020202020204" pitchFamily="34" charset="0"/>
              <a:buChar char="•"/>
            </a:pPr>
            <a:r>
              <a:rPr lang="en-US" sz="2400" b="1" i="0" dirty="0">
                <a:solidFill>
                  <a:srgbClr val="333333"/>
                </a:solidFill>
                <a:effectLst/>
              </a:rPr>
              <a:t>Logical Data Independence </a:t>
            </a:r>
            <a:r>
              <a:rPr lang="en-US" sz="2400" i="0" dirty="0">
                <a:solidFill>
                  <a:srgbClr val="333333"/>
                </a:solidFill>
                <a:effectLst/>
              </a:rPr>
              <a:t>is a property of a database that can be used to change the logic behind the logical level without affecting the other layers of the database. Logical data independence is usually required for changing the conceptual schema without having to change the external schema or application programs. It allows us to make changes in a conceptual structure like adding, modifying, or deleting an attribute in the database.</a:t>
            </a:r>
          </a:p>
          <a:p>
            <a:pPr marL="342900" indent="-342900" algn="just">
              <a:buFont typeface="Arial" panose="020B0604020202020204" pitchFamily="34" charset="0"/>
              <a:buChar char="•"/>
            </a:pPr>
            <a:endParaRPr lang="en-US" sz="2400" i="0" dirty="0">
              <a:solidFill>
                <a:srgbClr val="333333"/>
              </a:solidFill>
              <a:effectLst/>
            </a:endParaRPr>
          </a:p>
          <a:p>
            <a:pPr marL="342900" indent="-342900" algn="just">
              <a:buFont typeface="Arial" panose="020B0604020202020204" pitchFamily="34" charset="0"/>
              <a:buChar char="•"/>
            </a:pPr>
            <a:r>
              <a:rPr lang="en-US" sz="2400" i="0" dirty="0">
                <a:solidFill>
                  <a:srgbClr val="333333"/>
                </a:solidFill>
                <a:effectLst/>
              </a:rPr>
              <a:t>Example: If there is a database of a banking system and we want to add the details of a new customer or we want to update or delete the data of a customer at the logical level data will be changed but it will not affect the Physical level or structure of the database.</a:t>
            </a:r>
            <a:endParaRPr lang="en-US" sz="2400" i="0" dirty="0">
              <a:solidFill>
                <a:srgbClr val="000000"/>
              </a:solidFill>
              <a:effectLst/>
            </a:endParaRPr>
          </a:p>
        </p:txBody>
      </p:sp>
    </p:spTree>
    <p:extLst>
      <p:ext uri="{BB962C8B-B14F-4D97-AF65-F5344CB8AC3E}">
        <p14:creationId xmlns:p14="http://schemas.microsoft.com/office/powerpoint/2010/main" val="3896960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06BA711-228E-B45C-8179-D76B6A5490E1}"/>
              </a:ext>
            </a:extLst>
          </p:cNvPr>
          <p:cNvSpPr>
            <a:spLocks noGrp="1"/>
          </p:cNvSpPr>
          <p:nvPr>
            <p:ph type="dt" sz="half" idx="10"/>
          </p:nvPr>
        </p:nvSpPr>
        <p:spPr/>
        <p:txBody>
          <a:bodyPr/>
          <a:lstStyle/>
          <a:p>
            <a:fld id="{C1CDDB05-7545-485D-BAE6-2CE87714CF19}" type="datetime1">
              <a:rPr lang="en-US" smtClean="0"/>
              <a:t>1/18/2026</a:t>
            </a:fld>
            <a:endParaRPr lang="en-US"/>
          </a:p>
        </p:txBody>
      </p:sp>
      <p:sp>
        <p:nvSpPr>
          <p:cNvPr id="5" name="Slide Number Placeholder 4">
            <a:extLst>
              <a:ext uri="{FF2B5EF4-FFF2-40B4-BE49-F238E27FC236}">
                <a16:creationId xmlns:a16="http://schemas.microsoft.com/office/drawing/2014/main" id="{2C96A1E9-DA17-11CA-721D-75EA6BD1D733}"/>
              </a:ext>
            </a:extLst>
          </p:cNvPr>
          <p:cNvSpPr>
            <a:spLocks noGrp="1"/>
          </p:cNvSpPr>
          <p:nvPr>
            <p:ph type="sldNum" sz="quarter" idx="12"/>
          </p:nvPr>
        </p:nvSpPr>
        <p:spPr/>
        <p:txBody>
          <a:bodyPr/>
          <a:lstStyle/>
          <a:p>
            <a:fld id="{E199BF8C-199A-420E-AD47-765295E635DE}" type="slidenum">
              <a:rPr lang="en-US" smtClean="0"/>
              <a:t>20</a:t>
            </a:fld>
            <a:endParaRPr lang="en-US"/>
          </a:p>
        </p:txBody>
      </p:sp>
      <p:sp>
        <p:nvSpPr>
          <p:cNvPr id="6" name="Rectangle 5">
            <a:extLst>
              <a:ext uri="{FF2B5EF4-FFF2-40B4-BE49-F238E27FC236}">
                <a16:creationId xmlns:a16="http://schemas.microsoft.com/office/drawing/2014/main" id="{31B29D6B-8476-9005-EFFF-DDC8C87BB079}"/>
              </a:ext>
            </a:extLst>
          </p:cNvPr>
          <p:cNvSpPr/>
          <p:nvPr/>
        </p:nvSpPr>
        <p:spPr>
          <a:xfrm>
            <a:off x="0" y="0"/>
            <a:ext cx="12192000" cy="4511039"/>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F9CDF43-DD5E-2948-4D8D-276BFA133A56}"/>
              </a:ext>
            </a:extLst>
          </p:cNvPr>
          <p:cNvSpPr txBox="1"/>
          <p:nvPr/>
        </p:nvSpPr>
        <p:spPr>
          <a:xfrm>
            <a:off x="4059522" y="2721114"/>
            <a:ext cx="4072956" cy="830997"/>
          </a:xfrm>
          <a:prstGeom prst="rect">
            <a:avLst/>
          </a:prstGeom>
          <a:noFill/>
        </p:spPr>
        <p:txBody>
          <a:bodyPr wrap="square" rtlCol="0">
            <a:spAutoFit/>
          </a:bodyPr>
          <a:lstStyle/>
          <a:p>
            <a:pPr algn="ctr"/>
            <a:r>
              <a:rPr lang="en-US" sz="4800" dirty="0"/>
              <a:t>Thank You</a:t>
            </a:r>
          </a:p>
        </p:txBody>
      </p:sp>
    </p:spTree>
    <p:extLst>
      <p:ext uri="{BB962C8B-B14F-4D97-AF65-F5344CB8AC3E}">
        <p14:creationId xmlns:p14="http://schemas.microsoft.com/office/powerpoint/2010/main" val="37978529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2221</TotalTime>
  <Words>1596</Words>
  <Application>Microsoft Office PowerPoint</Application>
  <PresentationFormat>Widescreen</PresentationFormat>
  <Paragraphs>166</Paragraphs>
  <Slides>20</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Calibri Light</vt:lpstr>
      <vt:lpstr>erdana</vt:lpstr>
      <vt:lpstr>inter-bold</vt:lpstr>
      <vt:lpstr>inter-regular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Antu Chowdhury</dc:creator>
  <cp:lastModifiedBy>Antu Chowdhury</cp:lastModifiedBy>
  <cp:revision>1091</cp:revision>
  <dcterms:created xsi:type="dcterms:W3CDTF">2023-10-31T13:19:43Z</dcterms:created>
  <dcterms:modified xsi:type="dcterms:W3CDTF">2026-01-18T17:59:35Z</dcterms:modified>
</cp:coreProperties>
</file>